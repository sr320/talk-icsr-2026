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72" r:id="rId4"/>
    <p:sldId id="258" r:id="rId5"/>
    <p:sldId id="259" r:id="rId6"/>
    <p:sldId id="260" r:id="rId7"/>
    <p:sldId id="261" r:id="rId8"/>
    <p:sldId id="262" r:id="rId9"/>
    <p:sldId id="273" r:id="rId10"/>
    <p:sldId id="274" r:id="rId11"/>
    <p:sldId id="263" r:id="rId12"/>
    <p:sldId id="264" r:id="rId13"/>
    <p:sldId id="275" r:id="rId14"/>
    <p:sldId id="265" r:id="rId15"/>
    <p:sldId id="266" r:id="rId16"/>
    <p:sldId id="276" r:id="rId17"/>
    <p:sldId id="267" r:id="rId18"/>
    <p:sldId id="268" r:id="rId19"/>
    <p:sldId id="277" r:id="rId20"/>
    <p:sldId id="269" r:id="rId21"/>
    <p:sldId id="278" r:id="rId22"/>
    <p:sldId id="270" r:id="rId23"/>
    <p:sldId id="271"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260"/>
    <p:restoredTop sz="94610"/>
  </p:normalViewPr>
  <p:slideViewPr>
    <p:cSldViewPr snapToGrid="0" snapToObjects="1">
      <p:cViewPr varScale="1">
        <p:scale>
          <a:sx n="98" d="100"/>
          <a:sy n="98" d="100"/>
        </p:scale>
        <p:origin x="216" y="8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0540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Introduce the team and the question: do environmental gradients across Puget Sound leave a genomic signature in Olympia oysters, beyond what geography and population history explain? This talk focuses on the population comparison using the new chromosome-level genome, then the redundancy analysis (RDA).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Frame the management stakes: seed-transfer decisions. Two competing expectations: environment-matched sourcing vs. sourcing by genetic group. Our analyses are designed to tell those apart.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Olympia oysters are our only native oyster and restoration involves moving seed and broodstock among bays. Two common rules of thumb: match the environment, or keep within genetic groups. They lead to different sourcing decisions. Our study tests which one the oysters' genomes support.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Walk the map north to south: Fidalgo Bay, Strait sites (Sequim, Discovery Bay), Hood Canal (Port Gamble, Triton Cove), Central Sound (Dogfish, Ostrich Bay, Clam Bay area), South Sound (North Bay, Squaxin, Little Skookum, Mud Bay), then the two outer-coast sites as outgroups. Seven to eight oysters per site. Note Fidalgo Bay has two collections (2018 and another set), which becomes useful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All 112 libraries (including two blanks) were re-aligned to the chromosome-level assembly. The old reference was highly fragmented (contig N50 12.9 kb). Depth per oyster rose about 30%, mapping is ~98.6% everywhere, and every SNP now has a chromosome coordinate, which is what makes the genome-wide outlier scan later possible. The one low outlier (Triton Cove 10, &lt;1×) was excluded.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Pipeline in one breath. Key point for a low-coverage audience: everything downstream (PCA, admixture, SFS, Fst, and the RDA allele frequencies) comes from genotype likelihoods rather than called genotypes. The RDA is run on site-level allele frequencies so that sites, not oysters, are the units of replication.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PC1 is the coast: Willapa and Coos Bay cluster tightly together, far from the Sound. Within the Salish Sea, PC2 runs from a Hood Canal / Strait group at the top to a tight Central and South Sound cluster at the bottom, with North Sound sites between. PC3 and PC4 pull out Fidalgo and the Central Sound sites, but each explains only about 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K = 2 is the coast split. K = 3 adds the Central–South versus Hood Canal–Strait split seen on PC2. Higher K mostly subdivides the Central–South group and shows Fidalgo and Discovery Bay as mixtures. Flag Mud Bay (Eld Inlet): geographically South Sound but genetically Hood Canal-like. We don't yet know why; a restoration or transfer history is one hypothesis to check.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 The biggest split is outer coast versus everything inside the Salish Sea. Inside the Sound, oysters form two groups: Central and South Sound, and a Hood Canal and Strait group. Fidalgo and Discovery Bay are mixtures of the two. One surprise: Mud Bay in Eld Inlet is geographically South Sound but genetically groups with Hood Canal. We don't know why yet; past seed transfers are one possibility worth checking in records.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In plain terms: moving coast oysters into Puget Sound, or the reverse, would mix genetically distinct stocks. Within the Sound the differences are smaller, but they are consistent and form the two groups. The footnote gives the actual Fst values for anyone who wants them.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Weighted Fst confirms the picture. Coast versus Sound is three to four times higher than most within-Sound pairs. The lowest values are within the Central–South group (e.g., Dogfish–Ostrich 0.034); the highest within the Sound are Little Skookum vs Triton Cove (0.088), the two groups' extremes.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Be candid here. The highest diversity is in Triton Cove, Hood Canal (π 0.0040), but the stronger pattern is that the seven 2018 collections have higher θ and near-zero or negative Tajima's D, while the eight 2024 collections have positive D around 0.4, and the two sets also differ in library duplication. Structure is still geographic (North Bay, a 2018 collection, clusters with South Sound), but diversity and D differences may partly be technical or cohort effects.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 This is the core result. Which group an oyster population belongs to explains about 14% of the genetic differences among sites; where the site is explains about 6%. Water conditions explain about 3%, and that is not distinguishable from chance. Once we account for location, water conditions add nothing. Warm, low-salinity bays tend to be in the same part of the Sound, so environment and geography are tangled together. We also checked collection year: oysters were sampled in 2018 at seven sites and 2024 at eight. Year explains under 1%, and the conclusion is the same with it in the model.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Predictors are 2015–2018 surface (0–5 m) climatologies from WA Ecology CTD stations within ~3–20 km of each site, cross-checked against ORCA moorings. From six candidates, a collinearity screen kept summer mean temperature, salinity range and summer chlorophyll. Caveat: three Central Sound sites share one station and the two Fidalgo collections share another, so there are effectively 10 environmental points for 14 genetic units.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This is the key result. Population structure (the first two genetic PCs) explains 14% of allele-frequency variation; geography (dbMEMs) 6%. The three environmental predictors together explain 3% and are not significant (p = 0.16). Collection year (2018 vs 2024) explains under 1% on its own. Once geography is accounted for, environment explains nothing (adjusted R² below zero), with or without year in the model. Environment and geography are largely confounded across these sites.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We searched the whole genome for markers that track temperature, salinity or food. None stood out. There are faint hints for salinity swings and summer temperature, but they are small. The note at the bottom matters for anyone reading other studies: oysters from the same bay are not independent samples; analyses that treat them that way can overstate environmental effects.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In the environment-only RDA, RDA1 is essentially Willapa Bay, the site with by far the largest salinity range, so the salinity signal leans heavily on one site. RDA2 runs from the cooler Strait and Fidalgo sites to the warm South Sound inlets (North Bay, Little Skookum) along summer temperature. Only salinity range is marginally significant; the global model is not.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Three checks. (1) Left: run on individuals, the environment model looks highly significant if oysters are permuted freely (p = 0.001), but that treats oysters from the same bay as independent; permuting whole sites gives p = 0.087. (2) The genome-wide outlier scan finds no SNP even at q &lt; 0.2: no candidate loci for local adaptation at this sampling depth. (3) A hint: summer temperature becomes marginally significant once population structure is removed (p = 0.036), though it explains under 1%. Restricting permutations to within collection year gives the same picture (site-level p = 0.16).</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Be clear on limits. Fourteen sites is a small number for detecting environmental effects, and several sites share the same monitoring station. Diversity estimates differ between the 2018 and 2024 collections, so we are not ranking sites by diversity yet. Collection year does not change the genetic-group or environment results: the same bay sampled in 2018 and 2024 (Fidalgo) differs less than most pairs of different sites.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We recently confirmed collection dates: seven sites were sampled in 2018 and eight in 2024. Year by itself explains well under 1% of allele-frequency variation. Conditioning on year slightly raises the environment fraction (4.3%) but it is still not significant, and adding geography removes it again. The Fidalgo comparison is a useful check: the same bay sampled six years apart differs less than most pairs of different sites. Split by year, the 2024 set hints at an environment effect (11%, p = 0.10) but with only seven sites per year we have little power.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 These are considerations, not rules: they follow from the genetics and should be weighed with existing guidance, logistics and disease concerns. The coast–Sound split is the firmest. The two Puget Sound groups are a reasonable starting frame. Mixed sites like Fidalgo and Discovery Bay share ancestry with both groups.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Pause on this. Population structure and geography explain allele-frequency differences; environment adds little once those are accounted for. The caveat is scale: few sites, shared stations, and climatologies rather than in-situ records.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then questions. Management: the coast vs Sound split is clear and large; within the Sound, two genetic groups are a defensible starting point for seed transfer guidance. Environmental adaptation may exist but is not detectable with this design. Next: account for collection batch, increase site number and in-situ environmental data, follow up Mud Bay, and scale up individuals for polygenic signals.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2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14303A"/>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772841"/>
            <a:ext cx="10566400" cy="4272359"/>
          </a:xfrm>
          <a:prstGeom prst="rect">
            <a:avLst/>
          </a:prstGeom>
          <a:noFill/>
          <a:ln/>
        </p:spPr>
        <p:txBody>
          <a:bodyPr wrap="square" lIns="0" tIns="0" rIns="0" bIns="0" rtlCol="0" anchor="t"/>
          <a:lstStyle>
            <a:lvl1pPr marL="0" indent="0" algn="l">
              <a:lnSpc>
                <a:spcPct val="140000"/>
              </a:lnSpc>
              <a:buNone/>
              <a:defRPr lang="en-US" sz="1600" dirty="0">
                <a:solidFill>
                  <a:srgbClr val="14303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2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14303A"/>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772841"/>
            <a:ext cx="10566400" cy="4272359"/>
          </a:xfrm>
          <a:prstGeom prst="rect">
            <a:avLst/>
          </a:prstGeom>
          <a:noFill/>
          <a:ln/>
        </p:spPr>
        <p:txBody>
          <a:bodyPr wrap="square" lIns="0" tIns="0" rIns="0" bIns="0" rtlCol="0" anchor="t"/>
          <a:lstStyle>
            <a:lvl1pPr marL="0" indent="0" algn="l">
              <a:lnSpc>
                <a:spcPct val="140000"/>
              </a:lnSpc>
              <a:buNone/>
              <a:defRPr lang="en-US" sz="1600" dirty="0">
                <a:solidFill>
                  <a:srgbClr val="14303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E9A36A"/>
                </a:solidFill>
                <a:latin typeface="IBM Plex Sans" pitchFamily="34" charset="0"/>
                <a:ea typeface="IBM Plex Sans" pitchFamily="34" charset="-122"/>
                <a:cs typeface="IBM Plex Sans" pitchFamily="34" charset="-120"/>
              </a:rPr>
              <a:t>OLYMPIA OYSTER · LOW-COVERAGE WHOLE-GENOME SEQUENCING</a:t>
            </a:r>
            <a:endParaRPr lang="en-US" sz="1300" dirty="0"/>
          </a:p>
        </p:txBody>
      </p:sp>
      <p:sp>
        <p:nvSpPr>
          <p:cNvPr id="3" name="Shape 1"/>
          <p:cNvSpPr/>
          <p:nvPr/>
        </p:nvSpPr>
        <p:spPr>
          <a:xfrm>
            <a:off x="812800" y="2246709"/>
            <a:ext cx="1016000" cy="38100"/>
          </a:xfrm>
          <a:prstGeom prst="rect">
            <a:avLst/>
          </a:prstGeom>
          <a:solidFill>
            <a:srgbClr val="C4661F"/>
          </a:solidFill>
          <a:ln/>
        </p:spPr>
        <p:txBody>
          <a:bodyPr/>
          <a:lstStyle/>
          <a:p>
            <a:endParaRPr lang="en-US"/>
          </a:p>
        </p:txBody>
      </p:sp>
      <p:sp>
        <p:nvSpPr>
          <p:cNvPr id="4" name="Text 2"/>
          <p:cNvSpPr>
            <a:spLocks noGrp="1"/>
          </p:cNvSpPr>
          <p:nvPr>
            <p:ph type="title"/>
          </p:nvPr>
        </p:nvSpPr>
        <p:spPr>
          <a:xfrm>
            <a:off x="812800" y="2538809"/>
            <a:ext cx="10203180" cy="17018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F6F4EE"/>
                </a:solidFill>
                <a:latin typeface="Source Serif 4" pitchFamily="18" charset="0"/>
                <a:ea typeface="Source Serif 4" pitchFamily="18" charset="-122"/>
                <a:cs typeface="Source Serif 4" pitchFamily="18" charset="-120"/>
              </a:rPr>
              <a:t>Assessing environmental drivers of Olympia oyster population genetic diversity in Puget Sound, WA</a:t>
            </a:r>
            <a:endParaRPr lang="en-US" sz="4000" dirty="0"/>
          </a:p>
        </p:txBody>
      </p:sp>
      <p:sp>
        <p:nvSpPr>
          <p:cNvPr id="5" name="Text 3"/>
          <p:cNvSpPr/>
          <p:nvPr/>
        </p:nvSpPr>
        <p:spPr>
          <a:xfrm>
            <a:off x="812800" y="5417939"/>
            <a:ext cx="10883392"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6F4EE"/>
                </a:solidFill>
                <a:latin typeface="IBM Plex Sans" pitchFamily="34" charset="0"/>
                <a:ea typeface="IBM Plex Sans" pitchFamily="34" charset="-122"/>
                <a:cs typeface="IBM Plex Sans" pitchFamily="34" charset="-120"/>
              </a:rPr>
              <a:t>Zachary Bengtsson, Julieta Martinelli, Steven Roberts</a:t>
            </a:r>
            <a:endParaRPr lang="en-US" sz="1800" dirty="0"/>
          </a:p>
        </p:txBody>
      </p:sp>
      <p:sp>
        <p:nvSpPr>
          <p:cNvPr id="6" name="Text 4"/>
          <p:cNvSpPr/>
          <p:nvPr/>
        </p:nvSpPr>
        <p:spPr>
          <a:xfrm>
            <a:off x="812800" y="5814120"/>
            <a:ext cx="10883392" cy="256480"/>
          </a:xfrm>
          <a:prstGeom prst="rect">
            <a:avLst/>
          </a:prstGeom>
          <a:noFill/>
          <a:ln/>
        </p:spPr>
        <p:txBody>
          <a:bodyPr wrap="square" lIns="0" tIns="0" rIns="0" bIns="0" rtlCol="0" anchor="t">
            <a:normAutofit lnSpcReduction="10000"/>
          </a:bodyPr>
          <a:lstStyle/>
          <a:p>
            <a:pPr>
              <a:lnSpc>
                <a:spcPct val="100000"/>
              </a:lnSpc>
            </a:pPr>
            <a:r>
              <a:rPr lang="en-US" dirty="0">
                <a:solidFill>
                  <a:schemeClr val="bg1">
                    <a:lumMod val="90000"/>
                  </a:schemeClr>
                </a:solidFill>
              </a:rPr>
              <a:t>International Conference on Shellfish Restoration</a:t>
            </a:r>
          </a:p>
          <a:p>
            <a:pPr marL="0" indent="0" algn="l">
              <a:lnSpc>
                <a:spcPts val="1820"/>
              </a:lnSpc>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35A17"/>
                </a:solidFill>
                <a:latin typeface="IBM Plex Sans" pitchFamily="34" charset="0"/>
                <a:ea typeface="IBM Plex Sans" pitchFamily="34" charset="-122"/>
                <a:cs typeface="IBM Plex Sans" pitchFamily="34" charset="-120"/>
              </a:rPr>
              <a:t>BACKGROUND</a:t>
            </a:r>
            <a:endParaRPr lang="en-US" sz="1200" dirty="0"/>
          </a:p>
        </p:txBody>
      </p:sp>
      <p:sp>
        <p:nvSpPr>
          <p:cNvPr id="3" name="Text 1"/>
          <p:cNvSpPr>
            <a:spLocks noGrp="1"/>
          </p:cNvSpPr>
          <p:nvPr>
            <p:ph type="title"/>
          </p:nvPr>
        </p:nvSpPr>
        <p:spPr>
          <a:xfrm>
            <a:off x="812800" y="1076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303A"/>
                </a:solidFill>
                <a:latin typeface="Source Serif 4" pitchFamily="18" charset="0"/>
                <a:ea typeface="Source Serif 4" pitchFamily="18" charset="-122"/>
                <a:cs typeface="Source Serif 4" pitchFamily="18" charset="-120"/>
              </a:rPr>
              <a:t>Restoration needs to know where seed should come from</a:t>
            </a:r>
            <a:endParaRPr lang="en-US" sz="2800" dirty="0"/>
          </a:p>
        </p:txBody>
      </p:sp>
      <p:sp>
        <p:nvSpPr>
          <p:cNvPr id="4" name="Shape 2"/>
          <p:cNvSpPr/>
          <p:nvPr/>
        </p:nvSpPr>
        <p:spPr>
          <a:xfrm>
            <a:off x="815975" y="1725216"/>
            <a:ext cx="3380284" cy="1230511"/>
          </a:xfrm>
          <a:prstGeom prst="roundRect">
            <a:avLst>
              <a:gd name="adj" fmla="val 5935"/>
            </a:avLst>
          </a:prstGeom>
          <a:solidFill>
            <a:srgbClr val="FBFAF6"/>
          </a:solidFill>
          <a:ln w="6350">
            <a:solidFill>
              <a:srgbClr val="E2DED3"/>
            </a:solidFill>
            <a:prstDash val="solid"/>
          </a:ln>
        </p:spPr>
        <p:txBody>
          <a:bodyPr/>
          <a:lstStyle/>
          <a:p>
            <a:endParaRPr lang="en-US"/>
          </a:p>
        </p:txBody>
      </p:sp>
      <p:sp>
        <p:nvSpPr>
          <p:cNvPr id="5" name="Text 3"/>
          <p:cNvSpPr/>
          <p:nvPr/>
        </p:nvSpPr>
        <p:spPr>
          <a:xfrm>
            <a:off x="996950" y="1880791"/>
            <a:ext cx="310888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A native species to restore</a:t>
            </a:r>
            <a:endParaRPr lang="en-US" sz="1500" dirty="0"/>
          </a:p>
        </p:txBody>
      </p:sp>
      <p:sp>
        <p:nvSpPr>
          <p:cNvPr id="6" name="Text 4"/>
          <p:cNvSpPr/>
          <p:nvPr/>
        </p:nvSpPr>
        <p:spPr>
          <a:xfrm>
            <a:off x="996950" y="2160191"/>
            <a:ext cx="3108884" cy="665361"/>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4A5A60"/>
                </a:solidFill>
                <a:latin typeface="IBM Plex Sans" pitchFamily="34" charset="0"/>
                <a:ea typeface="IBM Plex Sans" pitchFamily="34" charset="-122"/>
                <a:cs typeface="IBM Plex Sans" pitchFamily="34" charset="-120"/>
              </a:rPr>
              <a:t>Ostrea lurida</a:t>
            </a:r>
            <a:r>
              <a:rPr lang="en-US" sz="1200" dirty="0">
                <a:solidFill>
                  <a:srgbClr val="4A5A60"/>
                </a:solidFill>
                <a:latin typeface="IBM Plex Sans" pitchFamily="34" charset="0"/>
                <a:ea typeface="IBM Plex Sans" pitchFamily="34" charset="-122"/>
                <a:cs typeface="IBM Plex Sans" pitchFamily="34" charset="-120"/>
              </a:rPr>
              <a:t> is the West Coast's native oyster, and restoration in Puget Sound depends on moving broodstock and seed.</a:t>
            </a:r>
            <a:endParaRPr lang="en-US" sz="1200" dirty="0"/>
          </a:p>
        </p:txBody>
      </p:sp>
      <p:sp>
        <p:nvSpPr>
          <p:cNvPr id="7" name="Shape 5"/>
          <p:cNvSpPr/>
          <p:nvPr/>
        </p:nvSpPr>
        <p:spPr>
          <a:xfrm>
            <a:off x="4405809" y="1725216"/>
            <a:ext cx="3380383" cy="1230511"/>
          </a:xfrm>
          <a:prstGeom prst="roundRect">
            <a:avLst>
              <a:gd name="adj" fmla="val 5935"/>
            </a:avLst>
          </a:prstGeom>
          <a:solidFill>
            <a:srgbClr val="FBFAF6"/>
          </a:solidFill>
          <a:ln w="6350">
            <a:solidFill>
              <a:srgbClr val="E2DED3"/>
            </a:solidFill>
            <a:prstDash val="solid"/>
          </a:ln>
        </p:spPr>
        <p:txBody>
          <a:bodyPr/>
          <a:lstStyle/>
          <a:p>
            <a:endParaRPr lang="en-US"/>
          </a:p>
        </p:txBody>
      </p:sp>
      <p:sp>
        <p:nvSpPr>
          <p:cNvPr id="8" name="Text 6"/>
          <p:cNvSpPr/>
          <p:nvPr/>
        </p:nvSpPr>
        <p:spPr>
          <a:xfrm>
            <a:off x="4586784" y="1880791"/>
            <a:ext cx="310898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Sharp local gradients</a:t>
            </a:r>
            <a:endParaRPr lang="en-US" sz="1500" dirty="0"/>
          </a:p>
        </p:txBody>
      </p:sp>
      <p:sp>
        <p:nvSpPr>
          <p:cNvPr id="9" name="Text 7"/>
          <p:cNvSpPr/>
          <p:nvPr/>
        </p:nvSpPr>
        <p:spPr>
          <a:xfrm>
            <a:off x="4586784" y="2160191"/>
            <a:ext cx="3108986"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Inlets differ by more than 8 °C in summer temperature and many-fold in salinity swings and chlorophyll.</a:t>
            </a:r>
            <a:endParaRPr lang="en-US" sz="1200" dirty="0"/>
          </a:p>
        </p:txBody>
      </p:sp>
      <p:sp>
        <p:nvSpPr>
          <p:cNvPr id="10" name="Shape 8"/>
          <p:cNvSpPr/>
          <p:nvPr/>
        </p:nvSpPr>
        <p:spPr>
          <a:xfrm>
            <a:off x="7995741" y="1725216"/>
            <a:ext cx="3380284" cy="1230511"/>
          </a:xfrm>
          <a:prstGeom prst="roundRect">
            <a:avLst>
              <a:gd name="adj" fmla="val 5935"/>
            </a:avLst>
          </a:prstGeom>
          <a:solidFill>
            <a:srgbClr val="FBFAF6"/>
          </a:solidFill>
          <a:ln w="6350">
            <a:solidFill>
              <a:srgbClr val="E2DED3"/>
            </a:solidFill>
            <a:prstDash val="solid"/>
          </a:ln>
        </p:spPr>
        <p:txBody>
          <a:bodyPr/>
          <a:lstStyle/>
          <a:p>
            <a:endParaRPr lang="en-US"/>
          </a:p>
        </p:txBody>
      </p:sp>
      <p:sp>
        <p:nvSpPr>
          <p:cNvPr id="11" name="Text 9"/>
          <p:cNvSpPr/>
          <p:nvPr/>
        </p:nvSpPr>
        <p:spPr>
          <a:xfrm>
            <a:off x="8176716" y="1880791"/>
            <a:ext cx="310888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The open question</a:t>
            </a:r>
            <a:endParaRPr lang="en-US" sz="1500" dirty="0"/>
          </a:p>
        </p:txBody>
      </p:sp>
      <p:sp>
        <p:nvSpPr>
          <p:cNvPr id="12" name="Text 10"/>
          <p:cNvSpPr/>
          <p:nvPr/>
        </p:nvSpPr>
        <p:spPr>
          <a:xfrm>
            <a:off x="8176716" y="2160191"/>
            <a:ext cx="3108884"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Is genetic variation shaped by today's environment, or mainly by geography and shared history?</a:t>
            </a:r>
            <a:endParaRPr lang="en-US" sz="1200" dirty="0"/>
          </a:p>
        </p:txBody>
      </p:sp>
      <p:sp>
        <p:nvSpPr>
          <p:cNvPr id="13" name="Text 11"/>
          <p:cNvSpPr/>
          <p:nvPr/>
        </p:nvSpPr>
        <p:spPr>
          <a:xfrm>
            <a:off x="812800" y="5181600"/>
            <a:ext cx="981075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14303A"/>
                </a:solidFill>
                <a:latin typeface="Source Serif 4" pitchFamily="18" charset="0"/>
                <a:ea typeface="Source Serif 4" pitchFamily="18" charset="-122"/>
                <a:cs typeface="Source Serif 4" pitchFamily="18" charset="-120"/>
              </a:rPr>
              <a:t>If environment drives adaptation, seed should be matched by </a:t>
            </a:r>
            <a:r>
              <a:rPr lang="en-US" sz="2000" dirty="0">
                <a:solidFill>
                  <a:srgbClr val="B35A17"/>
                </a:solidFill>
                <a:latin typeface="Source Serif 4" pitchFamily="18" charset="0"/>
                <a:ea typeface="Source Serif 4" pitchFamily="18" charset="-122"/>
                <a:cs typeface="Source Serif 4" pitchFamily="18" charset="-120"/>
              </a:rPr>
              <a:t>conditions</a:t>
            </a:r>
            <a:r>
              <a:rPr lang="en-US" sz="2000" dirty="0">
                <a:solidFill>
                  <a:srgbClr val="14303A"/>
                </a:solidFill>
                <a:latin typeface="Source Serif 4" pitchFamily="18" charset="0"/>
                <a:ea typeface="Source Serif 4" pitchFamily="18" charset="-122"/>
                <a:cs typeface="Source Serif 4" pitchFamily="18" charset="-120"/>
              </a:rPr>
              <a:t>; if history dominates, by </a:t>
            </a:r>
            <a:r>
              <a:rPr lang="en-US" sz="2000" dirty="0">
                <a:solidFill>
                  <a:srgbClr val="B35A17"/>
                </a:solidFill>
                <a:latin typeface="Source Serif 4" pitchFamily="18" charset="0"/>
                <a:ea typeface="Source Serif 4" pitchFamily="18" charset="-122"/>
                <a:cs typeface="Source Serif 4" pitchFamily="18" charset="-120"/>
              </a:rPr>
              <a:t>genetic group</a:t>
            </a:r>
            <a:r>
              <a:rPr lang="en-US" sz="2000" dirty="0">
                <a:solidFill>
                  <a:srgbClr val="14303A"/>
                </a:solidFill>
                <a:latin typeface="Source Serif 4" pitchFamily="18" charset="0"/>
                <a:ea typeface="Source Serif 4" pitchFamily="18" charset="-122"/>
                <a:cs typeface="Source Serif 4" pitchFamily="18" charset="-120"/>
              </a:rPr>
              <a:t>.</a:t>
            </a:r>
            <a:endParaRPr lang="en-US" sz="20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Bengtsson, Martinelli &amp; Roberts · Olympia oyster lc-WGS</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A9561A"/>
                </a:solidFill>
                <a:latin typeface="Nunito Sans" pitchFamily="34" charset="0"/>
                <a:ea typeface="Nunito Sans" pitchFamily="34" charset="-122"/>
                <a:cs typeface="Nunito Sans" pitchFamily="34" charset="-120"/>
              </a:rPr>
              <a:t>THE QUESTION</a:t>
            </a:r>
            <a:endParaRPr lang="en-US" sz="1300" dirty="0"/>
          </a:p>
        </p:txBody>
      </p:sp>
      <p:sp>
        <p:nvSpPr>
          <p:cNvPr id="3" name="Text 1"/>
          <p:cNvSpPr>
            <a:spLocks noGrp="1"/>
          </p:cNvSpPr>
          <p:nvPr>
            <p:ph type="title"/>
          </p:nvPr>
        </p:nvSpPr>
        <p:spPr>
          <a:xfrm>
            <a:off x="812800" y="1107380"/>
            <a:ext cx="10883392" cy="430510"/>
          </a:xfrm>
          <a:prstGeom prst="rect">
            <a:avLst/>
          </a:prstGeom>
          <a:noFill/>
          <a:ln/>
        </p:spPr>
        <p:txBody>
          <a:bodyPr wrap="square" lIns="0" tIns="0" rIns="0" bIns="0" rtlCol="0" anchor="t">
            <a:normAutofit/>
          </a:bodyPr>
          <a:lstStyle/>
          <a:p>
            <a:pPr marL="0" indent="0" algn="l">
              <a:lnSpc>
                <a:spcPts val="3190"/>
              </a:lnSpc>
              <a:buNone/>
            </a:pPr>
            <a:r>
              <a:rPr lang="en-US" sz="2900" b="1" i="0" dirty="0">
                <a:solidFill>
                  <a:srgbClr val="1F3B4D"/>
                </a:solidFill>
                <a:latin typeface="Domine" pitchFamily="18" charset="0"/>
                <a:ea typeface="Domine" pitchFamily="18" charset="-122"/>
                <a:cs typeface="Domine" pitchFamily="18" charset="-120"/>
              </a:rPr>
              <a:t>Where should restoration seed come from?</a:t>
            </a:r>
            <a:endParaRPr lang="en-US" sz="2900" dirty="0"/>
          </a:p>
        </p:txBody>
      </p:sp>
      <p:sp>
        <p:nvSpPr>
          <p:cNvPr id="4" name="Shape 2"/>
          <p:cNvSpPr/>
          <p:nvPr/>
        </p:nvSpPr>
        <p:spPr>
          <a:xfrm>
            <a:off x="815975" y="1795066"/>
            <a:ext cx="5175250" cy="1552972"/>
          </a:xfrm>
          <a:prstGeom prst="roundRect">
            <a:avLst>
              <a:gd name="adj" fmla="val 6338"/>
            </a:avLst>
          </a:prstGeom>
          <a:solidFill>
            <a:srgbClr val="FBF9F4"/>
          </a:solidFill>
          <a:ln w="6350">
            <a:solidFill>
              <a:srgbClr val="DDD8CC"/>
            </a:solidFill>
            <a:prstDash val="solid"/>
          </a:ln>
        </p:spPr>
        <p:txBody>
          <a:bodyPr/>
          <a:lstStyle/>
          <a:p>
            <a:endParaRPr lang="en-US"/>
          </a:p>
        </p:txBody>
      </p:sp>
      <p:sp>
        <p:nvSpPr>
          <p:cNvPr id="5" name="Text 3"/>
          <p:cNvSpPr/>
          <p:nvPr/>
        </p:nvSpPr>
        <p:spPr>
          <a:xfrm>
            <a:off x="1047750" y="2001441"/>
            <a:ext cx="485305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F7F86"/>
                </a:solidFill>
                <a:latin typeface="Nunito Sans" pitchFamily="34" charset="0"/>
                <a:ea typeface="Nunito Sans" pitchFamily="34" charset="-122"/>
                <a:cs typeface="Nunito Sans" pitchFamily="34" charset="-120"/>
              </a:rPr>
              <a:t>Match the environment</a:t>
            </a:r>
            <a:endParaRPr lang="en-US" sz="1700" dirty="0"/>
          </a:p>
        </p:txBody>
      </p:sp>
      <p:sp>
        <p:nvSpPr>
          <p:cNvPr id="6" name="Text 4"/>
          <p:cNvSpPr/>
          <p:nvPr/>
        </p:nvSpPr>
        <p:spPr>
          <a:xfrm>
            <a:off x="1047750" y="2336701"/>
            <a:ext cx="4853051"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A63"/>
                </a:solidFill>
                <a:latin typeface="Nunito Sans" pitchFamily="34" charset="0"/>
                <a:ea typeface="Nunito Sans" pitchFamily="34" charset="-122"/>
                <a:cs typeface="Nunito Sans" pitchFamily="34" charset="-120"/>
              </a:rPr>
              <a:t>Source seed from beds with similar temperature, salinity and food, on the idea that oysters are tuned to local water.</a:t>
            </a:r>
            <a:endParaRPr lang="en-US" sz="1400" dirty="0"/>
          </a:p>
        </p:txBody>
      </p:sp>
      <p:sp>
        <p:nvSpPr>
          <p:cNvPr id="7" name="Text 5"/>
          <p:cNvSpPr/>
          <p:nvPr/>
        </p:nvSpPr>
        <p:spPr>
          <a:xfrm>
            <a:off x="1047750" y="2910582"/>
            <a:ext cx="485305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3B4D"/>
                </a:solidFill>
                <a:latin typeface="Nunito Sans" pitchFamily="34" charset="0"/>
                <a:ea typeface="Nunito Sans" pitchFamily="34" charset="-122"/>
                <a:cs typeface="Nunito Sans" pitchFamily="34" charset="-120"/>
              </a:rPr>
              <a:t>Works if water conditions shape oyster genetics.</a:t>
            </a:r>
            <a:endParaRPr lang="en-US" sz="1300" dirty="0"/>
          </a:p>
        </p:txBody>
      </p:sp>
      <p:sp>
        <p:nvSpPr>
          <p:cNvPr id="8" name="Shape 6"/>
          <p:cNvSpPr/>
          <p:nvPr/>
        </p:nvSpPr>
        <p:spPr>
          <a:xfrm>
            <a:off x="6200775" y="1795066"/>
            <a:ext cx="5175250" cy="1552972"/>
          </a:xfrm>
          <a:prstGeom prst="roundRect">
            <a:avLst>
              <a:gd name="adj" fmla="val 6338"/>
            </a:avLst>
          </a:prstGeom>
          <a:solidFill>
            <a:srgbClr val="FBF9F4"/>
          </a:solidFill>
          <a:ln w="6350">
            <a:solidFill>
              <a:srgbClr val="DDD8CC"/>
            </a:solidFill>
            <a:prstDash val="solid"/>
          </a:ln>
        </p:spPr>
        <p:txBody>
          <a:bodyPr/>
          <a:lstStyle/>
          <a:p>
            <a:endParaRPr lang="en-US"/>
          </a:p>
        </p:txBody>
      </p:sp>
      <p:sp>
        <p:nvSpPr>
          <p:cNvPr id="9" name="Text 7"/>
          <p:cNvSpPr/>
          <p:nvPr/>
        </p:nvSpPr>
        <p:spPr>
          <a:xfrm>
            <a:off x="6432550" y="2001441"/>
            <a:ext cx="485305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A9561A"/>
                </a:solidFill>
                <a:latin typeface="Nunito Sans" pitchFamily="34" charset="0"/>
                <a:ea typeface="Nunito Sans" pitchFamily="34" charset="-122"/>
                <a:cs typeface="Nunito Sans" pitchFamily="34" charset="-120"/>
              </a:rPr>
              <a:t>Match the genetic group</a:t>
            </a:r>
            <a:endParaRPr lang="en-US" sz="1700" dirty="0"/>
          </a:p>
        </p:txBody>
      </p:sp>
      <p:sp>
        <p:nvSpPr>
          <p:cNvPr id="10" name="Text 8"/>
          <p:cNvSpPr/>
          <p:nvPr/>
        </p:nvSpPr>
        <p:spPr>
          <a:xfrm>
            <a:off x="6432550" y="2336701"/>
            <a:ext cx="4853051"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A63"/>
                </a:solidFill>
                <a:latin typeface="Nunito Sans" pitchFamily="34" charset="0"/>
                <a:ea typeface="Nunito Sans" pitchFamily="34" charset="-122"/>
                <a:cs typeface="Nunito Sans" pitchFamily="34" charset="-120"/>
              </a:rPr>
              <a:t>Source seed from the same genetic “family” of populations, keeping natural groupings intact.</a:t>
            </a:r>
            <a:endParaRPr lang="en-US" sz="1400" dirty="0"/>
          </a:p>
        </p:txBody>
      </p:sp>
      <p:sp>
        <p:nvSpPr>
          <p:cNvPr id="11" name="Text 9"/>
          <p:cNvSpPr/>
          <p:nvPr/>
        </p:nvSpPr>
        <p:spPr>
          <a:xfrm>
            <a:off x="6432550" y="2910582"/>
            <a:ext cx="485305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3B4D"/>
                </a:solidFill>
                <a:latin typeface="Nunito Sans" pitchFamily="34" charset="0"/>
                <a:ea typeface="Nunito Sans" pitchFamily="34" charset="-122"/>
                <a:cs typeface="Nunito Sans" pitchFamily="34" charset="-120"/>
              </a:rPr>
              <a:t>Works if shared history shapes oyster genetics.</a:t>
            </a:r>
            <a:endParaRPr lang="en-US" sz="1300" dirty="0"/>
          </a:p>
        </p:txBody>
      </p:sp>
      <p:sp>
        <p:nvSpPr>
          <p:cNvPr id="12" name="Text 10"/>
          <p:cNvSpPr/>
          <p:nvPr/>
        </p:nvSpPr>
        <p:spPr>
          <a:xfrm>
            <a:off x="812800" y="5181600"/>
            <a:ext cx="981075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1F3B4D"/>
                </a:solidFill>
                <a:latin typeface="Domine" pitchFamily="18" charset="0"/>
                <a:ea typeface="Domine" pitchFamily="18" charset="-122"/>
                <a:cs typeface="Domine" pitchFamily="18" charset="-120"/>
              </a:rPr>
              <a:t>We asked which of these better explains the genetic differences we see among Puget Sound oyster beds.</a:t>
            </a:r>
            <a:endParaRPr lang="en-US" sz="20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0"/>
                </a:solidFill>
                <a:latin typeface="Nunito Sans" pitchFamily="34" charset="0"/>
                <a:ea typeface="Nunito Sans" pitchFamily="34" charset="-122"/>
                <a:cs typeface="Nunito Sans" pitchFamily="34" charset="-120"/>
              </a:rPr>
              <a:t>Olympia oyster genetics · Bengtsson, Martinelli &amp; Roberts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35A17"/>
                </a:solidFill>
                <a:latin typeface="IBM Plex Sans" pitchFamily="34" charset="0"/>
                <a:ea typeface="IBM Plex Sans" pitchFamily="34" charset="-122"/>
                <a:cs typeface="IBM Plex Sans" pitchFamily="34" charset="-120"/>
              </a:rPr>
              <a:t>SAMPLING DESIGN</a:t>
            </a:r>
            <a:endParaRPr lang="en-US" sz="1200" dirty="0"/>
          </a:p>
        </p:txBody>
      </p:sp>
      <p:sp>
        <p:nvSpPr>
          <p:cNvPr id="3" name="Text 1"/>
          <p:cNvSpPr>
            <a:spLocks noGrp="1"/>
          </p:cNvSpPr>
          <p:nvPr>
            <p:ph type="title"/>
          </p:nvPr>
        </p:nvSpPr>
        <p:spPr>
          <a:xfrm>
            <a:off x="812800" y="1076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303A"/>
                </a:solidFill>
                <a:latin typeface="Source Serif 4" pitchFamily="18" charset="0"/>
                <a:ea typeface="Source Serif 4" pitchFamily="18" charset="-122"/>
                <a:cs typeface="Source Serif 4" pitchFamily="18" charset="-120"/>
              </a:rPr>
              <a:t>15 collections span the Salish Sea and outer coast</a:t>
            </a:r>
            <a:endParaRPr lang="en-US" sz="2800" dirty="0"/>
          </a:p>
        </p:txBody>
      </p:sp>
      <p:sp>
        <p:nvSpPr>
          <p:cNvPr id="4" name="Shape 2"/>
          <p:cNvSpPr/>
          <p:nvPr/>
        </p:nvSpPr>
        <p:spPr>
          <a:xfrm>
            <a:off x="812800" y="1722041"/>
            <a:ext cx="6350000" cy="3956050"/>
          </a:xfrm>
          <a:prstGeom prst="roundRect">
            <a:avLst>
              <a:gd name="adj" fmla="val 1926"/>
            </a:avLst>
          </a:prstGeom>
          <a:solidFill>
            <a:srgbClr val="FFFFFF"/>
          </a:solidFill>
          <a:ln/>
        </p:spPr>
        <p:txBody>
          <a:bodyPr/>
          <a:lstStyle/>
          <a:p>
            <a:endParaRPr lang="en-US"/>
          </a:p>
        </p:txBody>
      </p:sp>
      <p:pic>
        <p:nvPicPr>
          <p:cNvPr id="5" name="Image 0" descr="Map of 15 sampling sites coloured by region: Willapa Bay and Coos Bay on the outer coast; Fidalgo Bay, Sequim Bay, Discovery Bay, Port Gamble, Triton Cove, Dogfish Bay, Ostrich Bay, Clam Bay, North Bay, Squaxin Island, Little Skookum and Mud Bay in the Salish Sea"/>
          <p:cNvPicPr>
            <a:picLocks noChangeAspect="1"/>
          </p:cNvPicPr>
          <p:nvPr/>
        </p:nvPicPr>
        <p:blipFill>
          <a:blip r:embed="rId3"/>
          <a:srcRect l="-67" r="-67"/>
          <a:stretch/>
        </p:blipFill>
        <p:spPr>
          <a:xfrm>
            <a:off x="819150" y="1728391"/>
            <a:ext cx="6337300" cy="3943350"/>
          </a:xfrm>
          <a:prstGeom prst="roundRect">
            <a:avLst>
              <a:gd name="adj" fmla="val 1771"/>
            </a:avLst>
          </a:prstGeom>
        </p:spPr>
      </p:pic>
      <p:sp>
        <p:nvSpPr>
          <p:cNvPr id="6" name="Shape 3"/>
          <p:cNvSpPr/>
          <p:nvPr/>
        </p:nvSpPr>
        <p:spPr>
          <a:xfrm>
            <a:off x="815975" y="1725216"/>
            <a:ext cx="6343650" cy="3949700"/>
          </a:xfrm>
          <a:prstGeom prst="roundRect">
            <a:avLst>
              <a:gd name="adj" fmla="val 1849"/>
            </a:avLst>
          </a:prstGeom>
          <a:noFill/>
          <a:ln w="6350">
            <a:solidFill>
              <a:srgbClr val="E2DED3"/>
            </a:solidFill>
            <a:prstDash val="solid"/>
          </a:ln>
        </p:spPr>
        <p:txBody>
          <a:bodyPr/>
          <a:lstStyle/>
          <a:p>
            <a:endParaRPr lang="en-US"/>
          </a:p>
        </p:txBody>
      </p:sp>
      <p:sp>
        <p:nvSpPr>
          <p:cNvPr id="7" name="Shape 4"/>
          <p:cNvSpPr/>
          <p:nvPr/>
        </p:nvSpPr>
        <p:spPr>
          <a:xfrm>
            <a:off x="7470775" y="1725216"/>
            <a:ext cx="3905250" cy="895251"/>
          </a:xfrm>
          <a:prstGeom prst="roundRect">
            <a:avLst>
              <a:gd name="adj" fmla="val 8157"/>
            </a:avLst>
          </a:prstGeom>
          <a:solidFill>
            <a:srgbClr val="FBFAF6"/>
          </a:solidFill>
          <a:ln w="6350">
            <a:solidFill>
              <a:srgbClr val="E2DED3"/>
            </a:solidFill>
            <a:prstDash val="solid"/>
          </a:ln>
        </p:spPr>
        <p:txBody>
          <a:bodyPr/>
          <a:lstStyle/>
          <a:p>
            <a:endParaRPr lang="en-US"/>
          </a:p>
        </p:txBody>
      </p:sp>
      <p:sp>
        <p:nvSpPr>
          <p:cNvPr id="8" name="Text 5"/>
          <p:cNvSpPr/>
          <p:nvPr/>
        </p:nvSpPr>
        <p:spPr>
          <a:xfrm>
            <a:off x="7651750" y="1880791"/>
            <a:ext cx="3649599" cy="345380"/>
          </a:xfrm>
          <a:prstGeom prst="rect">
            <a:avLst/>
          </a:prstGeom>
          <a:noFill/>
          <a:ln/>
        </p:spPr>
        <p:txBody>
          <a:bodyPr wrap="square" lIns="0" tIns="0" rIns="0" bIns="0" rtlCol="0" anchor="t">
            <a:normAutofit/>
          </a:bodyPr>
          <a:lstStyle/>
          <a:p>
            <a:pPr marL="0" indent="0" algn="l">
              <a:lnSpc>
                <a:spcPts val="2520"/>
              </a:lnSpc>
              <a:buNone/>
            </a:pPr>
            <a:r>
              <a:rPr lang="en-US" sz="2400" b="1" dirty="0">
                <a:solidFill>
                  <a:srgbClr val="B35A17"/>
                </a:solidFill>
                <a:latin typeface="Source Serif 4" pitchFamily="18" charset="0"/>
                <a:ea typeface="Source Serif 4" pitchFamily="18" charset="-122"/>
                <a:cs typeface="Source Serif 4" pitchFamily="18" charset="-120"/>
              </a:rPr>
              <a:t>109</a:t>
            </a:r>
            <a:endParaRPr lang="en-US" sz="2400" dirty="0"/>
          </a:p>
        </p:txBody>
      </p:sp>
      <p:sp>
        <p:nvSpPr>
          <p:cNvPr id="9" name="Text 6"/>
          <p:cNvSpPr/>
          <p:nvPr/>
        </p:nvSpPr>
        <p:spPr>
          <a:xfrm>
            <a:off x="7651750" y="2251571"/>
            <a:ext cx="37211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oysters analysed (one low-depth sample dropped)</a:t>
            </a:r>
            <a:endParaRPr lang="en-US" sz="1200" dirty="0"/>
          </a:p>
        </p:txBody>
      </p:sp>
      <p:sp>
        <p:nvSpPr>
          <p:cNvPr id="10" name="Shape 7"/>
          <p:cNvSpPr/>
          <p:nvPr/>
        </p:nvSpPr>
        <p:spPr>
          <a:xfrm>
            <a:off x="7470775" y="2728416"/>
            <a:ext cx="3905250" cy="1108571"/>
          </a:xfrm>
          <a:prstGeom prst="roundRect">
            <a:avLst>
              <a:gd name="adj" fmla="val 6587"/>
            </a:avLst>
          </a:prstGeom>
          <a:solidFill>
            <a:srgbClr val="FBFAF6"/>
          </a:solidFill>
          <a:ln w="6350">
            <a:solidFill>
              <a:srgbClr val="E2DED3"/>
            </a:solidFill>
            <a:prstDash val="solid"/>
          </a:ln>
        </p:spPr>
        <p:txBody>
          <a:bodyPr/>
          <a:lstStyle/>
          <a:p>
            <a:endParaRPr lang="en-US"/>
          </a:p>
        </p:txBody>
      </p:sp>
      <p:sp>
        <p:nvSpPr>
          <p:cNvPr id="11" name="Text 8"/>
          <p:cNvSpPr/>
          <p:nvPr/>
        </p:nvSpPr>
        <p:spPr>
          <a:xfrm>
            <a:off x="7651750" y="2883991"/>
            <a:ext cx="3649599" cy="345380"/>
          </a:xfrm>
          <a:prstGeom prst="rect">
            <a:avLst/>
          </a:prstGeom>
          <a:noFill/>
          <a:ln/>
        </p:spPr>
        <p:txBody>
          <a:bodyPr wrap="square" lIns="0" tIns="0" rIns="0" bIns="0" rtlCol="0" anchor="t">
            <a:normAutofit/>
          </a:bodyPr>
          <a:lstStyle/>
          <a:p>
            <a:pPr marL="0" indent="0" algn="l">
              <a:lnSpc>
                <a:spcPts val="2520"/>
              </a:lnSpc>
              <a:buNone/>
            </a:pPr>
            <a:r>
              <a:rPr lang="en-US" sz="2400" b="1" dirty="0">
                <a:solidFill>
                  <a:srgbClr val="B35A17"/>
                </a:solidFill>
                <a:latin typeface="Source Serif 4" pitchFamily="18" charset="0"/>
                <a:ea typeface="Source Serif 4" pitchFamily="18" charset="-122"/>
                <a:cs typeface="Source Serif 4" pitchFamily="18" charset="-120"/>
              </a:rPr>
              <a:t>15</a:t>
            </a:r>
            <a:endParaRPr lang="en-US" sz="2400" dirty="0"/>
          </a:p>
        </p:txBody>
      </p:sp>
      <p:sp>
        <p:nvSpPr>
          <p:cNvPr id="12" name="Text 9"/>
          <p:cNvSpPr/>
          <p:nvPr/>
        </p:nvSpPr>
        <p:spPr>
          <a:xfrm>
            <a:off x="7651750" y="3254772"/>
            <a:ext cx="364959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collections: 13 in the Salish Sea plus Willapa Bay and Coos Bay</a:t>
            </a:r>
            <a:endParaRPr lang="en-US" sz="1200" dirty="0"/>
          </a:p>
        </p:txBody>
      </p:sp>
      <p:sp>
        <p:nvSpPr>
          <p:cNvPr id="13" name="Shape 10"/>
          <p:cNvSpPr/>
          <p:nvPr/>
        </p:nvSpPr>
        <p:spPr>
          <a:xfrm>
            <a:off x="7470775" y="3944937"/>
            <a:ext cx="3905250" cy="895251"/>
          </a:xfrm>
          <a:prstGeom prst="roundRect">
            <a:avLst>
              <a:gd name="adj" fmla="val 8157"/>
            </a:avLst>
          </a:prstGeom>
          <a:solidFill>
            <a:srgbClr val="FBFAF6"/>
          </a:solidFill>
          <a:ln w="6350">
            <a:solidFill>
              <a:srgbClr val="E2DED3"/>
            </a:solidFill>
            <a:prstDash val="solid"/>
          </a:ln>
        </p:spPr>
        <p:txBody>
          <a:bodyPr/>
          <a:lstStyle/>
          <a:p>
            <a:endParaRPr lang="en-US"/>
          </a:p>
        </p:txBody>
      </p:sp>
      <p:sp>
        <p:nvSpPr>
          <p:cNvPr id="14" name="Text 11"/>
          <p:cNvSpPr/>
          <p:nvPr/>
        </p:nvSpPr>
        <p:spPr>
          <a:xfrm>
            <a:off x="7651750" y="4100513"/>
            <a:ext cx="3649599" cy="345380"/>
          </a:xfrm>
          <a:prstGeom prst="rect">
            <a:avLst/>
          </a:prstGeom>
          <a:noFill/>
          <a:ln/>
        </p:spPr>
        <p:txBody>
          <a:bodyPr wrap="square" lIns="0" tIns="0" rIns="0" bIns="0" rtlCol="0" anchor="t">
            <a:normAutofit/>
          </a:bodyPr>
          <a:lstStyle/>
          <a:p>
            <a:pPr marL="0" indent="0" algn="l">
              <a:lnSpc>
                <a:spcPts val="2520"/>
              </a:lnSpc>
              <a:buNone/>
            </a:pPr>
            <a:r>
              <a:rPr lang="en-US" sz="2400" b="1" dirty="0">
                <a:solidFill>
                  <a:srgbClr val="B35A17"/>
                </a:solidFill>
                <a:latin typeface="Source Serif 4" pitchFamily="18" charset="0"/>
                <a:ea typeface="Source Serif 4" pitchFamily="18" charset="-122"/>
                <a:cs typeface="Source Serif 4" pitchFamily="18" charset="-120"/>
              </a:rPr>
              <a:t>~7×</a:t>
            </a:r>
            <a:endParaRPr lang="en-US" sz="2400" dirty="0"/>
          </a:p>
        </p:txBody>
      </p:sp>
      <p:sp>
        <p:nvSpPr>
          <p:cNvPr id="15" name="Text 12"/>
          <p:cNvSpPr/>
          <p:nvPr/>
        </p:nvSpPr>
        <p:spPr>
          <a:xfrm>
            <a:off x="7651750" y="4471293"/>
            <a:ext cx="364959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mean sequencing depth per oyster</a:t>
            </a:r>
            <a:endParaRPr lang="en-US" sz="1200" dirty="0"/>
          </a:p>
        </p:txBody>
      </p:sp>
      <p:sp>
        <p:nvSpPr>
          <p:cNvPr id="16" name="Text 1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Bengtsson, Martinelli &amp; Roberts · Olympia oyster lc-WGS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35A17"/>
                </a:solidFill>
                <a:latin typeface="IBM Plex Sans" pitchFamily="34" charset="0"/>
                <a:ea typeface="IBM Plex Sans" pitchFamily="34" charset="-122"/>
                <a:cs typeface="IBM Plex Sans" pitchFamily="34" charset="-120"/>
              </a:rPr>
              <a:t>NEW REFERENCE GENOME</a:t>
            </a:r>
            <a:endParaRPr lang="en-US" sz="1200" dirty="0"/>
          </a:p>
        </p:txBody>
      </p:sp>
      <p:sp>
        <p:nvSpPr>
          <p:cNvPr id="3" name="Text 1"/>
          <p:cNvSpPr>
            <a:spLocks noGrp="1"/>
          </p:cNvSpPr>
          <p:nvPr>
            <p:ph type="title"/>
          </p:nvPr>
        </p:nvSpPr>
        <p:spPr>
          <a:xfrm>
            <a:off x="812800" y="1076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303A"/>
                </a:solidFill>
                <a:latin typeface="Source Serif 4" pitchFamily="18" charset="0"/>
                <a:ea typeface="Source Serif 4" pitchFamily="18" charset="-122"/>
                <a:cs typeface="Source Serif 4" pitchFamily="18" charset="-120"/>
              </a:rPr>
              <a:t>A chromosome-level genome raises depth and resolution</a:t>
            </a:r>
            <a:endParaRPr lang="en-US" sz="2800" dirty="0"/>
          </a:p>
        </p:txBody>
      </p:sp>
      <p:sp>
        <p:nvSpPr>
          <p:cNvPr id="4" name="Shape 2"/>
          <p:cNvSpPr/>
          <p:nvPr/>
        </p:nvSpPr>
        <p:spPr>
          <a:xfrm>
            <a:off x="812800" y="1722041"/>
            <a:ext cx="4826000" cy="3810000"/>
          </a:xfrm>
          <a:prstGeom prst="roundRect">
            <a:avLst>
              <a:gd name="adj" fmla="val 2000"/>
            </a:avLst>
          </a:prstGeom>
          <a:solidFill>
            <a:srgbClr val="FFFFFF"/>
          </a:solidFill>
          <a:ln/>
        </p:spPr>
        <p:txBody>
          <a:bodyPr/>
          <a:lstStyle/>
          <a:p>
            <a:endParaRPr lang="en-US"/>
          </a:p>
        </p:txBody>
      </p:sp>
      <p:pic>
        <p:nvPicPr>
          <p:cNvPr id="5" name="Image 0" descr="Per-oyster mean depth on xbOstLuri2 versus the old assembly, coloured by region; every point lies above the 1:1 line"/>
          <p:cNvPicPr>
            <a:picLocks noChangeAspect="1"/>
          </p:cNvPicPr>
          <p:nvPr/>
        </p:nvPicPr>
        <p:blipFill>
          <a:blip r:embed="rId3"/>
          <a:srcRect l="-35" r="-35"/>
          <a:stretch/>
        </p:blipFill>
        <p:spPr>
          <a:xfrm>
            <a:off x="819150" y="1728391"/>
            <a:ext cx="4813300" cy="3797300"/>
          </a:xfrm>
          <a:prstGeom prst="roundRect">
            <a:avLst>
              <a:gd name="adj" fmla="val 1839"/>
            </a:avLst>
          </a:prstGeom>
        </p:spPr>
      </p:pic>
      <p:sp>
        <p:nvSpPr>
          <p:cNvPr id="6" name="Shape 3"/>
          <p:cNvSpPr/>
          <p:nvPr/>
        </p:nvSpPr>
        <p:spPr>
          <a:xfrm>
            <a:off x="815975" y="1725216"/>
            <a:ext cx="4819650" cy="3803650"/>
          </a:xfrm>
          <a:prstGeom prst="roundRect">
            <a:avLst>
              <a:gd name="adj" fmla="val 1920"/>
            </a:avLst>
          </a:prstGeom>
          <a:noFill/>
          <a:ln w="6350">
            <a:solidFill>
              <a:srgbClr val="E2DED3"/>
            </a:solidFill>
            <a:prstDash val="solid"/>
          </a:ln>
        </p:spPr>
        <p:txBody>
          <a:bodyPr/>
          <a:lstStyle/>
          <a:p>
            <a:endParaRPr 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56300" y="1734741"/>
          <a:ext cx="5422900" cy="1668165"/>
        </p:xfrm>
        <a:graphic>
          <a:graphicData uri="http://schemas.openxmlformats.org/drawingml/2006/table">
            <a:tbl>
              <a:tblPr/>
              <a:tblGrid>
                <a:gridCol w="1843786">
                  <a:extLst>
                    <a:ext uri="{9D8B030D-6E8A-4147-A177-3AD203B41FA5}">
                      <a16:colId xmlns:a16="http://schemas.microsoft.com/office/drawing/2014/main" val="20000"/>
                    </a:ext>
                  </a:extLst>
                </a:gridCol>
                <a:gridCol w="1789557">
                  <a:extLst>
                    <a:ext uri="{9D8B030D-6E8A-4147-A177-3AD203B41FA5}">
                      <a16:colId xmlns:a16="http://schemas.microsoft.com/office/drawing/2014/main" val="20001"/>
                    </a:ext>
                  </a:extLst>
                </a:gridCol>
                <a:gridCol w="1789557">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14303A"/>
                          </a:solidFill>
                          <a:latin typeface="IBM Plex Sans" pitchFamily="34" charset="0"/>
                          <a:ea typeface="IBM Plex Sans" pitchFamily="34" charset="-122"/>
                          <a:cs typeface="IBM Plex Sans" pitchFamily="34" charset="-120"/>
                        </a:rPr>
                        <a:t>Metric</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20"/>
                        </a:lnSpc>
                        <a:buNone/>
                      </a:pPr>
                      <a:r>
                        <a:rPr lang="en-US" sz="1300" b="1" dirty="0">
                          <a:solidFill>
                            <a:srgbClr val="14303A"/>
                          </a:solidFill>
                          <a:latin typeface="IBM Plex Sans" pitchFamily="34" charset="0"/>
                          <a:ea typeface="IBM Plex Sans" pitchFamily="34" charset="-122"/>
                          <a:cs typeface="IBM Plex Sans" pitchFamily="34" charset="-120"/>
                        </a:rPr>
                        <a:t>Olurida_v081</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20"/>
                        </a:lnSpc>
                        <a:buNone/>
                      </a:pPr>
                      <a:r>
                        <a:rPr lang="en-US" sz="1300" b="1" dirty="0">
                          <a:solidFill>
                            <a:srgbClr val="14303A"/>
                          </a:solidFill>
                          <a:latin typeface="IBM Plex Sans" pitchFamily="34" charset="0"/>
                          <a:ea typeface="IBM Plex Sans" pitchFamily="34" charset="-122"/>
                          <a:cs typeface="IBM Plex Sans" pitchFamily="34" charset="-120"/>
                        </a:rPr>
                        <a:t>xbOstLuri2</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590352">
                <a:tc>
                  <a:txBody>
                    <a:bodyPr/>
                    <a:lstStyle/>
                    <a:p>
                      <a:pPr marL="0" indent="0">
                        <a:lnSpc>
                          <a:spcPts val="1820"/>
                        </a:lnSpc>
                        <a:buNone/>
                      </a:pPr>
                      <a:r>
                        <a:rPr lang="en-US" sz="1300" dirty="0">
                          <a:solidFill>
                            <a:srgbClr val="14303A"/>
                          </a:solidFill>
                          <a:latin typeface="IBM Plex Sans" pitchFamily="34" charset="0"/>
                          <a:ea typeface="IBM Plex Sans" pitchFamily="34" charset="-122"/>
                          <a:cs typeface="IBM Plex Sans" pitchFamily="34" charset="-120"/>
                        </a:rPr>
                        <a:t>Assembly</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303A"/>
                          </a:solidFill>
                          <a:latin typeface="IBM Plex Sans" pitchFamily="34" charset="0"/>
                          <a:ea typeface="IBM Plex Sans" pitchFamily="34" charset="-122"/>
                          <a:cs typeface="IBM Plex Sans" pitchFamily="34" charset="-120"/>
                        </a:rPr>
                        <a:t>contigs, N50 12.9 kb</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303A"/>
                          </a:solidFill>
                          <a:latin typeface="IBM Plex Sans" pitchFamily="34" charset="0"/>
                          <a:ea typeface="IBM Plex Sans" pitchFamily="34" charset="-122"/>
                          <a:cs typeface="IBM Plex Sans" pitchFamily="34" charset="-120"/>
                        </a:rPr>
                        <a:t>10 chromosomes, 995 Mb</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4303A"/>
                          </a:solidFill>
                          <a:latin typeface="IBM Plex Sans" pitchFamily="34" charset="0"/>
                          <a:ea typeface="IBM Plex Sans" pitchFamily="34" charset="-122"/>
                          <a:cs typeface="IBM Plex Sans" pitchFamily="34" charset="-120"/>
                        </a:rPr>
                        <a:t>Mean depth</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303A"/>
                          </a:solidFill>
                          <a:latin typeface="IBM Plex Sans" pitchFamily="34" charset="0"/>
                          <a:ea typeface="IBM Plex Sans" pitchFamily="34" charset="-122"/>
                          <a:cs typeface="IBM Plex Sans" pitchFamily="34" charset="-120"/>
                        </a:rPr>
                        <a:t>5.4×</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303A"/>
                          </a:solidFill>
                          <a:latin typeface="IBM Plex Sans" pitchFamily="34" charset="0"/>
                          <a:ea typeface="IBM Plex Sans" pitchFamily="34" charset="-122"/>
                          <a:cs typeface="IBM Plex Sans" pitchFamily="34" charset="-120"/>
                        </a:rPr>
                        <a:t>7.0×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4303A"/>
                          </a:solidFill>
                          <a:latin typeface="IBM Plex Sans" pitchFamily="34" charset="0"/>
                          <a:ea typeface="IBM Plex Sans" pitchFamily="34" charset="-122"/>
                          <a:cs typeface="IBM Plex Sans" pitchFamily="34" charset="-120"/>
                        </a:rPr>
                        <a:t>Reads mapped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303A"/>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14303A"/>
                          </a:solidFill>
                          <a:latin typeface="IBM Plex Sans" pitchFamily="34" charset="0"/>
                          <a:ea typeface="IBM Plex Sans" pitchFamily="34" charset="-122"/>
                          <a:cs typeface="IBM Plex Sans" pitchFamily="34" charset="-120"/>
                        </a:rPr>
                        <a:t>98.6%</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xt 4"/>
          <p:cNvSpPr/>
          <p:nvPr/>
        </p:nvSpPr>
        <p:spPr>
          <a:xfrm>
            <a:off x="5943600" y="3606105"/>
            <a:ext cx="559866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0"/>
                </a:solidFill>
                <a:latin typeface="IBM Plex Sans" pitchFamily="34" charset="0"/>
                <a:ea typeface="IBM Plex Sans" pitchFamily="34" charset="-122"/>
                <a:cs typeface="IBM Plex Sans" pitchFamily="34" charset="-120"/>
              </a:rPr>
              <a:t>Every oyster gained depth (≈ 1.3× on average), and SNPs can now be placed by chromosome and position.</a:t>
            </a:r>
            <a:endParaRPr lang="en-US" sz="1300" dirty="0"/>
          </a:p>
        </p:txBody>
      </p:sp>
      <p:sp>
        <p:nvSpPr>
          <p:cNvPr id="9" name="Text 5"/>
          <p:cNvSpPr/>
          <p:nvPr/>
        </p:nvSpPr>
        <p:spPr>
          <a:xfrm>
            <a:off x="5943600" y="4271466"/>
            <a:ext cx="55986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Reference: GCA_061535525.1 (USDA-ARS / PSRF)</a:t>
            </a:r>
            <a:endParaRPr lang="en-US" sz="1200" dirty="0"/>
          </a:p>
        </p:txBody>
      </p:sp>
      <p:sp>
        <p:nvSpPr>
          <p:cNvPr id="10" name="Text 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Bengtsson, Martinelli &amp; Roberts · Olympia oyster lc-WGS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35A17"/>
                </a:solidFill>
                <a:latin typeface="IBM Plex Sans" pitchFamily="34" charset="0"/>
                <a:ea typeface="IBM Plex Sans" pitchFamily="34" charset="-122"/>
                <a:cs typeface="IBM Plex Sans" pitchFamily="34" charset="-120"/>
              </a:rPr>
              <a:t>APPROACH</a:t>
            </a:r>
            <a:endParaRPr lang="en-US" sz="1200" dirty="0"/>
          </a:p>
        </p:txBody>
      </p:sp>
      <p:sp>
        <p:nvSpPr>
          <p:cNvPr id="3" name="Text 1"/>
          <p:cNvSpPr>
            <a:spLocks noGrp="1"/>
          </p:cNvSpPr>
          <p:nvPr>
            <p:ph type="title"/>
          </p:nvPr>
        </p:nvSpPr>
        <p:spPr>
          <a:xfrm>
            <a:off x="812800" y="1076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303A"/>
                </a:solidFill>
                <a:latin typeface="Source Serif 4" pitchFamily="18" charset="0"/>
                <a:ea typeface="Source Serif 4" pitchFamily="18" charset="-122"/>
                <a:cs typeface="Source Serif 4" pitchFamily="18" charset="-120"/>
              </a:rPr>
              <a:t>Genotype likelihoods carry low-depth data to the RDA</a:t>
            </a:r>
            <a:endParaRPr lang="en-US" sz="2800" dirty="0"/>
          </a:p>
        </p:txBody>
      </p:sp>
      <p:sp>
        <p:nvSpPr>
          <p:cNvPr id="4" name="Shape 2"/>
          <p:cNvSpPr/>
          <p:nvPr/>
        </p:nvSpPr>
        <p:spPr>
          <a:xfrm>
            <a:off x="815975" y="1725216"/>
            <a:ext cx="1984970" cy="2001242"/>
          </a:xfrm>
          <a:prstGeom prst="roundRect">
            <a:avLst>
              <a:gd name="adj" fmla="val 3679"/>
            </a:avLst>
          </a:prstGeom>
          <a:solidFill>
            <a:srgbClr val="FBFAF6"/>
          </a:solidFill>
          <a:ln w="6350">
            <a:solidFill>
              <a:srgbClr val="E2DED3"/>
            </a:solidFill>
            <a:prstDash val="solid"/>
          </a:ln>
        </p:spPr>
        <p:txBody>
          <a:bodyPr/>
          <a:lstStyle/>
          <a:p>
            <a:endParaRPr lang="en-US"/>
          </a:p>
        </p:txBody>
      </p:sp>
      <p:sp>
        <p:nvSpPr>
          <p:cNvPr id="5" name="Text 3"/>
          <p:cNvSpPr/>
          <p:nvPr/>
        </p:nvSpPr>
        <p:spPr>
          <a:xfrm>
            <a:off x="996950" y="1880791"/>
            <a:ext cx="1673820" cy="318691"/>
          </a:xfrm>
          <a:prstGeom prst="rect">
            <a:avLst/>
          </a:prstGeom>
          <a:noFill/>
          <a:ln/>
        </p:spPr>
        <p:txBody>
          <a:bodyPr wrap="square" lIns="0" tIns="0" rIns="0" bIns="0" rtlCol="0" anchor="t">
            <a:normAutofit/>
          </a:bodyPr>
          <a:lstStyle/>
          <a:p>
            <a:pPr marL="0" indent="0" algn="l">
              <a:lnSpc>
                <a:spcPts val="2310"/>
              </a:lnSpc>
              <a:buNone/>
            </a:pPr>
            <a:r>
              <a:rPr lang="en-US" sz="2200" b="1" dirty="0">
                <a:solidFill>
                  <a:srgbClr val="B35A17"/>
                </a:solidFill>
                <a:latin typeface="Source Serif 4" pitchFamily="18" charset="0"/>
                <a:ea typeface="Source Serif 4" pitchFamily="18" charset="-122"/>
                <a:cs typeface="Source Serif 4" pitchFamily="18" charset="-120"/>
              </a:rPr>
              <a:t>1</a:t>
            </a:r>
            <a:endParaRPr lang="en-US" sz="2200" dirty="0"/>
          </a:p>
        </p:txBody>
      </p:sp>
      <p:sp>
        <p:nvSpPr>
          <p:cNvPr id="6" name="Text 4"/>
          <p:cNvSpPr/>
          <p:nvPr/>
        </p:nvSpPr>
        <p:spPr>
          <a:xfrm>
            <a:off x="996950" y="2224881"/>
            <a:ext cx="16738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Align</a:t>
            </a:r>
            <a:endParaRPr lang="en-US" sz="1500" dirty="0"/>
          </a:p>
        </p:txBody>
      </p:sp>
      <p:sp>
        <p:nvSpPr>
          <p:cNvPr id="7" name="Text 5"/>
          <p:cNvSpPr/>
          <p:nvPr/>
        </p:nvSpPr>
        <p:spPr>
          <a:xfrm>
            <a:off x="996950" y="2504281"/>
            <a:ext cx="167382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bwa-mem to xbOstLuri2; duplicates marked; 109 oysters kept</a:t>
            </a:r>
            <a:endParaRPr lang="en-US" sz="1200" dirty="0"/>
          </a:p>
        </p:txBody>
      </p:sp>
      <p:sp>
        <p:nvSpPr>
          <p:cNvPr id="8" name="Shape 6"/>
          <p:cNvSpPr/>
          <p:nvPr/>
        </p:nvSpPr>
        <p:spPr>
          <a:xfrm>
            <a:off x="2959695" y="1725216"/>
            <a:ext cx="1985070" cy="2001242"/>
          </a:xfrm>
          <a:prstGeom prst="roundRect">
            <a:avLst>
              <a:gd name="adj" fmla="val 3679"/>
            </a:avLst>
          </a:prstGeom>
          <a:solidFill>
            <a:srgbClr val="FBFAF6"/>
          </a:solidFill>
          <a:ln w="6350">
            <a:solidFill>
              <a:srgbClr val="E2DED3"/>
            </a:solidFill>
            <a:prstDash val="solid"/>
          </a:ln>
        </p:spPr>
        <p:txBody>
          <a:bodyPr/>
          <a:lstStyle/>
          <a:p>
            <a:endParaRPr lang="en-US"/>
          </a:p>
        </p:txBody>
      </p:sp>
      <p:sp>
        <p:nvSpPr>
          <p:cNvPr id="9" name="Text 7"/>
          <p:cNvSpPr/>
          <p:nvPr/>
        </p:nvSpPr>
        <p:spPr>
          <a:xfrm>
            <a:off x="3140670" y="1880791"/>
            <a:ext cx="1673920" cy="318691"/>
          </a:xfrm>
          <a:prstGeom prst="rect">
            <a:avLst/>
          </a:prstGeom>
          <a:noFill/>
          <a:ln/>
        </p:spPr>
        <p:txBody>
          <a:bodyPr wrap="square" lIns="0" tIns="0" rIns="0" bIns="0" rtlCol="0" anchor="t">
            <a:normAutofit/>
          </a:bodyPr>
          <a:lstStyle/>
          <a:p>
            <a:pPr marL="0" indent="0" algn="l">
              <a:lnSpc>
                <a:spcPts val="2310"/>
              </a:lnSpc>
              <a:buNone/>
            </a:pPr>
            <a:r>
              <a:rPr lang="en-US" sz="2200" b="1" dirty="0">
                <a:solidFill>
                  <a:srgbClr val="B35A17"/>
                </a:solidFill>
                <a:latin typeface="Source Serif 4" pitchFamily="18" charset="0"/>
                <a:ea typeface="Source Serif 4" pitchFamily="18" charset="-122"/>
                <a:cs typeface="Source Serif 4" pitchFamily="18" charset="-120"/>
              </a:rPr>
              <a:t>2</a:t>
            </a:r>
            <a:endParaRPr lang="en-US" sz="2200" dirty="0"/>
          </a:p>
        </p:txBody>
      </p:sp>
      <p:sp>
        <p:nvSpPr>
          <p:cNvPr id="10" name="Text 8"/>
          <p:cNvSpPr/>
          <p:nvPr/>
        </p:nvSpPr>
        <p:spPr>
          <a:xfrm>
            <a:off x="3140670" y="2224881"/>
            <a:ext cx="16739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Likelihoods</a:t>
            </a:r>
            <a:endParaRPr lang="en-US" sz="1500" dirty="0"/>
          </a:p>
        </p:txBody>
      </p:sp>
      <p:sp>
        <p:nvSpPr>
          <p:cNvPr id="11" name="Text 9"/>
          <p:cNvSpPr/>
          <p:nvPr/>
        </p:nvSpPr>
        <p:spPr>
          <a:xfrm>
            <a:off x="3140670" y="2504281"/>
            <a:ext cx="167392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ANGSD genotype likelihoods: 7.42 M SNPs, MAF ≥ 0.05, present in ≥ 87 oysters</a:t>
            </a:r>
            <a:endParaRPr lang="en-US" sz="1200" dirty="0"/>
          </a:p>
        </p:txBody>
      </p:sp>
      <p:sp>
        <p:nvSpPr>
          <p:cNvPr id="12" name="Shape 10"/>
          <p:cNvSpPr/>
          <p:nvPr/>
        </p:nvSpPr>
        <p:spPr>
          <a:xfrm>
            <a:off x="5103515" y="1725216"/>
            <a:ext cx="1984970" cy="2001242"/>
          </a:xfrm>
          <a:prstGeom prst="roundRect">
            <a:avLst>
              <a:gd name="adj" fmla="val 3679"/>
            </a:avLst>
          </a:prstGeom>
          <a:solidFill>
            <a:srgbClr val="FBFAF6"/>
          </a:solidFill>
          <a:ln w="6350">
            <a:solidFill>
              <a:srgbClr val="E2DED3"/>
            </a:solidFill>
            <a:prstDash val="solid"/>
          </a:ln>
        </p:spPr>
        <p:txBody>
          <a:bodyPr/>
          <a:lstStyle/>
          <a:p>
            <a:endParaRPr lang="en-US"/>
          </a:p>
        </p:txBody>
      </p:sp>
      <p:sp>
        <p:nvSpPr>
          <p:cNvPr id="13" name="Text 11"/>
          <p:cNvSpPr/>
          <p:nvPr/>
        </p:nvSpPr>
        <p:spPr>
          <a:xfrm>
            <a:off x="5284490" y="1880791"/>
            <a:ext cx="1673820" cy="318691"/>
          </a:xfrm>
          <a:prstGeom prst="rect">
            <a:avLst/>
          </a:prstGeom>
          <a:noFill/>
          <a:ln/>
        </p:spPr>
        <p:txBody>
          <a:bodyPr wrap="square" lIns="0" tIns="0" rIns="0" bIns="0" rtlCol="0" anchor="t">
            <a:normAutofit/>
          </a:bodyPr>
          <a:lstStyle/>
          <a:p>
            <a:pPr marL="0" indent="0" algn="l">
              <a:lnSpc>
                <a:spcPts val="2310"/>
              </a:lnSpc>
              <a:buNone/>
            </a:pPr>
            <a:r>
              <a:rPr lang="en-US" sz="2200" b="1" dirty="0">
                <a:solidFill>
                  <a:srgbClr val="B35A17"/>
                </a:solidFill>
                <a:latin typeface="Source Serif 4" pitchFamily="18" charset="0"/>
                <a:ea typeface="Source Serif 4" pitchFamily="18" charset="-122"/>
                <a:cs typeface="Source Serif 4" pitchFamily="18" charset="-120"/>
              </a:rPr>
              <a:t>3</a:t>
            </a:r>
            <a:endParaRPr lang="en-US" sz="2200" dirty="0"/>
          </a:p>
        </p:txBody>
      </p:sp>
      <p:sp>
        <p:nvSpPr>
          <p:cNvPr id="14" name="Text 12"/>
          <p:cNvSpPr/>
          <p:nvPr/>
        </p:nvSpPr>
        <p:spPr>
          <a:xfrm>
            <a:off x="5284490" y="2224881"/>
            <a:ext cx="16738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Structure</a:t>
            </a:r>
            <a:endParaRPr lang="en-US" sz="1500" dirty="0"/>
          </a:p>
        </p:txBody>
      </p:sp>
      <p:sp>
        <p:nvSpPr>
          <p:cNvPr id="15" name="Text 13"/>
          <p:cNvSpPr/>
          <p:nvPr/>
        </p:nvSpPr>
        <p:spPr>
          <a:xfrm>
            <a:off x="5284490" y="2504281"/>
            <a:ext cx="167382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PCAngsd PCA and admixture (K 2–6); folded SFS for θ, π and Tajima's D; pairwise Fst</a:t>
            </a:r>
            <a:endParaRPr lang="en-US" sz="1200" dirty="0"/>
          </a:p>
        </p:txBody>
      </p:sp>
      <p:sp>
        <p:nvSpPr>
          <p:cNvPr id="16" name="Shape 14"/>
          <p:cNvSpPr/>
          <p:nvPr/>
        </p:nvSpPr>
        <p:spPr>
          <a:xfrm>
            <a:off x="7247235" y="1725216"/>
            <a:ext cx="1985070" cy="2001242"/>
          </a:xfrm>
          <a:prstGeom prst="roundRect">
            <a:avLst>
              <a:gd name="adj" fmla="val 3679"/>
            </a:avLst>
          </a:prstGeom>
          <a:solidFill>
            <a:srgbClr val="FBFAF6"/>
          </a:solidFill>
          <a:ln w="6350">
            <a:solidFill>
              <a:srgbClr val="E2DED3"/>
            </a:solidFill>
            <a:prstDash val="solid"/>
          </a:ln>
        </p:spPr>
        <p:txBody>
          <a:bodyPr/>
          <a:lstStyle/>
          <a:p>
            <a:endParaRPr lang="en-US"/>
          </a:p>
        </p:txBody>
      </p:sp>
      <p:sp>
        <p:nvSpPr>
          <p:cNvPr id="17" name="Text 15"/>
          <p:cNvSpPr/>
          <p:nvPr/>
        </p:nvSpPr>
        <p:spPr>
          <a:xfrm>
            <a:off x="7428210" y="1880791"/>
            <a:ext cx="1673920" cy="318691"/>
          </a:xfrm>
          <a:prstGeom prst="rect">
            <a:avLst/>
          </a:prstGeom>
          <a:noFill/>
          <a:ln/>
        </p:spPr>
        <p:txBody>
          <a:bodyPr wrap="square" lIns="0" tIns="0" rIns="0" bIns="0" rtlCol="0" anchor="t">
            <a:normAutofit/>
          </a:bodyPr>
          <a:lstStyle/>
          <a:p>
            <a:pPr marL="0" indent="0" algn="l">
              <a:lnSpc>
                <a:spcPts val="2310"/>
              </a:lnSpc>
              <a:buNone/>
            </a:pPr>
            <a:r>
              <a:rPr lang="en-US" sz="2200" b="1" dirty="0">
                <a:solidFill>
                  <a:srgbClr val="B35A17"/>
                </a:solidFill>
                <a:latin typeface="Source Serif 4" pitchFamily="18" charset="0"/>
                <a:ea typeface="Source Serif 4" pitchFamily="18" charset="-122"/>
                <a:cs typeface="Source Serif 4" pitchFamily="18" charset="-120"/>
              </a:rPr>
              <a:t>4</a:t>
            </a:r>
            <a:endParaRPr lang="en-US" sz="2200" dirty="0"/>
          </a:p>
        </p:txBody>
      </p:sp>
      <p:sp>
        <p:nvSpPr>
          <p:cNvPr id="18" name="Text 16"/>
          <p:cNvSpPr/>
          <p:nvPr/>
        </p:nvSpPr>
        <p:spPr>
          <a:xfrm>
            <a:off x="7428210" y="2224881"/>
            <a:ext cx="16739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Environment</a:t>
            </a:r>
            <a:endParaRPr lang="en-US" sz="1500" dirty="0"/>
          </a:p>
        </p:txBody>
      </p:sp>
      <p:sp>
        <p:nvSpPr>
          <p:cNvPr id="19" name="Text 17"/>
          <p:cNvSpPr/>
          <p:nvPr/>
        </p:nvSpPr>
        <p:spPr>
          <a:xfrm>
            <a:off x="7428210" y="2504281"/>
            <a:ext cx="167392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WA Ecology CTD and ORCA moorings, 2015–2018: 0–5 m monthly climatologies</a:t>
            </a:r>
            <a:endParaRPr lang="en-US" sz="1200" dirty="0"/>
          </a:p>
        </p:txBody>
      </p:sp>
      <p:sp>
        <p:nvSpPr>
          <p:cNvPr id="20" name="Shape 18"/>
          <p:cNvSpPr/>
          <p:nvPr/>
        </p:nvSpPr>
        <p:spPr>
          <a:xfrm>
            <a:off x="9391055" y="1725216"/>
            <a:ext cx="1984970" cy="2001242"/>
          </a:xfrm>
          <a:prstGeom prst="roundRect">
            <a:avLst>
              <a:gd name="adj" fmla="val 3679"/>
            </a:avLst>
          </a:prstGeom>
          <a:solidFill>
            <a:srgbClr val="FBFAF6"/>
          </a:solidFill>
          <a:ln w="6350">
            <a:solidFill>
              <a:srgbClr val="E2DED3"/>
            </a:solidFill>
            <a:prstDash val="solid"/>
          </a:ln>
        </p:spPr>
        <p:txBody>
          <a:bodyPr/>
          <a:lstStyle/>
          <a:p>
            <a:endParaRPr lang="en-US"/>
          </a:p>
        </p:txBody>
      </p:sp>
      <p:sp>
        <p:nvSpPr>
          <p:cNvPr id="21" name="Text 19"/>
          <p:cNvSpPr/>
          <p:nvPr/>
        </p:nvSpPr>
        <p:spPr>
          <a:xfrm>
            <a:off x="9572030" y="1880791"/>
            <a:ext cx="1673820" cy="318691"/>
          </a:xfrm>
          <a:prstGeom prst="rect">
            <a:avLst/>
          </a:prstGeom>
          <a:noFill/>
          <a:ln/>
        </p:spPr>
        <p:txBody>
          <a:bodyPr wrap="square" lIns="0" tIns="0" rIns="0" bIns="0" rtlCol="0" anchor="t">
            <a:normAutofit/>
          </a:bodyPr>
          <a:lstStyle/>
          <a:p>
            <a:pPr marL="0" indent="0" algn="l">
              <a:lnSpc>
                <a:spcPts val="2310"/>
              </a:lnSpc>
              <a:buNone/>
            </a:pPr>
            <a:r>
              <a:rPr lang="en-US" sz="2200" b="1" dirty="0">
                <a:solidFill>
                  <a:srgbClr val="B35A17"/>
                </a:solidFill>
                <a:latin typeface="Source Serif 4" pitchFamily="18" charset="0"/>
                <a:ea typeface="Source Serif 4" pitchFamily="18" charset="-122"/>
                <a:cs typeface="Source Serif 4" pitchFamily="18" charset="-120"/>
              </a:rPr>
              <a:t>5</a:t>
            </a:r>
            <a:endParaRPr lang="en-US" sz="2200" dirty="0"/>
          </a:p>
        </p:txBody>
      </p:sp>
      <p:sp>
        <p:nvSpPr>
          <p:cNvPr id="22" name="Text 20"/>
          <p:cNvSpPr/>
          <p:nvPr/>
        </p:nvSpPr>
        <p:spPr>
          <a:xfrm>
            <a:off x="9572030" y="2224881"/>
            <a:ext cx="16738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RDA</a:t>
            </a:r>
            <a:endParaRPr lang="en-US" sz="1500" dirty="0"/>
          </a:p>
        </p:txBody>
      </p:sp>
      <p:sp>
        <p:nvSpPr>
          <p:cNvPr id="23" name="Text 21"/>
          <p:cNvSpPr/>
          <p:nvPr/>
        </p:nvSpPr>
        <p:spPr>
          <a:xfrm>
            <a:off x="9572030" y="2504281"/>
            <a:ext cx="1673820"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Site allele frequencies against environment, geography (dbMEM) and structure; permutation tests</a:t>
            </a:r>
            <a:endParaRPr lang="en-US" sz="1200" dirty="0"/>
          </a:p>
        </p:txBody>
      </p:sp>
      <p:sp>
        <p:nvSpPr>
          <p:cNvPr id="24" name="Shape 22"/>
          <p:cNvSpPr/>
          <p:nvPr/>
        </p:nvSpPr>
        <p:spPr>
          <a:xfrm>
            <a:off x="812800" y="5149850"/>
            <a:ext cx="10566400" cy="0"/>
          </a:xfrm>
          <a:prstGeom prst="line">
            <a:avLst/>
          </a:prstGeom>
          <a:noFill/>
          <a:ln w="12700">
            <a:solidFill>
              <a:srgbClr val="C4661F"/>
            </a:solidFill>
            <a:prstDash val="solid"/>
          </a:ln>
        </p:spPr>
        <p:txBody>
          <a:bodyPr/>
          <a:lstStyle/>
          <a:p>
            <a:endParaRPr lang="en-US"/>
          </a:p>
        </p:txBody>
      </p:sp>
      <p:sp>
        <p:nvSpPr>
          <p:cNvPr id="25" name="Text 23"/>
          <p:cNvSpPr/>
          <p:nvPr/>
        </p:nvSpPr>
        <p:spPr>
          <a:xfrm>
            <a:off x="812800" y="5308600"/>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303A"/>
                </a:solidFill>
                <a:latin typeface="IBM Plex Sans" pitchFamily="34" charset="0"/>
                <a:ea typeface="IBM Plex Sans" pitchFamily="34" charset="-122"/>
                <a:cs typeface="IBM Plex Sans" pitchFamily="34" charset="-120"/>
              </a:rPr>
              <a:t>At ~7× per oyster, hard genotype calls miss heterozygotes. Likelihoods keep that uncertainty all the way into population allele frequencies.</a:t>
            </a:r>
            <a:endParaRPr lang="en-US" sz="1500" dirty="0"/>
          </a:p>
        </p:txBody>
      </p:sp>
      <p:sp>
        <p:nvSpPr>
          <p:cNvPr id="26" name="Text 2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Bengtsson, Martinelli &amp; Roberts · Olympia oyster lc-WGS</a:t>
            </a:r>
            <a:endParaRPr lang="en-US" sz="1200" dirty="0"/>
          </a:p>
        </p:txBody>
      </p:sp>
      <p:sp>
        <p:nvSpPr>
          <p:cNvPr id="27" name="Text 2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35A17"/>
                </a:solidFill>
                <a:latin typeface="IBM Plex Sans" pitchFamily="34" charset="0"/>
                <a:ea typeface="IBM Plex Sans" pitchFamily="34" charset="-122"/>
                <a:cs typeface="IBM Plex Sans" pitchFamily="34" charset="-120"/>
              </a:rPr>
              <a:t>POPULATION STRUCTURE</a:t>
            </a:r>
            <a:endParaRPr lang="en-US" sz="1200" dirty="0"/>
          </a:p>
        </p:txBody>
      </p:sp>
      <p:sp>
        <p:nvSpPr>
          <p:cNvPr id="3" name="Text 1"/>
          <p:cNvSpPr>
            <a:spLocks noGrp="1"/>
          </p:cNvSpPr>
          <p:nvPr>
            <p:ph type="title"/>
          </p:nvPr>
        </p:nvSpPr>
        <p:spPr>
          <a:xfrm>
            <a:off x="812800" y="1076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303A"/>
                </a:solidFill>
                <a:latin typeface="Source Serif 4" pitchFamily="18" charset="0"/>
                <a:ea typeface="Source Serif 4" pitchFamily="18" charset="-122"/>
                <a:cs typeface="Source Serif 4" pitchFamily="18" charset="-120"/>
              </a:rPr>
              <a:t>Genomes split the outer coast from the Salish Sea</a:t>
            </a:r>
            <a:endParaRPr lang="en-US" sz="2800" dirty="0"/>
          </a:p>
        </p:txBody>
      </p:sp>
      <p:sp>
        <p:nvSpPr>
          <p:cNvPr id="4" name="Shape 2"/>
          <p:cNvSpPr/>
          <p:nvPr/>
        </p:nvSpPr>
        <p:spPr>
          <a:xfrm>
            <a:off x="812800" y="1722041"/>
            <a:ext cx="7112000" cy="3810000"/>
          </a:xfrm>
          <a:prstGeom prst="roundRect">
            <a:avLst>
              <a:gd name="adj" fmla="val 2000"/>
            </a:avLst>
          </a:prstGeom>
          <a:solidFill>
            <a:srgbClr val="FFFFFF"/>
          </a:solidFill>
          <a:ln/>
        </p:spPr>
        <p:txBody>
          <a:bodyPr/>
          <a:lstStyle/>
          <a:p>
            <a:endParaRPr lang="en-US"/>
          </a:p>
        </p:txBody>
      </p:sp>
      <p:pic>
        <p:nvPicPr>
          <p:cNvPr id="5" name="Image 0" descr="PCAngsd PCA of 109 oysters coloured by region: PC1 separates the outer coast; PC2 separates a Hood Canal–Strait group plus Mud Bay from Central–South Sound"/>
          <p:cNvPicPr>
            <a:picLocks noChangeAspect="1"/>
          </p:cNvPicPr>
          <p:nvPr/>
        </p:nvPicPr>
        <p:blipFill>
          <a:blip r:embed="rId3"/>
          <a:srcRect l="-78" r="-78"/>
          <a:stretch/>
        </p:blipFill>
        <p:spPr>
          <a:xfrm>
            <a:off x="819150" y="1728391"/>
            <a:ext cx="7099300" cy="3797300"/>
          </a:xfrm>
          <a:prstGeom prst="roundRect">
            <a:avLst>
              <a:gd name="adj" fmla="val 1839"/>
            </a:avLst>
          </a:prstGeom>
        </p:spPr>
      </p:pic>
      <p:sp>
        <p:nvSpPr>
          <p:cNvPr id="6" name="Shape 3"/>
          <p:cNvSpPr/>
          <p:nvPr/>
        </p:nvSpPr>
        <p:spPr>
          <a:xfrm>
            <a:off x="815975" y="1725216"/>
            <a:ext cx="7105650" cy="3803650"/>
          </a:xfrm>
          <a:prstGeom prst="roundRect">
            <a:avLst>
              <a:gd name="adj" fmla="val 1920"/>
            </a:avLst>
          </a:prstGeom>
          <a:noFill/>
          <a:ln w="6350">
            <a:solidFill>
              <a:srgbClr val="E2DED3"/>
            </a:solidFill>
            <a:prstDash val="solid"/>
          </a:ln>
        </p:spPr>
        <p:txBody>
          <a:bodyPr/>
          <a:lstStyle/>
          <a:p>
            <a:endParaRPr lang="en-US"/>
          </a:p>
        </p:txBody>
      </p:sp>
      <p:sp>
        <p:nvSpPr>
          <p:cNvPr id="7" name="Shape 4"/>
          <p:cNvSpPr/>
          <p:nvPr/>
        </p:nvSpPr>
        <p:spPr>
          <a:xfrm>
            <a:off x="8232775" y="1725216"/>
            <a:ext cx="3143250" cy="1017191"/>
          </a:xfrm>
          <a:prstGeom prst="roundRect">
            <a:avLst>
              <a:gd name="adj" fmla="val 7179"/>
            </a:avLst>
          </a:prstGeom>
          <a:solidFill>
            <a:srgbClr val="FBFAF6"/>
          </a:solidFill>
          <a:ln w="6350">
            <a:solidFill>
              <a:srgbClr val="E2DED3"/>
            </a:solidFill>
            <a:prstDash val="solid"/>
          </a:ln>
        </p:spPr>
        <p:txBody>
          <a:bodyPr/>
          <a:lstStyle/>
          <a:p>
            <a:endParaRPr lang="en-US"/>
          </a:p>
        </p:txBody>
      </p:sp>
      <p:sp>
        <p:nvSpPr>
          <p:cNvPr id="8" name="Text 5"/>
          <p:cNvSpPr/>
          <p:nvPr/>
        </p:nvSpPr>
        <p:spPr>
          <a:xfrm>
            <a:off x="8413750" y="1880791"/>
            <a:ext cx="286473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E6E7E"/>
                </a:solidFill>
                <a:latin typeface="IBM Plex Sans" pitchFamily="34" charset="0"/>
                <a:ea typeface="IBM Plex Sans" pitchFamily="34" charset="-122"/>
                <a:cs typeface="IBM Plex Sans" pitchFamily="34" charset="-120"/>
              </a:rPr>
              <a:t>PC1 · 5.4%</a:t>
            </a:r>
            <a:endParaRPr lang="en-US" sz="1500" dirty="0"/>
          </a:p>
        </p:txBody>
      </p:sp>
      <p:sp>
        <p:nvSpPr>
          <p:cNvPr id="9" name="Text 6"/>
          <p:cNvSpPr/>
          <p:nvPr/>
        </p:nvSpPr>
        <p:spPr>
          <a:xfrm>
            <a:off x="8413750" y="2160191"/>
            <a:ext cx="286473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Willapa Bay and Coos Bay separate from every Salish Sea site.</a:t>
            </a:r>
            <a:endParaRPr lang="en-US" sz="1200" dirty="0"/>
          </a:p>
        </p:txBody>
      </p:sp>
      <p:sp>
        <p:nvSpPr>
          <p:cNvPr id="10" name="Shape 7"/>
          <p:cNvSpPr/>
          <p:nvPr/>
        </p:nvSpPr>
        <p:spPr>
          <a:xfrm>
            <a:off x="8232775" y="2875756"/>
            <a:ext cx="3143250" cy="1230511"/>
          </a:xfrm>
          <a:prstGeom prst="roundRect">
            <a:avLst>
              <a:gd name="adj" fmla="val 5935"/>
            </a:avLst>
          </a:prstGeom>
          <a:solidFill>
            <a:srgbClr val="FBFAF6"/>
          </a:solidFill>
          <a:ln w="6350">
            <a:solidFill>
              <a:srgbClr val="E2DED3"/>
            </a:solidFill>
            <a:prstDash val="solid"/>
          </a:ln>
        </p:spPr>
        <p:txBody>
          <a:bodyPr/>
          <a:lstStyle/>
          <a:p>
            <a:endParaRPr lang="en-US"/>
          </a:p>
        </p:txBody>
      </p:sp>
      <p:sp>
        <p:nvSpPr>
          <p:cNvPr id="11" name="Text 8"/>
          <p:cNvSpPr/>
          <p:nvPr/>
        </p:nvSpPr>
        <p:spPr>
          <a:xfrm>
            <a:off x="8413750" y="3031331"/>
            <a:ext cx="286473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E6E7E"/>
                </a:solidFill>
                <a:latin typeface="IBM Plex Sans" pitchFamily="34" charset="0"/>
                <a:ea typeface="IBM Plex Sans" pitchFamily="34" charset="-122"/>
                <a:cs typeface="IBM Plex Sans" pitchFamily="34" charset="-120"/>
              </a:rPr>
              <a:t>PC2 · 3.4%</a:t>
            </a:r>
            <a:endParaRPr lang="en-US" sz="1500" dirty="0"/>
          </a:p>
        </p:txBody>
      </p:sp>
      <p:sp>
        <p:nvSpPr>
          <p:cNvPr id="12" name="Text 9"/>
          <p:cNvSpPr/>
          <p:nvPr/>
        </p:nvSpPr>
        <p:spPr>
          <a:xfrm>
            <a:off x="8413750" y="3310731"/>
            <a:ext cx="2864739"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Hood Canal, Sequim, Port Gamble and Mud Bay split from Central and South Sound.</a:t>
            </a:r>
            <a:endParaRPr lang="en-US" sz="1200" dirty="0"/>
          </a:p>
        </p:txBody>
      </p:sp>
      <p:sp>
        <p:nvSpPr>
          <p:cNvPr id="13" name="Shape 10"/>
          <p:cNvSpPr/>
          <p:nvPr/>
        </p:nvSpPr>
        <p:spPr>
          <a:xfrm>
            <a:off x="8232775" y="4239617"/>
            <a:ext cx="3143250" cy="1017191"/>
          </a:xfrm>
          <a:prstGeom prst="roundRect">
            <a:avLst>
              <a:gd name="adj" fmla="val 7179"/>
            </a:avLst>
          </a:prstGeom>
          <a:solidFill>
            <a:srgbClr val="FBFAF6"/>
          </a:solidFill>
          <a:ln w="6350">
            <a:solidFill>
              <a:srgbClr val="E2DED3"/>
            </a:solidFill>
            <a:prstDash val="solid"/>
          </a:ln>
        </p:spPr>
        <p:txBody>
          <a:bodyPr/>
          <a:lstStyle/>
          <a:p>
            <a:endParaRPr lang="en-US"/>
          </a:p>
        </p:txBody>
      </p:sp>
      <p:sp>
        <p:nvSpPr>
          <p:cNvPr id="14" name="Text 11"/>
          <p:cNvSpPr/>
          <p:nvPr/>
        </p:nvSpPr>
        <p:spPr>
          <a:xfrm>
            <a:off x="8413750" y="4395192"/>
            <a:ext cx="286473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E6E7E"/>
                </a:solidFill>
                <a:latin typeface="IBM Plex Sans" pitchFamily="34" charset="0"/>
                <a:ea typeface="IBM Plex Sans" pitchFamily="34" charset="-122"/>
                <a:cs typeface="IBM Plex Sans" pitchFamily="34" charset="-120"/>
              </a:rPr>
              <a:t>In between</a:t>
            </a:r>
            <a:endParaRPr lang="en-US" sz="1500" dirty="0"/>
          </a:p>
        </p:txBody>
      </p:sp>
      <p:sp>
        <p:nvSpPr>
          <p:cNvPr id="15" name="Text 12"/>
          <p:cNvSpPr/>
          <p:nvPr/>
        </p:nvSpPr>
        <p:spPr>
          <a:xfrm>
            <a:off x="8413750" y="4674592"/>
            <a:ext cx="286473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Fidalgo Bay and Discovery Bay are intermediate.</a:t>
            </a:r>
            <a:endParaRPr lang="en-US" sz="1200" dirty="0"/>
          </a:p>
        </p:txBody>
      </p:sp>
      <p:sp>
        <p:nvSpPr>
          <p:cNvPr id="16" name="Text 1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Bengtsson, Martinelli &amp; Roberts · Olympia oyster lc-WGS</a:t>
            </a:r>
            <a:endParaRPr lang="en-US" sz="1200" dirty="0"/>
          </a:p>
        </p:txBody>
      </p:sp>
      <p:sp>
        <p:nvSpPr>
          <p:cNvPr id="17"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35A17"/>
                </a:solidFill>
                <a:latin typeface="IBM Plex Sans" pitchFamily="34" charset="0"/>
                <a:ea typeface="IBM Plex Sans" pitchFamily="34" charset="-122"/>
                <a:cs typeface="IBM Plex Sans" pitchFamily="34" charset="-120"/>
              </a:rPr>
              <a:t>POPULATION STRUCTURE</a:t>
            </a:r>
            <a:endParaRPr lang="en-US" sz="1200" dirty="0"/>
          </a:p>
        </p:txBody>
      </p:sp>
      <p:sp>
        <p:nvSpPr>
          <p:cNvPr id="3" name="Text 1"/>
          <p:cNvSpPr>
            <a:spLocks noGrp="1"/>
          </p:cNvSpPr>
          <p:nvPr>
            <p:ph type="title"/>
          </p:nvPr>
        </p:nvSpPr>
        <p:spPr>
          <a:xfrm>
            <a:off x="812800" y="1076920"/>
            <a:ext cx="11379200"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303A"/>
                </a:solidFill>
                <a:latin typeface="Source Serif 4" pitchFamily="18" charset="0"/>
                <a:ea typeface="Source Serif 4" pitchFamily="18" charset="-122"/>
                <a:cs typeface="Source Serif 4" pitchFamily="18" charset="-120"/>
              </a:rPr>
              <a:t>Admixture resolves three groups; Mud Bay joins Hood Canal</a:t>
            </a:r>
            <a:endParaRPr lang="en-US" sz="2800" dirty="0"/>
          </a:p>
        </p:txBody>
      </p:sp>
      <p:sp>
        <p:nvSpPr>
          <p:cNvPr id="4" name="Shape 2"/>
          <p:cNvSpPr/>
          <p:nvPr/>
        </p:nvSpPr>
        <p:spPr>
          <a:xfrm>
            <a:off x="812800" y="1722041"/>
            <a:ext cx="6985000" cy="4064000"/>
          </a:xfrm>
          <a:prstGeom prst="roundRect">
            <a:avLst>
              <a:gd name="adj" fmla="val 1875"/>
            </a:avLst>
          </a:prstGeom>
          <a:solidFill>
            <a:srgbClr val="FFFFFF"/>
          </a:solidFill>
          <a:ln/>
        </p:spPr>
        <p:txBody>
          <a:bodyPr/>
          <a:lstStyle/>
          <a:p>
            <a:endParaRPr lang="en-US"/>
          </a:p>
        </p:txBody>
      </p:sp>
      <p:pic>
        <p:nvPicPr>
          <p:cNvPr id="5" name="Image 0" descr="Admixture proportions at K = 2 and K = 3 for 109 oysters, sites ordered from the outer coast through South, Central, Hood Canal, Strait and North Sound"/>
          <p:cNvPicPr>
            <a:picLocks noChangeAspect="1"/>
          </p:cNvPicPr>
          <p:nvPr/>
        </p:nvPicPr>
        <p:blipFill>
          <a:blip r:embed="rId3"/>
          <a:srcRect l="-66" r="-66"/>
          <a:stretch/>
        </p:blipFill>
        <p:spPr>
          <a:xfrm>
            <a:off x="819150" y="1728391"/>
            <a:ext cx="6972300" cy="4051300"/>
          </a:xfrm>
          <a:prstGeom prst="roundRect">
            <a:avLst>
              <a:gd name="adj" fmla="val 1724"/>
            </a:avLst>
          </a:prstGeom>
        </p:spPr>
      </p:pic>
      <p:sp>
        <p:nvSpPr>
          <p:cNvPr id="6" name="Shape 3"/>
          <p:cNvSpPr/>
          <p:nvPr/>
        </p:nvSpPr>
        <p:spPr>
          <a:xfrm>
            <a:off x="815975" y="1725216"/>
            <a:ext cx="6978650" cy="4057650"/>
          </a:xfrm>
          <a:prstGeom prst="roundRect">
            <a:avLst>
              <a:gd name="adj" fmla="val 1800"/>
            </a:avLst>
          </a:prstGeom>
          <a:noFill/>
          <a:ln w="6350">
            <a:solidFill>
              <a:srgbClr val="E2DED3"/>
            </a:solidFill>
            <a:prstDash val="solid"/>
          </a:ln>
        </p:spPr>
        <p:txBody>
          <a:bodyPr/>
          <a:lstStyle/>
          <a:p>
            <a:endParaRPr lang="en-US"/>
          </a:p>
        </p:txBody>
      </p:sp>
      <p:sp>
        <p:nvSpPr>
          <p:cNvPr id="7" name="Shape 4"/>
          <p:cNvSpPr/>
          <p:nvPr/>
        </p:nvSpPr>
        <p:spPr>
          <a:xfrm>
            <a:off x="8105775" y="1725216"/>
            <a:ext cx="3270250" cy="803870"/>
          </a:xfrm>
          <a:prstGeom prst="roundRect">
            <a:avLst>
              <a:gd name="adj" fmla="val 9084"/>
            </a:avLst>
          </a:prstGeom>
          <a:solidFill>
            <a:srgbClr val="FBFAF6"/>
          </a:solidFill>
          <a:ln w="6350">
            <a:solidFill>
              <a:srgbClr val="E2DED3"/>
            </a:solidFill>
            <a:prstDash val="solid"/>
          </a:ln>
        </p:spPr>
        <p:txBody>
          <a:bodyPr/>
          <a:lstStyle/>
          <a:p>
            <a:endParaRPr lang="en-US"/>
          </a:p>
        </p:txBody>
      </p:sp>
      <p:sp>
        <p:nvSpPr>
          <p:cNvPr id="8" name="Text 5"/>
          <p:cNvSpPr/>
          <p:nvPr/>
        </p:nvSpPr>
        <p:spPr>
          <a:xfrm>
            <a:off x="8286750" y="1880791"/>
            <a:ext cx="299554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K = 2</a:t>
            </a:r>
            <a:endParaRPr lang="en-US" sz="1500" dirty="0"/>
          </a:p>
        </p:txBody>
      </p:sp>
      <p:sp>
        <p:nvSpPr>
          <p:cNvPr id="9" name="Text 6"/>
          <p:cNvSpPr/>
          <p:nvPr/>
        </p:nvSpPr>
        <p:spPr>
          <a:xfrm>
            <a:off x="8286750" y="2160191"/>
            <a:ext cx="299554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Outer coast versus the Salish Sea.</a:t>
            </a:r>
            <a:endParaRPr lang="en-US" sz="1200" dirty="0"/>
          </a:p>
        </p:txBody>
      </p:sp>
      <p:sp>
        <p:nvSpPr>
          <p:cNvPr id="10" name="Shape 7"/>
          <p:cNvSpPr/>
          <p:nvPr/>
        </p:nvSpPr>
        <p:spPr>
          <a:xfrm>
            <a:off x="8105775" y="2637036"/>
            <a:ext cx="3270250" cy="1230511"/>
          </a:xfrm>
          <a:prstGeom prst="roundRect">
            <a:avLst>
              <a:gd name="adj" fmla="val 5935"/>
            </a:avLst>
          </a:prstGeom>
          <a:solidFill>
            <a:srgbClr val="FBFAF6"/>
          </a:solidFill>
          <a:ln w="6350">
            <a:solidFill>
              <a:srgbClr val="E2DED3"/>
            </a:solidFill>
            <a:prstDash val="solid"/>
          </a:ln>
        </p:spPr>
        <p:txBody>
          <a:bodyPr/>
          <a:lstStyle/>
          <a:p>
            <a:endParaRPr lang="en-US"/>
          </a:p>
        </p:txBody>
      </p:sp>
      <p:sp>
        <p:nvSpPr>
          <p:cNvPr id="11" name="Text 8"/>
          <p:cNvSpPr/>
          <p:nvPr/>
        </p:nvSpPr>
        <p:spPr>
          <a:xfrm>
            <a:off x="8286750" y="2792611"/>
            <a:ext cx="299554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K = 3</a:t>
            </a:r>
            <a:endParaRPr lang="en-US" sz="1500" dirty="0"/>
          </a:p>
        </p:txBody>
      </p:sp>
      <p:sp>
        <p:nvSpPr>
          <p:cNvPr id="12" name="Text 9"/>
          <p:cNvSpPr/>
          <p:nvPr/>
        </p:nvSpPr>
        <p:spPr>
          <a:xfrm>
            <a:off x="8286750" y="3072011"/>
            <a:ext cx="2995549"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A5A60"/>
                </a:solidFill>
                <a:latin typeface="IBM Plex Sans" pitchFamily="34" charset="0"/>
                <a:ea typeface="IBM Plex Sans" pitchFamily="34" charset="-122"/>
                <a:cs typeface="IBM Plex Sans" pitchFamily="34" charset="-120"/>
              </a:rPr>
              <a:t>Orange</a:t>
            </a:r>
            <a:r>
              <a:rPr lang="en-US" sz="1200" dirty="0">
                <a:solidFill>
                  <a:srgbClr val="4A5A60"/>
                </a:solidFill>
                <a:latin typeface="IBM Plex Sans" pitchFamily="34" charset="0"/>
                <a:ea typeface="IBM Plex Sans" pitchFamily="34" charset="-122"/>
                <a:cs typeface="IBM Plex Sans" pitchFamily="34" charset="-120"/>
              </a:rPr>
              <a:t>: Central–South Sound.</a:t>
            </a:r>
            <a:endParaRPr lang="en-US" sz="1200" dirty="0"/>
          </a:p>
          <a:p>
            <a:pPr marL="0" indent="0" algn="l">
              <a:lnSpc>
                <a:spcPts val="1680"/>
              </a:lnSpc>
              <a:buNone/>
            </a:pPr>
            <a:r>
              <a:rPr lang="en-US" sz="1200" b="1" dirty="0">
                <a:solidFill>
                  <a:srgbClr val="4A5A60"/>
                </a:solidFill>
                <a:latin typeface="IBM Plex Sans" pitchFamily="34" charset="0"/>
                <a:ea typeface="IBM Plex Sans" pitchFamily="34" charset="-122"/>
                <a:cs typeface="IBM Plex Sans" pitchFamily="34" charset="-120"/>
              </a:rPr>
              <a:t>Green</a:t>
            </a:r>
            <a:r>
              <a:rPr lang="en-US" sz="1200" dirty="0">
                <a:solidFill>
                  <a:srgbClr val="4A5A60"/>
                </a:solidFill>
                <a:latin typeface="IBM Plex Sans" pitchFamily="34" charset="0"/>
                <a:ea typeface="IBM Plex Sans" pitchFamily="34" charset="-122"/>
                <a:cs typeface="IBM Plex Sans" pitchFamily="34" charset="-120"/>
              </a:rPr>
              <a:t>: Hood Canal, Sequim, Mud Bay.</a:t>
            </a:r>
            <a:endParaRPr lang="en-US" sz="1200" dirty="0"/>
          </a:p>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Discovery and Fidalgo mix both.</a:t>
            </a:r>
            <a:endParaRPr lang="en-US" sz="1200" dirty="0"/>
          </a:p>
        </p:txBody>
      </p:sp>
      <p:sp>
        <p:nvSpPr>
          <p:cNvPr id="13" name="Shape 10"/>
          <p:cNvSpPr/>
          <p:nvPr/>
        </p:nvSpPr>
        <p:spPr>
          <a:xfrm>
            <a:off x="8105775" y="3975497"/>
            <a:ext cx="3270250" cy="1230511"/>
          </a:xfrm>
          <a:prstGeom prst="roundRect">
            <a:avLst>
              <a:gd name="adj" fmla="val 5935"/>
            </a:avLst>
          </a:prstGeom>
          <a:solidFill>
            <a:srgbClr val="FBFAF6"/>
          </a:solidFill>
          <a:ln w="6350">
            <a:solidFill>
              <a:srgbClr val="E2DED3"/>
            </a:solidFill>
            <a:prstDash val="solid"/>
          </a:ln>
        </p:spPr>
        <p:txBody>
          <a:bodyPr/>
          <a:lstStyle/>
          <a:p>
            <a:endParaRPr lang="en-US"/>
          </a:p>
        </p:txBody>
      </p:sp>
      <p:sp>
        <p:nvSpPr>
          <p:cNvPr id="14" name="Text 11"/>
          <p:cNvSpPr/>
          <p:nvPr/>
        </p:nvSpPr>
        <p:spPr>
          <a:xfrm>
            <a:off x="8286750" y="4131072"/>
            <a:ext cx="299554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35A17"/>
                </a:solidFill>
                <a:latin typeface="IBM Plex Sans" pitchFamily="34" charset="0"/>
                <a:ea typeface="IBM Plex Sans" pitchFamily="34" charset="-122"/>
                <a:cs typeface="IBM Plex Sans" pitchFamily="34" charset="-120"/>
              </a:rPr>
              <a:t>A puzzle</a:t>
            </a:r>
            <a:endParaRPr lang="en-US" sz="1500" dirty="0"/>
          </a:p>
        </p:txBody>
      </p:sp>
      <p:sp>
        <p:nvSpPr>
          <p:cNvPr id="15" name="Text 12"/>
          <p:cNvSpPr/>
          <p:nvPr/>
        </p:nvSpPr>
        <p:spPr>
          <a:xfrm>
            <a:off x="8286750" y="4410472"/>
            <a:ext cx="2995549"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Mud Bay lies in South Sound yet groups with Hood Canal. Is this a legacy of past transfers?</a:t>
            </a:r>
            <a:endParaRPr lang="en-US" sz="1200" dirty="0"/>
          </a:p>
        </p:txBody>
      </p:sp>
      <p:sp>
        <p:nvSpPr>
          <p:cNvPr id="16" name="Text 1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Bengtsson, Martinelli &amp; Roberts · Olympia oyster lc-WGS</a:t>
            </a:r>
            <a:endParaRPr lang="en-US" sz="1200" dirty="0"/>
          </a:p>
        </p:txBody>
      </p:sp>
      <p:sp>
        <p:nvSpPr>
          <p:cNvPr id="17"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A9561A"/>
                </a:solidFill>
                <a:latin typeface="Nunito Sans" pitchFamily="34" charset="0"/>
                <a:ea typeface="Nunito Sans" pitchFamily="34" charset="-122"/>
                <a:cs typeface="Nunito Sans" pitchFamily="34" charset="-120"/>
              </a:rPr>
              <a:t>FINDING 1</a:t>
            </a:r>
            <a:endParaRPr lang="en-US" sz="1300" dirty="0"/>
          </a:p>
        </p:txBody>
      </p:sp>
      <p:sp>
        <p:nvSpPr>
          <p:cNvPr id="3" name="Text 1"/>
          <p:cNvSpPr>
            <a:spLocks noGrp="1"/>
          </p:cNvSpPr>
          <p:nvPr>
            <p:ph type="title"/>
          </p:nvPr>
        </p:nvSpPr>
        <p:spPr>
          <a:xfrm>
            <a:off x="812800" y="1107380"/>
            <a:ext cx="10883392" cy="430510"/>
          </a:xfrm>
          <a:prstGeom prst="rect">
            <a:avLst/>
          </a:prstGeom>
          <a:noFill/>
          <a:ln/>
        </p:spPr>
        <p:txBody>
          <a:bodyPr wrap="square" lIns="0" tIns="0" rIns="0" bIns="0" rtlCol="0" anchor="t">
            <a:normAutofit/>
          </a:bodyPr>
          <a:lstStyle/>
          <a:p>
            <a:pPr marL="0" indent="0" algn="l">
              <a:lnSpc>
                <a:spcPts val="3190"/>
              </a:lnSpc>
              <a:buNone/>
            </a:pPr>
            <a:r>
              <a:rPr lang="en-US" sz="2900" b="1" i="0" dirty="0">
                <a:solidFill>
                  <a:srgbClr val="1F3B4D"/>
                </a:solidFill>
                <a:latin typeface="Domine" pitchFamily="18" charset="0"/>
                <a:ea typeface="Domine" pitchFamily="18" charset="-122"/>
                <a:cs typeface="Domine" pitchFamily="18" charset="-120"/>
              </a:rPr>
              <a:t>Oysters fall into three genetic groups</a:t>
            </a:r>
            <a:endParaRPr lang="en-US" sz="2900" dirty="0"/>
          </a:p>
        </p:txBody>
      </p:sp>
      <p:sp>
        <p:nvSpPr>
          <p:cNvPr id="4" name="Shape 2"/>
          <p:cNvSpPr/>
          <p:nvPr/>
        </p:nvSpPr>
        <p:spPr>
          <a:xfrm>
            <a:off x="815975" y="1795066"/>
            <a:ext cx="2520950" cy="2931914"/>
          </a:xfrm>
          <a:prstGeom prst="roundRect">
            <a:avLst>
              <a:gd name="adj" fmla="val 3904"/>
            </a:avLst>
          </a:prstGeom>
          <a:solidFill>
            <a:srgbClr val="FBF9F4"/>
          </a:solidFill>
          <a:ln w="6350">
            <a:solidFill>
              <a:srgbClr val="DDD8CC"/>
            </a:solidFill>
            <a:prstDash val="solid"/>
          </a:ln>
        </p:spPr>
        <p:txBody>
          <a:bodyPr/>
          <a:lstStyle/>
          <a:p>
            <a:endParaRPr lang="en-US"/>
          </a:p>
        </p:txBody>
      </p:sp>
      <p:sp>
        <p:nvSpPr>
          <p:cNvPr id="5" name="Text 3"/>
          <p:cNvSpPr/>
          <p:nvPr/>
        </p:nvSpPr>
        <p:spPr>
          <a:xfrm>
            <a:off x="819150" y="1798241"/>
            <a:ext cx="2514600" cy="533400"/>
          </a:xfrm>
          <a:custGeom>
            <a:avLst/>
            <a:gdLst/>
            <a:ahLst/>
            <a:cxnLst/>
            <a:rect l="l" t="t" r="r" b="b"/>
            <a:pathLst>
              <a:path w="2514600" h="533400">
                <a:moveTo>
                  <a:pt x="101600" y="0"/>
                </a:moveTo>
                <a:lnTo>
                  <a:pt x="2413000" y="0"/>
                </a:lnTo>
                <a:arcTo wR="101600" hR="101600" stAng="16200000" swAng="5400000"/>
                <a:lnTo>
                  <a:pt x="2514600" y="533400"/>
                </a:lnTo>
                <a:lnTo>
                  <a:pt x="0" y="533400"/>
                </a:lnTo>
                <a:lnTo>
                  <a:pt x="0" y="101600"/>
                </a:lnTo>
                <a:arcTo wR="101600" hR="101600" stAng="10800000" swAng="5400000"/>
                <a:close/>
              </a:path>
            </a:pathLst>
          </a:custGeom>
          <a:solidFill>
            <a:srgbClr val="3D4F7A"/>
          </a:solidFill>
          <a:ln/>
        </p:spPr>
        <p:txBody>
          <a:bodyPr wrap="square" lIns="177800" tIns="152400" rIns="113030" bIns="127000" rtlCol="0" anchor="t">
            <a:normAutofit/>
          </a:bodyPr>
          <a:lstStyle/>
          <a:p>
            <a:pPr marL="0" indent="0" algn="l">
              <a:lnSpc>
                <a:spcPts val="1800"/>
              </a:lnSpc>
              <a:buNone/>
            </a:pPr>
            <a:r>
              <a:rPr lang="en-US" sz="1500" b="1" dirty="0">
                <a:solidFill>
                  <a:srgbClr val="F4F1EA"/>
                </a:solidFill>
                <a:latin typeface="Nunito Sans" pitchFamily="34" charset="0"/>
                <a:ea typeface="Nunito Sans" pitchFamily="34" charset="-122"/>
                <a:cs typeface="Nunito Sans" pitchFamily="34" charset="-120"/>
              </a:rPr>
              <a:t>Outer coast</a:t>
            </a:r>
            <a:endParaRPr lang="en-US" sz="1500" dirty="0"/>
          </a:p>
        </p:txBody>
      </p:sp>
      <p:sp>
        <p:nvSpPr>
          <p:cNvPr id="6" name="Text 4"/>
          <p:cNvSpPr/>
          <p:nvPr/>
        </p:nvSpPr>
        <p:spPr>
          <a:xfrm>
            <a:off x="996950" y="2484041"/>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B4D"/>
                </a:solidFill>
                <a:latin typeface="Nunito Sans" pitchFamily="34" charset="0"/>
                <a:ea typeface="Nunito Sans" pitchFamily="34" charset="-122"/>
                <a:cs typeface="Nunito Sans" pitchFamily="34" charset="-120"/>
              </a:rPr>
              <a:t>Willapa Bay</a:t>
            </a:r>
            <a:endParaRPr lang="en-US" sz="1400" dirty="0"/>
          </a:p>
        </p:txBody>
      </p:sp>
      <p:sp>
        <p:nvSpPr>
          <p:cNvPr id="7" name="Text 5"/>
          <p:cNvSpPr/>
          <p:nvPr/>
        </p:nvSpPr>
        <p:spPr>
          <a:xfrm>
            <a:off x="996950" y="2796381"/>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B4D"/>
                </a:solidFill>
                <a:latin typeface="Nunito Sans" pitchFamily="34" charset="0"/>
                <a:ea typeface="Nunito Sans" pitchFamily="34" charset="-122"/>
                <a:cs typeface="Nunito Sans" pitchFamily="34" charset="-120"/>
              </a:rPr>
              <a:t>Coos Bay (OR)</a:t>
            </a:r>
            <a:endParaRPr lang="en-US" sz="1400" dirty="0"/>
          </a:p>
        </p:txBody>
      </p:sp>
      <p:sp>
        <p:nvSpPr>
          <p:cNvPr id="8" name="Text 6"/>
          <p:cNvSpPr/>
          <p:nvPr/>
        </p:nvSpPr>
        <p:spPr>
          <a:xfrm>
            <a:off x="996950" y="3108722"/>
            <a:ext cx="2223770" cy="452041"/>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4B5A63"/>
                </a:solidFill>
                <a:latin typeface="Nunito Sans" pitchFamily="34" charset="0"/>
                <a:ea typeface="Nunito Sans" pitchFamily="34" charset="-122"/>
                <a:cs typeface="Nunito Sans" pitchFamily="34" charset="-120"/>
              </a:rPr>
              <a:t>Separate stock from Puget Sound</a:t>
            </a:r>
            <a:endParaRPr lang="en-US" sz="1200" dirty="0"/>
          </a:p>
        </p:txBody>
      </p:sp>
      <p:sp>
        <p:nvSpPr>
          <p:cNvPr id="9" name="Shape 7"/>
          <p:cNvSpPr/>
          <p:nvPr/>
        </p:nvSpPr>
        <p:spPr>
          <a:xfrm>
            <a:off x="3495675" y="1795066"/>
            <a:ext cx="2520950" cy="2931914"/>
          </a:xfrm>
          <a:prstGeom prst="roundRect">
            <a:avLst>
              <a:gd name="adj" fmla="val 3904"/>
            </a:avLst>
          </a:prstGeom>
          <a:solidFill>
            <a:srgbClr val="FBF9F4"/>
          </a:solidFill>
          <a:ln w="6350">
            <a:solidFill>
              <a:srgbClr val="DDD8CC"/>
            </a:solidFill>
            <a:prstDash val="solid"/>
          </a:ln>
        </p:spPr>
        <p:txBody>
          <a:bodyPr/>
          <a:lstStyle/>
          <a:p>
            <a:endParaRPr lang="en-US"/>
          </a:p>
        </p:txBody>
      </p:sp>
      <p:sp>
        <p:nvSpPr>
          <p:cNvPr id="10" name="Text 8"/>
          <p:cNvSpPr/>
          <p:nvPr/>
        </p:nvSpPr>
        <p:spPr>
          <a:xfrm>
            <a:off x="3498850" y="1798241"/>
            <a:ext cx="2514600" cy="533400"/>
          </a:xfrm>
          <a:custGeom>
            <a:avLst/>
            <a:gdLst/>
            <a:ahLst/>
            <a:cxnLst/>
            <a:rect l="l" t="t" r="r" b="b"/>
            <a:pathLst>
              <a:path w="2514600" h="533400">
                <a:moveTo>
                  <a:pt x="101600" y="0"/>
                </a:moveTo>
                <a:lnTo>
                  <a:pt x="2413000" y="0"/>
                </a:lnTo>
                <a:arcTo wR="101600" hR="101600" stAng="16200000" swAng="5400000"/>
                <a:lnTo>
                  <a:pt x="2514600" y="533400"/>
                </a:lnTo>
                <a:lnTo>
                  <a:pt x="0" y="533400"/>
                </a:lnTo>
                <a:lnTo>
                  <a:pt x="0" y="101600"/>
                </a:lnTo>
                <a:arcTo wR="101600" hR="101600" stAng="10800000" swAng="5400000"/>
                <a:close/>
              </a:path>
            </a:pathLst>
          </a:custGeom>
          <a:solidFill>
            <a:srgbClr val="2F7F86"/>
          </a:solidFill>
          <a:ln/>
        </p:spPr>
        <p:txBody>
          <a:bodyPr wrap="square" lIns="177800" tIns="152400" rIns="113030" bIns="127000" rtlCol="0" anchor="t">
            <a:normAutofit/>
          </a:bodyPr>
          <a:lstStyle/>
          <a:p>
            <a:pPr marL="0" indent="0" algn="l">
              <a:lnSpc>
                <a:spcPts val="1800"/>
              </a:lnSpc>
              <a:buNone/>
            </a:pPr>
            <a:r>
              <a:rPr lang="en-US" sz="1500" b="1" dirty="0">
                <a:solidFill>
                  <a:srgbClr val="F4F1EA"/>
                </a:solidFill>
                <a:latin typeface="Nunito Sans" pitchFamily="34" charset="0"/>
                <a:ea typeface="Nunito Sans" pitchFamily="34" charset="-122"/>
                <a:cs typeface="Nunito Sans" pitchFamily="34" charset="-120"/>
              </a:rPr>
              <a:t>Central &amp; South Sound</a:t>
            </a:r>
            <a:endParaRPr lang="en-US" sz="1500" dirty="0"/>
          </a:p>
        </p:txBody>
      </p:sp>
      <p:sp>
        <p:nvSpPr>
          <p:cNvPr id="11" name="Text 9"/>
          <p:cNvSpPr/>
          <p:nvPr/>
        </p:nvSpPr>
        <p:spPr>
          <a:xfrm>
            <a:off x="3676650" y="2484041"/>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B4D"/>
                </a:solidFill>
                <a:latin typeface="Nunito Sans" pitchFamily="34" charset="0"/>
                <a:ea typeface="Nunito Sans" pitchFamily="34" charset="-122"/>
                <a:cs typeface="Nunito Sans" pitchFamily="34" charset="-120"/>
              </a:rPr>
              <a:t>Clam Bay area</a:t>
            </a:r>
            <a:endParaRPr lang="en-US" sz="1400" dirty="0"/>
          </a:p>
        </p:txBody>
      </p:sp>
      <p:sp>
        <p:nvSpPr>
          <p:cNvPr id="12" name="Text 10"/>
          <p:cNvSpPr/>
          <p:nvPr/>
        </p:nvSpPr>
        <p:spPr>
          <a:xfrm>
            <a:off x="3676650" y="2796381"/>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B4D"/>
                </a:solidFill>
                <a:latin typeface="Nunito Sans" pitchFamily="34" charset="0"/>
                <a:ea typeface="Nunito Sans" pitchFamily="34" charset="-122"/>
                <a:cs typeface="Nunito Sans" pitchFamily="34" charset="-120"/>
              </a:rPr>
              <a:t>Dogfish Bay</a:t>
            </a:r>
            <a:endParaRPr lang="en-US" sz="1400" dirty="0"/>
          </a:p>
        </p:txBody>
      </p:sp>
      <p:sp>
        <p:nvSpPr>
          <p:cNvPr id="13" name="Text 11"/>
          <p:cNvSpPr/>
          <p:nvPr/>
        </p:nvSpPr>
        <p:spPr>
          <a:xfrm>
            <a:off x="3676650" y="3108722"/>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B4D"/>
                </a:solidFill>
                <a:latin typeface="Nunito Sans" pitchFamily="34" charset="0"/>
                <a:ea typeface="Nunito Sans" pitchFamily="34" charset="-122"/>
                <a:cs typeface="Nunito Sans" pitchFamily="34" charset="-120"/>
              </a:rPr>
              <a:t>Ostrich Bay</a:t>
            </a:r>
            <a:endParaRPr lang="en-US" sz="1400" dirty="0"/>
          </a:p>
        </p:txBody>
      </p:sp>
      <p:sp>
        <p:nvSpPr>
          <p:cNvPr id="14" name="Text 12"/>
          <p:cNvSpPr/>
          <p:nvPr/>
        </p:nvSpPr>
        <p:spPr>
          <a:xfrm>
            <a:off x="3676650" y="3421063"/>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B4D"/>
                </a:solidFill>
                <a:latin typeface="Nunito Sans" pitchFamily="34" charset="0"/>
                <a:ea typeface="Nunito Sans" pitchFamily="34" charset="-122"/>
                <a:cs typeface="Nunito Sans" pitchFamily="34" charset="-120"/>
              </a:rPr>
              <a:t>North Bay</a:t>
            </a:r>
            <a:endParaRPr lang="en-US" sz="1400" dirty="0"/>
          </a:p>
        </p:txBody>
      </p:sp>
      <p:sp>
        <p:nvSpPr>
          <p:cNvPr id="15" name="Text 13"/>
          <p:cNvSpPr/>
          <p:nvPr/>
        </p:nvSpPr>
        <p:spPr>
          <a:xfrm>
            <a:off x="3676650" y="3733403"/>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B4D"/>
                </a:solidFill>
                <a:latin typeface="Nunito Sans" pitchFamily="34" charset="0"/>
                <a:ea typeface="Nunito Sans" pitchFamily="34" charset="-122"/>
                <a:cs typeface="Nunito Sans" pitchFamily="34" charset="-120"/>
              </a:rPr>
              <a:t>Squaxin Island</a:t>
            </a:r>
            <a:endParaRPr lang="en-US" sz="1400" dirty="0"/>
          </a:p>
        </p:txBody>
      </p:sp>
      <p:sp>
        <p:nvSpPr>
          <p:cNvPr id="16" name="Text 14"/>
          <p:cNvSpPr/>
          <p:nvPr/>
        </p:nvSpPr>
        <p:spPr>
          <a:xfrm>
            <a:off x="3676650" y="4045744"/>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B4D"/>
                </a:solidFill>
                <a:latin typeface="Nunito Sans" pitchFamily="34" charset="0"/>
                <a:ea typeface="Nunito Sans" pitchFamily="34" charset="-122"/>
                <a:cs typeface="Nunito Sans" pitchFamily="34" charset="-120"/>
              </a:rPr>
              <a:t>Little Skookum</a:t>
            </a:r>
            <a:endParaRPr lang="en-US" sz="1400" dirty="0"/>
          </a:p>
        </p:txBody>
      </p:sp>
      <p:sp>
        <p:nvSpPr>
          <p:cNvPr id="17" name="Text 15"/>
          <p:cNvSpPr/>
          <p:nvPr/>
        </p:nvSpPr>
        <p:spPr>
          <a:xfrm>
            <a:off x="3676650" y="4358084"/>
            <a:ext cx="2223770" cy="2387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4B5A63"/>
                </a:solidFill>
                <a:latin typeface="Nunito Sans" pitchFamily="34" charset="0"/>
                <a:ea typeface="Nunito Sans" pitchFamily="34" charset="-122"/>
                <a:cs typeface="Nunito Sans" pitchFamily="34" charset="-120"/>
              </a:rPr>
              <a:t>Tight, closely related group</a:t>
            </a:r>
            <a:endParaRPr lang="en-US" sz="1200" dirty="0"/>
          </a:p>
        </p:txBody>
      </p:sp>
      <p:sp>
        <p:nvSpPr>
          <p:cNvPr id="18" name="Shape 16"/>
          <p:cNvSpPr/>
          <p:nvPr/>
        </p:nvSpPr>
        <p:spPr>
          <a:xfrm>
            <a:off x="6175375" y="1795066"/>
            <a:ext cx="2520950" cy="2931914"/>
          </a:xfrm>
          <a:prstGeom prst="roundRect">
            <a:avLst>
              <a:gd name="adj" fmla="val 3904"/>
            </a:avLst>
          </a:prstGeom>
          <a:solidFill>
            <a:srgbClr val="FBF9F4"/>
          </a:solidFill>
          <a:ln w="6350">
            <a:solidFill>
              <a:srgbClr val="DDD8CC"/>
            </a:solidFill>
            <a:prstDash val="solid"/>
          </a:ln>
        </p:spPr>
        <p:txBody>
          <a:bodyPr/>
          <a:lstStyle/>
          <a:p>
            <a:endParaRPr lang="en-US"/>
          </a:p>
        </p:txBody>
      </p:sp>
      <p:sp>
        <p:nvSpPr>
          <p:cNvPr id="19" name="Text 17"/>
          <p:cNvSpPr/>
          <p:nvPr/>
        </p:nvSpPr>
        <p:spPr>
          <a:xfrm>
            <a:off x="6178550" y="1798241"/>
            <a:ext cx="2514600" cy="533400"/>
          </a:xfrm>
          <a:custGeom>
            <a:avLst/>
            <a:gdLst/>
            <a:ahLst/>
            <a:cxnLst/>
            <a:rect l="l" t="t" r="r" b="b"/>
            <a:pathLst>
              <a:path w="2514600" h="533400">
                <a:moveTo>
                  <a:pt x="101600" y="0"/>
                </a:moveTo>
                <a:lnTo>
                  <a:pt x="2413000" y="0"/>
                </a:lnTo>
                <a:arcTo wR="101600" hR="101600" stAng="16200000" swAng="5400000"/>
                <a:lnTo>
                  <a:pt x="2514600" y="533400"/>
                </a:lnTo>
                <a:lnTo>
                  <a:pt x="0" y="533400"/>
                </a:lnTo>
                <a:lnTo>
                  <a:pt x="0" y="101600"/>
                </a:lnTo>
                <a:arcTo wR="101600" hR="101600" stAng="10800000" swAng="5400000"/>
                <a:close/>
              </a:path>
            </a:pathLst>
          </a:custGeom>
          <a:solidFill>
            <a:srgbClr val="C76A1C"/>
          </a:solidFill>
          <a:ln/>
        </p:spPr>
        <p:txBody>
          <a:bodyPr wrap="square" lIns="177800" tIns="152400" rIns="113030" bIns="127000" rtlCol="0" anchor="t">
            <a:normAutofit/>
          </a:bodyPr>
          <a:lstStyle/>
          <a:p>
            <a:pPr marL="0" indent="0" algn="l">
              <a:lnSpc>
                <a:spcPts val="1800"/>
              </a:lnSpc>
              <a:buNone/>
            </a:pPr>
            <a:r>
              <a:rPr lang="en-US" sz="1500" b="1" dirty="0">
                <a:solidFill>
                  <a:srgbClr val="FFF8F0"/>
                </a:solidFill>
                <a:latin typeface="Nunito Sans" pitchFamily="34" charset="0"/>
                <a:ea typeface="Nunito Sans" pitchFamily="34" charset="-122"/>
                <a:cs typeface="Nunito Sans" pitchFamily="34" charset="-120"/>
              </a:rPr>
              <a:t>Hood Canal &amp; Strait</a:t>
            </a:r>
            <a:endParaRPr lang="en-US" sz="1500" dirty="0"/>
          </a:p>
        </p:txBody>
      </p:sp>
      <p:sp>
        <p:nvSpPr>
          <p:cNvPr id="20" name="Text 18"/>
          <p:cNvSpPr/>
          <p:nvPr/>
        </p:nvSpPr>
        <p:spPr>
          <a:xfrm>
            <a:off x="6356350" y="2484041"/>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B4D"/>
                </a:solidFill>
                <a:latin typeface="Nunito Sans" pitchFamily="34" charset="0"/>
                <a:ea typeface="Nunito Sans" pitchFamily="34" charset="-122"/>
                <a:cs typeface="Nunito Sans" pitchFamily="34" charset="-120"/>
              </a:rPr>
              <a:t>Triton Cove</a:t>
            </a:r>
            <a:endParaRPr lang="en-US" sz="1400" dirty="0"/>
          </a:p>
        </p:txBody>
      </p:sp>
      <p:sp>
        <p:nvSpPr>
          <p:cNvPr id="21" name="Text 19"/>
          <p:cNvSpPr/>
          <p:nvPr/>
        </p:nvSpPr>
        <p:spPr>
          <a:xfrm>
            <a:off x="6356350" y="2796381"/>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B4D"/>
                </a:solidFill>
                <a:latin typeface="Nunito Sans" pitchFamily="34" charset="0"/>
                <a:ea typeface="Nunito Sans" pitchFamily="34" charset="-122"/>
                <a:cs typeface="Nunito Sans" pitchFamily="34" charset="-120"/>
              </a:rPr>
              <a:t>Port Gamble Bay</a:t>
            </a:r>
            <a:endParaRPr lang="en-US" sz="1400" dirty="0"/>
          </a:p>
        </p:txBody>
      </p:sp>
      <p:sp>
        <p:nvSpPr>
          <p:cNvPr id="22" name="Text 20"/>
          <p:cNvSpPr/>
          <p:nvPr/>
        </p:nvSpPr>
        <p:spPr>
          <a:xfrm>
            <a:off x="6356350" y="3108722"/>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B4D"/>
                </a:solidFill>
                <a:latin typeface="Nunito Sans" pitchFamily="34" charset="0"/>
                <a:ea typeface="Nunito Sans" pitchFamily="34" charset="-122"/>
                <a:cs typeface="Nunito Sans" pitchFamily="34" charset="-120"/>
              </a:rPr>
              <a:t>Sequim Bay</a:t>
            </a:r>
            <a:endParaRPr lang="en-US" sz="1400" dirty="0"/>
          </a:p>
        </p:txBody>
      </p:sp>
      <p:sp>
        <p:nvSpPr>
          <p:cNvPr id="23" name="Text 21"/>
          <p:cNvSpPr/>
          <p:nvPr/>
        </p:nvSpPr>
        <p:spPr>
          <a:xfrm>
            <a:off x="6356350" y="3421063"/>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B4D"/>
                </a:solidFill>
                <a:latin typeface="Nunito Sans" pitchFamily="34" charset="0"/>
                <a:ea typeface="Nunito Sans" pitchFamily="34" charset="-122"/>
                <a:cs typeface="Nunito Sans" pitchFamily="34" charset="-120"/>
              </a:rPr>
              <a:t>Mud Bay*</a:t>
            </a:r>
            <a:endParaRPr lang="en-US" sz="1400" dirty="0"/>
          </a:p>
        </p:txBody>
      </p:sp>
      <p:sp>
        <p:nvSpPr>
          <p:cNvPr id="24" name="Text 22"/>
          <p:cNvSpPr/>
          <p:nvPr/>
        </p:nvSpPr>
        <p:spPr>
          <a:xfrm>
            <a:off x="6356350" y="3733403"/>
            <a:ext cx="2223770" cy="2387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4B5A63"/>
                </a:solidFill>
                <a:latin typeface="Nunito Sans" pitchFamily="34" charset="0"/>
                <a:ea typeface="Nunito Sans" pitchFamily="34" charset="-122"/>
                <a:cs typeface="Nunito Sans" pitchFamily="34" charset="-120"/>
              </a:rPr>
              <a:t>*Mud Bay sits in South Sound</a:t>
            </a:r>
            <a:endParaRPr lang="en-US" sz="1200" dirty="0"/>
          </a:p>
        </p:txBody>
      </p:sp>
      <p:sp>
        <p:nvSpPr>
          <p:cNvPr id="25" name="Shape 23"/>
          <p:cNvSpPr/>
          <p:nvPr/>
        </p:nvSpPr>
        <p:spPr>
          <a:xfrm>
            <a:off x="8855075" y="1795066"/>
            <a:ext cx="2520950" cy="2931914"/>
          </a:xfrm>
          <a:prstGeom prst="roundRect">
            <a:avLst>
              <a:gd name="adj" fmla="val 3904"/>
            </a:avLst>
          </a:prstGeom>
          <a:solidFill>
            <a:srgbClr val="FBF9F4"/>
          </a:solidFill>
          <a:ln w="6350">
            <a:solidFill>
              <a:srgbClr val="DDD8CC"/>
            </a:solidFill>
            <a:prstDash val="solid"/>
          </a:ln>
        </p:spPr>
        <p:txBody>
          <a:bodyPr/>
          <a:lstStyle/>
          <a:p>
            <a:endParaRPr lang="en-US"/>
          </a:p>
        </p:txBody>
      </p:sp>
      <p:sp>
        <p:nvSpPr>
          <p:cNvPr id="26" name="Text 24"/>
          <p:cNvSpPr/>
          <p:nvPr/>
        </p:nvSpPr>
        <p:spPr>
          <a:xfrm>
            <a:off x="8858250" y="1798241"/>
            <a:ext cx="2514600" cy="533400"/>
          </a:xfrm>
          <a:custGeom>
            <a:avLst/>
            <a:gdLst/>
            <a:ahLst/>
            <a:cxnLst/>
            <a:rect l="l" t="t" r="r" b="b"/>
            <a:pathLst>
              <a:path w="2514600" h="533400">
                <a:moveTo>
                  <a:pt x="101600" y="0"/>
                </a:moveTo>
                <a:lnTo>
                  <a:pt x="2413000" y="0"/>
                </a:lnTo>
                <a:arcTo wR="101600" hR="101600" stAng="16200000" swAng="5400000"/>
                <a:lnTo>
                  <a:pt x="2514600" y="533400"/>
                </a:lnTo>
                <a:lnTo>
                  <a:pt x="0" y="533400"/>
                </a:lnTo>
                <a:lnTo>
                  <a:pt x="0" y="101600"/>
                </a:lnTo>
                <a:arcTo wR="101600" hR="101600" stAng="10800000" swAng="5400000"/>
                <a:close/>
              </a:path>
            </a:pathLst>
          </a:custGeom>
          <a:solidFill>
            <a:srgbClr val="DCD8CE"/>
          </a:solidFill>
          <a:ln/>
        </p:spPr>
        <p:txBody>
          <a:bodyPr wrap="square" lIns="177800" tIns="152400" rIns="113030" bIns="127000" rtlCol="0" anchor="t">
            <a:normAutofit/>
          </a:bodyPr>
          <a:lstStyle/>
          <a:p>
            <a:pPr marL="0" indent="0" algn="l">
              <a:lnSpc>
                <a:spcPts val="1800"/>
              </a:lnSpc>
              <a:buNone/>
            </a:pPr>
            <a:r>
              <a:rPr lang="en-US" sz="1500" b="1" dirty="0">
                <a:solidFill>
                  <a:srgbClr val="1F3B4D"/>
                </a:solidFill>
                <a:latin typeface="Nunito Sans" pitchFamily="34" charset="0"/>
                <a:ea typeface="Nunito Sans" pitchFamily="34" charset="-122"/>
                <a:cs typeface="Nunito Sans" pitchFamily="34" charset="-120"/>
              </a:rPr>
              <a:t>Mixed</a:t>
            </a:r>
            <a:endParaRPr lang="en-US" sz="1500" dirty="0"/>
          </a:p>
        </p:txBody>
      </p:sp>
      <p:sp>
        <p:nvSpPr>
          <p:cNvPr id="27" name="Text 25"/>
          <p:cNvSpPr/>
          <p:nvPr/>
        </p:nvSpPr>
        <p:spPr>
          <a:xfrm>
            <a:off x="9036050" y="2484041"/>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B4D"/>
                </a:solidFill>
                <a:latin typeface="Nunito Sans" pitchFamily="34" charset="0"/>
                <a:ea typeface="Nunito Sans" pitchFamily="34" charset="-122"/>
                <a:cs typeface="Nunito Sans" pitchFamily="34" charset="-120"/>
              </a:rPr>
              <a:t>Fidalgo Bay</a:t>
            </a:r>
            <a:endParaRPr lang="en-US" sz="1400" dirty="0"/>
          </a:p>
        </p:txBody>
      </p:sp>
      <p:sp>
        <p:nvSpPr>
          <p:cNvPr id="28" name="Text 26"/>
          <p:cNvSpPr/>
          <p:nvPr/>
        </p:nvSpPr>
        <p:spPr>
          <a:xfrm>
            <a:off x="9036050" y="2796381"/>
            <a:ext cx="22237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3B4D"/>
                </a:solidFill>
                <a:latin typeface="Nunito Sans" pitchFamily="34" charset="0"/>
                <a:ea typeface="Nunito Sans" pitchFamily="34" charset="-122"/>
                <a:cs typeface="Nunito Sans" pitchFamily="34" charset="-120"/>
              </a:rPr>
              <a:t>Discovery Bay</a:t>
            </a:r>
            <a:endParaRPr lang="en-US" sz="1400" dirty="0"/>
          </a:p>
        </p:txBody>
      </p:sp>
      <p:sp>
        <p:nvSpPr>
          <p:cNvPr id="29" name="Text 27"/>
          <p:cNvSpPr/>
          <p:nvPr/>
        </p:nvSpPr>
        <p:spPr>
          <a:xfrm>
            <a:off x="9036050" y="3108722"/>
            <a:ext cx="2223770" cy="452041"/>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4B5A63"/>
                </a:solidFill>
                <a:latin typeface="Nunito Sans" pitchFamily="34" charset="0"/>
                <a:ea typeface="Nunito Sans" pitchFamily="34" charset="-122"/>
                <a:cs typeface="Nunito Sans" pitchFamily="34" charset="-120"/>
              </a:rPr>
              <a:t>Share ancestry with both Sound groups</a:t>
            </a:r>
            <a:endParaRPr lang="en-US" sz="1200" dirty="0"/>
          </a:p>
        </p:txBody>
      </p:sp>
      <p:sp>
        <p:nvSpPr>
          <p:cNvPr id="30" name="Text 2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0"/>
                </a:solidFill>
                <a:latin typeface="Nunito Sans" pitchFamily="34" charset="0"/>
                <a:ea typeface="Nunito Sans" pitchFamily="34" charset="-122"/>
                <a:cs typeface="Nunito Sans" pitchFamily="34" charset="-120"/>
              </a:rPr>
              <a:t>Olympia oyster genetics · Bengtsson, Martinelli &amp; Roberts</a:t>
            </a:r>
            <a:endParaRPr lang="en-US" sz="1200" dirty="0"/>
          </a:p>
        </p:txBody>
      </p:sp>
      <p:sp>
        <p:nvSpPr>
          <p:cNvPr id="31" name="Text 2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A9561A"/>
                </a:solidFill>
                <a:latin typeface="Nunito Sans" pitchFamily="34" charset="0"/>
                <a:ea typeface="Nunito Sans" pitchFamily="34" charset="-122"/>
                <a:cs typeface="Nunito Sans" pitchFamily="34" charset="-120"/>
              </a:rPr>
              <a:t>FINDING 2</a:t>
            </a:r>
            <a:endParaRPr lang="en-US" sz="1300" dirty="0"/>
          </a:p>
        </p:txBody>
      </p:sp>
      <p:sp>
        <p:nvSpPr>
          <p:cNvPr id="3" name="Text 1"/>
          <p:cNvSpPr>
            <a:spLocks noGrp="1"/>
          </p:cNvSpPr>
          <p:nvPr>
            <p:ph type="title"/>
          </p:nvPr>
        </p:nvSpPr>
        <p:spPr>
          <a:xfrm>
            <a:off x="812800" y="1107380"/>
            <a:ext cx="10883392" cy="430510"/>
          </a:xfrm>
          <a:prstGeom prst="rect">
            <a:avLst/>
          </a:prstGeom>
          <a:noFill/>
          <a:ln/>
        </p:spPr>
        <p:txBody>
          <a:bodyPr wrap="square" lIns="0" tIns="0" rIns="0" bIns="0" rtlCol="0" anchor="t">
            <a:normAutofit/>
          </a:bodyPr>
          <a:lstStyle/>
          <a:p>
            <a:pPr marL="0" indent="0" algn="l">
              <a:lnSpc>
                <a:spcPts val="3190"/>
              </a:lnSpc>
              <a:buNone/>
            </a:pPr>
            <a:r>
              <a:rPr lang="en-US" sz="2900" b="1" i="0" dirty="0">
                <a:solidFill>
                  <a:srgbClr val="1F3B4D"/>
                </a:solidFill>
                <a:latin typeface="Domine" pitchFamily="18" charset="0"/>
                <a:ea typeface="Domine" pitchFamily="18" charset="-122"/>
                <a:cs typeface="Domine" pitchFamily="18" charset="-120"/>
              </a:rPr>
              <a:t>The outer coast is a different stock</a:t>
            </a:r>
            <a:endParaRPr lang="en-US" sz="2900" dirty="0"/>
          </a:p>
        </p:txBody>
      </p:sp>
      <p:sp>
        <p:nvSpPr>
          <p:cNvPr id="4" name="Shape 2"/>
          <p:cNvSpPr/>
          <p:nvPr/>
        </p:nvSpPr>
        <p:spPr>
          <a:xfrm>
            <a:off x="815975" y="1795066"/>
            <a:ext cx="3380284" cy="2459633"/>
          </a:xfrm>
          <a:prstGeom prst="roundRect">
            <a:avLst>
              <a:gd name="adj" fmla="val 4002"/>
            </a:avLst>
          </a:prstGeom>
          <a:solidFill>
            <a:srgbClr val="FBF9F4"/>
          </a:solidFill>
          <a:ln w="6350">
            <a:solidFill>
              <a:srgbClr val="DDD8CC"/>
            </a:solidFill>
            <a:prstDash val="solid"/>
          </a:ln>
        </p:spPr>
        <p:txBody>
          <a:bodyPr/>
          <a:lstStyle/>
          <a:p>
            <a:endParaRPr lang="en-US"/>
          </a:p>
        </p:txBody>
      </p:sp>
      <p:sp>
        <p:nvSpPr>
          <p:cNvPr id="5" name="Text 3"/>
          <p:cNvSpPr/>
          <p:nvPr/>
        </p:nvSpPr>
        <p:spPr>
          <a:xfrm>
            <a:off x="1047750" y="2001441"/>
            <a:ext cx="3004236" cy="66546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A9561A"/>
                </a:solidFill>
                <a:latin typeface="Domine" pitchFamily="18" charset="0"/>
                <a:ea typeface="Domine" pitchFamily="18" charset="-122"/>
                <a:cs typeface="Domine" pitchFamily="18" charset="-120"/>
              </a:rPr>
              <a:t>3–4×</a:t>
            </a:r>
            <a:endParaRPr lang="en-US" sz="4800" dirty="0"/>
          </a:p>
        </p:txBody>
      </p:sp>
      <p:sp>
        <p:nvSpPr>
          <p:cNvPr id="6" name="Text 4"/>
          <p:cNvSpPr/>
          <p:nvPr/>
        </p:nvSpPr>
        <p:spPr>
          <a:xfrm>
            <a:off x="1047750" y="2717701"/>
            <a:ext cx="300423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F3B4D"/>
                </a:solidFill>
                <a:latin typeface="Nunito Sans" pitchFamily="34" charset="0"/>
                <a:ea typeface="Nunito Sans" pitchFamily="34" charset="-122"/>
                <a:cs typeface="Nunito Sans" pitchFamily="34" charset="-120"/>
              </a:rPr>
              <a:t>more different</a:t>
            </a:r>
            <a:endParaRPr lang="en-US" sz="1700" dirty="0"/>
          </a:p>
        </p:txBody>
      </p:sp>
      <p:sp>
        <p:nvSpPr>
          <p:cNvPr id="7" name="Text 5"/>
          <p:cNvSpPr/>
          <p:nvPr/>
        </p:nvSpPr>
        <p:spPr>
          <a:xfrm>
            <a:off x="1047750" y="3052961"/>
            <a:ext cx="3004236" cy="102076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A63"/>
                </a:solidFill>
                <a:latin typeface="Nunito Sans" pitchFamily="34" charset="0"/>
                <a:ea typeface="Nunito Sans" pitchFamily="34" charset="-122"/>
                <a:cs typeface="Nunito Sans" pitchFamily="34" charset="-120"/>
              </a:rPr>
              <a:t>Coast oysters differ from Puget Sound oysters 3–4 times more than Puget Sound beds differ from one another.</a:t>
            </a:r>
            <a:endParaRPr lang="en-US" sz="1400" dirty="0"/>
          </a:p>
        </p:txBody>
      </p:sp>
      <p:sp>
        <p:nvSpPr>
          <p:cNvPr id="8" name="Shape 6"/>
          <p:cNvSpPr/>
          <p:nvPr/>
        </p:nvSpPr>
        <p:spPr>
          <a:xfrm>
            <a:off x="4405809" y="1795066"/>
            <a:ext cx="3380383" cy="2459633"/>
          </a:xfrm>
          <a:prstGeom prst="roundRect">
            <a:avLst>
              <a:gd name="adj" fmla="val 4002"/>
            </a:avLst>
          </a:prstGeom>
          <a:solidFill>
            <a:srgbClr val="FBF9F4"/>
          </a:solidFill>
          <a:ln w="6350">
            <a:solidFill>
              <a:srgbClr val="DDD8CC"/>
            </a:solidFill>
            <a:prstDash val="solid"/>
          </a:ln>
        </p:spPr>
        <p:txBody>
          <a:bodyPr/>
          <a:lstStyle/>
          <a:p>
            <a:endParaRPr lang="en-US"/>
          </a:p>
        </p:txBody>
      </p:sp>
      <p:sp>
        <p:nvSpPr>
          <p:cNvPr id="9" name="Text 7"/>
          <p:cNvSpPr/>
          <p:nvPr/>
        </p:nvSpPr>
        <p:spPr>
          <a:xfrm>
            <a:off x="4637584" y="2001441"/>
            <a:ext cx="3004338" cy="66546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2F7F86"/>
                </a:solidFill>
                <a:latin typeface="Domine" pitchFamily="18" charset="0"/>
                <a:ea typeface="Domine" pitchFamily="18" charset="-122"/>
                <a:cs typeface="Domine" pitchFamily="18" charset="-120"/>
              </a:rPr>
              <a:t>≈ same</a:t>
            </a:r>
            <a:endParaRPr lang="en-US" sz="4800" dirty="0"/>
          </a:p>
        </p:txBody>
      </p:sp>
      <p:sp>
        <p:nvSpPr>
          <p:cNvPr id="10" name="Text 8"/>
          <p:cNvSpPr/>
          <p:nvPr/>
        </p:nvSpPr>
        <p:spPr>
          <a:xfrm>
            <a:off x="4637584" y="2717701"/>
            <a:ext cx="300433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F3B4D"/>
                </a:solidFill>
                <a:latin typeface="Nunito Sans" pitchFamily="34" charset="0"/>
                <a:ea typeface="Nunito Sans" pitchFamily="34" charset="-122"/>
                <a:cs typeface="Nunito Sans" pitchFamily="34" charset="-120"/>
              </a:rPr>
              <a:t>Willapa Bay and Coos Bay</a:t>
            </a:r>
            <a:endParaRPr lang="en-US" sz="1700" dirty="0"/>
          </a:p>
        </p:txBody>
      </p:sp>
      <p:sp>
        <p:nvSpPr>
          <p:cNvPr id="11" name="Text 9"/>
          <p:cNvSpPr/>
          <p:nvPr/>
        </p:nvSpPr>
        <p:spPr>
          <a:xfrm>
            <a:off x="4637584" y="3052961"/>
            <a:ext cx="3004338"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A63"/>
                </a:solidFill>
                <a:latin typeface="Nunito Sans" pitchFamily="34" charset="0"/>
                <a:ea typeface="Nunito Sans" pitchFamily="34" charset="-122"/>
                <a:cs typeface="Nunito Sans" pitchFamily="34" charset="-120"/>
              </a:rPr>
              <a:t>The two coastal sites, in different states, are as similar as neighbouring Puget Sound bays.</a:t>
            </a:r>
            <a:endParaRPr lang="en-US" sz="1400" dirty="0"/>
          </a:p>
        </p:txBody>
      </p:sp>
      <p:sp>
        <p:nvSpPr>
          <p:cNvPr id="12" name="Shape 10"/>
          <p:cNvSpPr/>
          <p:nvPr/>
        </p:nvSpPr>
        <p:spPr>
          <a:xfrm>
            <a:off x="7995741" y="1795066"/>
            <a:ext cx="3380284" cy="2459633"/>
          </a:xfrm>
          <a:prstGeom prst="roundRect">
            <a:avLst>
              <a:gd name="adj" fmla="val 4002"/>
            </a:avLst>
          </a:prstGeom>
          <a:solidFill>
            <a:srgbClr val="FBF9F4"/>
          </a:solidFill>
          <a:ln w="6350">
            <a:solidFill>
              <a:srgbClr val="DDD8CC"/>
            </a:solidFill>
            <a:prstDash val="solid"/>
          </a:ln>
        </p:spPr>
        <p:txBody>
          <a:bodyPr/>
          <a:lstStyle/>
          <a:p>
            <a:endParaRPr lang="en-US"/>
          </a:p>
        </p:txBody>
      </p:sp>
      <p:sp>
        <p:nvSpPr>
          <p:cNvPr id="13" name="Text 11"/>
          <p:cNvSpPr/>
          <p:nvPr/>
        </p:nvSpPr>
        <p:spPr>
          <a:xfrm>
            <a:off x="8227516" y="2001441"/>
            <a:ext cx="3004236" cy="66546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2F7F86"/>
                </a:solidFill>
                <a:latin typeface="Domine" pitchFamily="18" charset="0"/>
                <a:ea typeface="Domine" pitchFamily="18" charset="-122"/>
                <a:cs typeface="Domine" pitchFamily="18" charset="-120"/>
              </a:rPr>
              <a:t>2 groups</a:t>
            </a:r>
            <a:endParaRPr lang="en-US" sz="4800" dirty="0"/>
          </a:p>
        </p:txBody>
      </p:sp>
      <p:sp>
        <p:nvSpPr>
          <p:cNvPr id="14" name="Text 12"/>
          <p:cNvSpPr/>
          <p:nvPr/>
        </p:nvSpPr>
        <p:spPr>
          <a:xfrm>
            <a:off x="8227516" y="2717701"/>
            <a:ext cx="300423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F3B4D"/>
                </a:solidFill>
                <a:latin typeface="Nunito Sans" pitchFamily="34" charset="0"/>
                <a:ea typeface="Nunito Sans" pitchFamily="34" charset="-122"/>
                <a:cs typeface="Nunito Sans" pitchFamily="34" charset="-120"/>
              </a:rPr>
              <a:t>inside the Sound</a:t>
            </a:r>
            <a:endParaRPr lang="en-US" sz="1700" dirty="0"/>
          </a:p>
        </p:txBody>
      </p:sp>
      <p:sp>
        <p:nvSpPr>
          <p:cNvPr id="15" name="Text 13"/>
          <p:cNvSpPr/>
          <p:nvPr/>
        </p:nvSpPr>
        <p:spPr>
          <a:xfrm>
            <a:off x="8227516" y="3052961"/>
            <a:ext cx="3004236"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A63"/>
                </a:solidFill>
                <a:latin typeface="Nunito Sans" pitchFamily="34" charset="0"/>
                <a:ea typeface="Nunito Sans" pitchFamily="34" charset="-122"/>
                <a:cs typeface="Nunito Sans" pitchFamily="34" charset="-120"/>
              </a:rPr>
              <a:t>Differences within Puget Sound are real but modest, mostly between the two groups on the last slide.</a:t>
            </a:r>
            <a:endParaRPr lang="en-US" sz="1400" dirty="0"/>
          </a:p>
        </p:txBody>
      </p:sp>
      <p:sp>
        <p:nvSpPr>
          <p:cNvPr id="16" name="Text 14"/>
          <p:cNvSpPr/>
          <p:nvPr/>
        </p:nvSpPr>
        <p:spPr>
          <a:xfrm>
            <a:off x="812800" y="56286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0"/>
                </a:solidFill>
                <a:latin typeface="Nunito Sans" pitchFamily="34" charset="0"/>
                <a:ea typeface="Nunito Sans" pitchFamily="34" charset="-122"/>
                <a:cs typeface="Nunito Sans" pitchFamily="34" charset="-120"/>
              </a:rPr>
              <a:t>Genetic differentiation (weighted Fst): coast vs. Puget Sound 0.11–0.14; among Puget Sound sites 0.034–0.088; Willapa vs. Coos Bay 0.037.</a:t>
            </a:r>
            <a:endParaRPr lang="en-US" sz="12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0"/>
                </a:solidFill>
                <a:latin typeface="Nunito Sans" pitchFamily="34" charset="0"/>
                <a:ea typeface="Nunito Sans" pitchFamily="34" charset="-122"/>
                <a:cs typeface="Nunito Sans" pitchFamily="34" charset="-120"/>
              </a:rPr>
              <a:t>Olympia oyster genetics · Bengtsson, Martinelli &amp; Roberts</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35A17"/>
                </a:solidFill>
                <a:latin typeface="IBM Plex Sans" pitchFamily="34" charset="0"/>
                <a:ea typeface="IBM Plex Sans" pitchFamily="34" charset="-122"/>
                <a:cs typeface="IBM Plex Sans" pitchFamily="34" charset="-120"/>
              </a:rPr>
              <a:t>DIFFERENTIATION</a:t>
            </a:r>
            <a:endParaRPr lang="en-US" sz="1200" dirty="0"/>
          </a:p>
        </p:txBody>
      </p:sp>
      <p:sp>
        <p:nvSpPr>
          <p:cNvPr id="3" name="Text 1"/>
          <p:cNvSpPr>
            <a:spLocks noGrp="1"/>
          </p:cNvSpPr>
          <p:nvPr>
            <p:ph type="title"/>
          </p:nvPr>
        </p:nvSpPr>
        <p:spPr>
          <a:xfrm>
            <a:off x="812800" y="1076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303A"/>
                </a:solidFill>
                <a:latin typeface="Source Serif 4" pitchFamily="18" charset="0"/>
                <a:ea typeface="Source Serif 4" pitchFamily="18" charset="-122"/>
                <a:cs typeface="Source Serif 4" pitchFamily="18" charset="-120"/>
              </a:rPr>
              <a:t>Fst is modest within the Sound and high to the coast</a:t>
            </a:r>
            <a:endParaRPr lang="en-US" sz="2800" dirty="0"/>
          </a:p>
        </p:txBody>
      </p:sp>
      <p:sp>
        <p:nvSpPr>
          <p:cNvPr id="4" name="Shape 2"/>
          <p:cNvSpPr/>
          <p:nvPr/>
        </p:nvSpPr>
        <p:spPr>
          <a:xfrm>
            <a:off x="812800" y="1722041"/>
            <a:ext cx="5207000" cy="4114800"/>
          </a:xfrm>
          <a:prstGeom prst="roundRect">
            <a:avLst>
              <a:gd name="adj" fmla="val 1852"/>
            </a:avLst>
          </a:prstGeom>
          <a:solidFill>
            <a:srgbClr val="FFFFFF"/>
          </a:solidFill>
          <a:ln/>
        </p:spPr>
        <p:txBody>
          <a:bodyPr/>
          <a:lstStyle/>
          <a:p>
            <a:endParaRPr lang="en-US"/>
          </a:p>
        </p:txBody>
      </p:sp>
      <p:pic>
        <p:nvPicPr>
          <p:cNvPr id="5" name="Image 0" descr="Heat map of weighted pairwise Fst among 15 sites ordered geographically; the outer-coast rows and columns are darkest, about 0.11 to 0.14"/>
          <p:cNvPicPr>
            <a:picLocks noChangeAspect="1"/>
          </p:cNvPicPr>
          <p:nvPr/>
        </p:nvPicPr>
        <p:blipFill>
          <a:blip r:embed="rId3"/>
          <a:srcRect l="-63" r="-63"/>
          <a:stretch/>
        </p:blipFill>
        <p:spPr>
          <a:xfrm>
            <a:off x="819150" y="1728391"/>
            <a:ext cx="5194300" cy="4102100"/>
          </a:xfrm>
          <a:prstGeom prst="roundRect">
            <a:avLst>
              <a:gd name="adj" fmla="val 1703"/>
            </a:avLst>
          </a:prstGeom>
        </p:spPr>
      </p:pic>
      <p:sp>
        <p:nvSpPr>
          <p:cNvPr id="6" name="Shape 3"/>
          <p:cNvSpPr/>
          <p:nvPr/>
        </p:nvSpPr>
        <p:spPr>
          <a:xfrm>
            <a:off x="815975" y="1725216"/>
            <a:ext cx="5200650" cy="4108450"/>
          </a:xfrm>
          <a:prstGeom prst="roundRect">
            <a:avLst>
              <a:gd name="adj" fmla="val 1777"/>
            </a:avLst>
          </a:prstGeom>
          <a:noFill/>
          <a:ln w="6350">
            <a:solidFill>
              <a:srgbClr val="E2DED3"/>
            </a:solidFill>
            <a:prstDash val="solid"/>
          </a:ln>
        </p:spPr>
        <p:txBody>
          <a:bodyPr/>
          <a:lstStyle/>
          <a:p>
            <a:endParaRPr lang="en-US"/>
          </a:p>
        </p:txBody>
      </p:sp>
      <p:sp>
        <p:nvSpPr>
          <p:cNvPr id="7" name="Shape 4"/>
          <p:cNvSpPr/>
          <p:nvPr/>
        </p:nvSpPr>
        <p:spPr>
          <a:xfrm>
            <a:off x="6327775" y="1725216"/>
            <a:ext cx="5048250" cy="948630"/>
          </a:xfrm>
          <a:prstGeom prst="roundRect">
            <a:avLst>
              <a:gd name="adj" fmla="val 7698"/>
            </a:avLst>
          </a:prstGeom>
          <a:solidFill>
            <a:srgbClr val="FBFAF6"/>
          </a:solidFill>
          <a:ln w="6350">
            <a:solidFill>
              <a:srgbClr val="E2DED3"/>
            </a:solidFill>
            <a:prstDash val="solid"/>
          </a:ln>
        </p:spPr>
        <p:txBody>
          <a:bodyPr/>
          <a:lstStyle/>
          <a:p>
            <a:endParaRPr lang="en-US"/>
          </a:p>
        </p:txBody>
      </p:sp>
      <p:sp>
        <p:nvSpPr>
          <p:cNvPr id="8" name="Text 5"/>
          <p:cNvSpPr/>
          <p:nvPr/>
        </p:nvSpPr>
        <p:spPr>
          <a:xfrm>
            <a:off x="6508750" y="1880791"/>
            <a:ext cx="4826889" cy="398760"/>
          </a:xfrm>
          <a:prstGeom prst="rect">
            <a:avLst/>
          </a:prstGeom>
          <a:noFill/>
          <a:ln/>
        </p:spPr>
        <p:txBody>
          <a:bodyPr wrap="square" lIns="0" tIns="0" rIns="0" bIns="0" rtlCol="0" anchor="t">
            <a:normAutofit/>
          </a:bodyPr>
          <a:lstStyle/>
          <a:p>
            <a:pPr marL="0" indent="0" algn="l">
              <a:lnSpc>
                <a:spcPts val="2940"/>
              </a:lnSpc>
              <a:buNone/>
            </a:pPr>
            <a:r>
              <a:rPr lang="en-US" sz="2800" b="1" dirty="0">
                <a:solidFill>
                  <a:srgbClr val="B35A17"/>
                </a:solidFill>
                <a:latin typeface="Source Serif 4" pitchFamily="18" charset="0"/>
                <a:ea typeface="Source Serif 4" pitchFamily="18" charset="-122"/>
                <a:cs typeface="Source Serif 4" pitchFamily="18" charset="-120"/>
              </a:rPr>
              <a:t>0.11–0.14</a:t>
            </a:r>
            <a:endParaRPr lang="en-US" sz="2800" dirty="0"/>
          </a:p>
        </p:txBody>
      </p:sp>
      <p:sp>
        <p:nvSpPr>
          <p:cNvPr id="9" name="Text 6"/>
          <p:cNvSpPr/>
          <p:nvPr/>
        </p:nvSpPr>
        <p:spPr>
          <a:xfrm>
            <a:off x="6508750" y="2304951"/>
            <a:ext cx="48268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Salish Sea vs. outer coast</a:t>
            </a:r>
            <a:endParaRPr lang="en-US" sz="1200" dirty="0"/>
          </a:p>
        </p:txBody>
      </p:sp>
      <p:sp>
        <p:nvSpPr>
          <p:cNvPr id="10" name="Shape 7"/>
          <p:cNvSpPr/>
          <p:nvPr/>
        </p:nvSpPr>
        <p:spPr>
          <a:xfrm>
            <a:off x="6327775" y="2832596"/>
            <a:ext cx="5048250" cy="948630"/>
          </a:xfrm>
          <a:prstGeom prst="roundRect">
            <a:avLst>
              <a:gd name="adj" fmla="val 7698"/>
            </a:avLst>
          </a:prstGeom>
          <a:solidFill>
            <a:srgbClr val="FBFAF6"/>
          </a:solidFill>
          <a:ln w="6350">
            <a:solidFill>
              <a:srgbClr val="E2DED3"/>
            </a:solidFill>
            <a:prstDash val="solid"/>
          </a:ln>
        </p:spPr>
        <p:txBody>
          <a:bodyPr/>
          <a:lstStyle/>
          <a:p>
            <a:endParaRPr lang="en-US"/>
          </a:p>
        </p:txBody>
      </p:sp>
      <p:sp>
        <p:nvSpPr>
          <p:cNvPr id="11" name="Text 8"/>
          <p:cNvSpPr/>
          <p:nvPr/>
        </p:nvSpPr>
        <p:spPr>
          <a:xfrm>
            <a:off x="6508750" y="2988171"/>
            <a:ext cx="4826889" cy="398760"/>
          </a:xfrm>
          <a:prstGeom prst="rect">
            <a:avLst/>
          </a:prstGeom>
          <a:noFill/>
          <a:ln/>
        </p:spPr>
        <p:txBody>
          <a:bodyPr wrap="square" lIns="0" tIns="0" rIns="0" bIns="0" rtlCol="0" anchor="t">
            <a:normAutofit/>
          </a:bodyPr>
          <a:lstStyle/>
          <a:p>
            <a:pPr marL="0" indent="0" algn="l">
              <a:lnSpc>
                <a:spcPts val="2940"/>
              </a:lnSpc>
              <a:buNone/>
            </a:pPr>
            <a:r>
              <a:rPr lang="en-US" sz="2800" b="1" dirty="0">
                <a:solidFill>
                  <a:srgbClr val="2E6E7E"/>
                </a:solidFill>
                <a:latin typeface="Source Serif 4" pitchFamily="18" charset="0"/>
                <a:ea typeface="Source Serif 4" pitchFamily="18" charset="-122"/>
                <a:cs typeface="Source Serif 4" pitchFamily="18" charset="-120"/>
              </a:rPr>
              <a:t>0.034–0.088</a:t>
            </a:r>
            <a:endParaRPr lang="en-US" sz="2800" dirty="0"/>
          </a:p>
        </p:txBody>
      </p:sp>
      <p:sp>
        <p:nvSpPr>
          <p:cNvPr id="12" name="Text 9"/>
          <p:cNvSpPr/>
          <p:nvPr/>
        </p:nvSpPr>
        <p:spPr>
          <a:xfrm>
            <a:off x="6508750" y="3412331"/>
            <a:ext cx="48268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among Salish Sea sites</a:t>
            </a:r>
            <a:endParaRPr lang="en-US" sz="1200" dirty="0"/>
          </a:p>
        </p:txBody>
      </p:sp>
      <p:sp>
        <p:nvSpPr>
          <p:cNvPr id="13" name="Shape 10"/>
          <p:cNvSpPr/>
          <p:nvPr/>
        </p:nvSpPr>
        <p:spPr>
          <a:xfrm>
            <a:off x="6327775" y="3939977"/>
            <a:ext cx="5048250" cy="948630"/>
          </a:xfrm>
          <a:prstGeom prst="roundRect">
            <a:avLst>
              <a:gd name="adj" fmla="val 7698"/>
            </a:avLst>
          </a:prstGeom>
          <a:solidFill>
            <a:srgbClr val="FBFAF6"/>
          </a:solidFill>
          <a:ln w="6350">
            <a:solidFill>
              <a:srgbClr val="E2DED3"/>
            </a:solidFill>
            <a:prstDash val="solid"/>
          </a:ln>
        </p:spPr>
        <p:txBody>
          <a:bodyPr/>
          <a:lstStyle/>
          <a:p>
            <a:endParaRPr lang="en-US"/>
          </a:p>
        </p:txBody>
      </p:sp>
      <p:sp>
        <p:nvSpPr>
          <p:cNvPr id="14" name="Text 11"/>
          <p:cNvSpPr/>
          <p:nvPr/>
        </p:nvSpPr>
        <p:spPr>
          <a:xfrm>
            <a:off x="6508750" y="4095552"/>
            <a:ext cx="4826889" cy="398760"/>
          </a:xfrm>
          <a:prstGeom prst="rect">
            <a:avLst/>
          </a:prstGeom>
          <a:noFill/>
          <a:ln/>
        </p:spPr>
        <p:txBody>
          <a:bodyPr wrap="square" lIns="0" tIns="0" rIns="0" bIns="0" rtlCol="0" anchor="t">
            <a:normAutofit/>
          </a:bodyPr>
          <a:lstStyle/>
          <a:p>
            <a:pPr marL="0" indent="0" algn="l">
              <a:lnSpc>
                <a:spcPts val="2940"/>
              </a:lnSpc>
              <a:buNone/>
            </a:pPr>
            <a:r>
              <a:rPr lang="en-US" sz="2800" b="1" dirty="0">
                <a:solidFill>
                  <a:srgbClr val="2E6E7E"/>
                </a:solidFill>
                <a:latin typeface="Source Serif 4" pitchFamily="18" charset="0"/>
                <a:ea typeface="Source Serif 4" pitchFamily="18" charset="-122"/>
                <a:cs typeface="Source Serif 4" pitchFamily="18" charset="-120"/>
              </a:rPr>
              <a:t>0.037</a:t>
            </a:r>
            <a:endParaRPr lang="en-US" sz="2800" dirty="0"/>
          </a:p>
        </p:txBody>
      </p:sp>
      <p:sp>
        <p:nvSpPr>
          <p:cNvPr id="15" name="Text 12"/>
          <p:cNvSpPr/>
          <p:nvPr/>
        </p:nvSpPr>
        <p:spPr>
          <a:xfrm>
            <a:off x="6508750" y="4519712"/>
            <a:ext cx="48268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Willapa Bay vs. Coos Bay: the two coast sites are close relatives</a:t>
            </a:r>
            <a:endParaRPr lang="en-US" sz="1200" dirty="0"/>
          </a:p>
        </p:txBody>
      </p:sp>
      <p:sp>
        <p:nvSpPr>
          <p:cNvPr id="16" name="Text 13"/>
          <p:cNvSpPr/>
          <p:nvPr/>
        </p:nvSpPr>
        <p:spPr>
          <a:xfrm>
            <a:off x="6324600" y="5044182"/>
            <a:ext cx="52062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Weighted Fst from realSFS folded 2D SFS.</a:t>
            </a:r>
            <a:endParaRPr lang="en-US" sz="1200" dirty="0"/>
          </a:p>
        </p:txBody>
      </p:sp>
      <p:sp>
        <p:nvSpPr>
          <p:cNvPr id="17"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Bengtsson, Martinelli &amp; Roberts · Olympia oyster lc-WGS</a:t>
            </a:r>
            <a:endParaRPr lang="en-US" sz="1200" dirty="0"/>
          </a:p>
        </p:txBody>
      </p:sp>
      <p:sp>
        <p:nvSpPr>
          <p:cNvPr id="18"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35A17"/>
                </a:solidFill>
                <a:latin typeface="IBM Plex Sans" pitchFamily="34" charset="0"/>
                <a:ea typeface="IBM Plex Sans" pitchFamily="34" charset="-122"/>
                <a:cs typeface="IBM Plex Sans" pitchFamily="34" charset="-120"/>
              </a:rPr>
              <a:t>GENETIC DIVERSITY</a:t>
            </a:r>
            <a:endParaRPr lang="en-US" sz="1200" dirty="0"/>
          </a:p>
        </p:txBody>
      </p:sp>
      <p:sp>
        <p:nvSpPr>
          <p:cNvPr id="3" name="Text 1"/>
          <p:cNvSpPr>
            <a:spLocks noGrp="1"/>
          </p:cNvSpPr>
          <p:nvPr>
            <p:ph type="title"/>
          </p:nvPr>
        </p:nvSpPr>
        <p:spPr>
          <a:xfrm>
            <a:off x="812800" y="1076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303A"/>
                </a:solidFill>
                <a:latin typeface="Source Serif 4" pitchFamily="18" charset="0"/>
                <a:ea typeface="Source Serif 4" pitchFamily="18" charset="-122"/>
                <a:cs typeface="Source Serif 4" pitchFamily="18" charset="-120"/>
              </a:rPr>
              <a:t>Diversity tracks collection set as much as geography</a:t>
            </a:r>
            <a:endParaRPr lang="en-US" sz="2800" dirty="0"/>
          </a:p>
        </p:txBody>
      </p:sp>
      <p:sp>
        <p:nvSpPr>
          <p:cNvPr id="4" name="Shape 2"/>
          <p:cNvSpPr/>
          <p:nvPr/>
        </p:nvSpPr>
        <p:spPr>
          <a:xfrm>
            <a:off x="815975" y="1725216"/>
            <a:ext cx="5175250" cy="1940322"/>
          </a:xfrm>
          <a:prstGeom prst="roundRect">
            <a:avLst>
              <a:gd name="adj" fmla="val 3764"/>
            </a:avLst>
          </a:prstGeom>
          <a:solidFill>
            <a:srgbClr val="FBFAF6"/>
          </a:solidFill>
          <a:ln w="6350">
            <a:solidFill>
              <a:srgbClr val="E2DED3"/>
            </a:solidFill>
            <a:prstDash val="solid"/>
          </a:ln>
        </p:spPr>
        <p:txBody>
          <a:bodyPr/>
          <a:lstStyle/>
          <a:p>
            <a:endParaRPr lang="en-US"/>
          </a:p>
        </p:txBody>
      </p:sp>
      <p:sp>
        <p:nvSpPr>
          <p:cNvPr id="5" name="Text 3"/>
          <p:cNvSpPr/>
          <p:nvPr/>
        </p:nvSpPr>
        <p:spPr>
          <a:xfrm>
            <a:off x="1047750" y="1931591"/>
            <a:ext cx="48530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E6E7E"/>
                </a:solidFill>
                <a:latin typeface="IBM Plex Sans" pitchFamily="34" charset="0"/>
                <a:ea typeface="IBM Plex Sans" pitchFamily="34" charset="-122"/>
                <a:cs typeface="IBM Plex Sans" pitchFamily="34" charset="-120"/>
              </a:rPr>
              <a:t>2018 wild collections · 7 sites</a:t>
            </a:r>
            <a:endParaRPr lang="en-US" sz="1500" dirty="0"/>
          </a:p>
        </p:txBody>
      </p:sp>
      <p:sp>
        <p:nvSpPr>
          <p:cNvPr id="6" name="Shape 4"/>
          <p:cNvSpPr/>
          <p:nvPr/>
        </p:nvSpPr>
        <p:spPr>
          <a:xfrm>
            <a:off x="1047750" y="2264966"/>
            <a:ext cx="4711700" cy="0"/>
          </a:xfrm>
          <a:prstGeom prst="line">
            <a:avLst/>
          </a:prstGeom>
          <a:noFill/>
          <a:ln w="6350">
            <a:solidFill>
              <a:srgbClr val="E2DED3"/>
            </a:solidFill>
            <a:prstDash val="solid"/>
          </a:ln>
        </p:spPr>
        <p:txBody>
          <a:bodyPr/>
          <a:lstStyle/>
          <a:p>
            <a:endParaRPr lang="en-US"/>
          </a:p>
        </p:txBody>
      </p:sp>
      <p:sp>
        <p:nvSpPr>
          <p:cNvPr id="7" name="Text 5"/>
          <p:cNvSpPr/>
          <p:nvPr/>
        </p:nvSpPr>
        <p:spPr>
          <a:xfrm>
            <a:off x="1047750" y="2344341"/>
            <a:ext cx="209097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0"/>
                </a:solidFill>
                <a:latin typeface="IBM Plex Sans" pitchFamily="34" charset="0"/>
                <a:ea typeface="IBM Plex Sans" pitchFamily="34" charset="-122"/>
                <a:cs typeface="IBM Plex Sans" pitchFamily="34" charset="-120"/>
              </a:rPr>
              <a:t>Nucleotide diversity π</a:t>
            </a:r>
            <a:endParaRPr lang="en-US" sz="1400" dirty="0"/>
          </a:p>
        </p:txBody>
      </p:sp>
      <p:sp>
        <p:nvSpPr>
          <p:cNvPr id="8" name="Text 6"/>
          <p:cNvSpPr/>
          <p:nvPr/>
        </p:nvSpPr>
        <p:spPr>
          <a:xfrm>
            <a:off x="4226282" y="2344341"/>
            <a:ext cx="1533168" cy="2742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14303A"/>
                </a:solidFill>
                <a:latin typeface="IBM Plex Sans" pitchFamily="34" charset="0"/>
                <a:ea typeface="IBM Plex Sans" pitchFamily="34" charset="-122"/>
                <a:cs typeface="IBM Plex Sans" pitchFamily="34" charset="-120"/>
              </a:rPr>
              <a:t>0.0036–0.0040</a:t>
            </a:r>
            <a:endParaRPr lang="en-US" sz="1400" dirty="0"/>
          </a:p>
        </p:txBody>
      </p:sp>
      <p:sp>
        <p:nvSpPr>
          <p:cNvPr id="9" name="Shape 7"/>
          <p:cNvSpPr/>
          <p:nvPr/>
        </p:nvSpPr>
        <p:spPr>
          <a:xfrm>
            <a:off x="1047750" y="2697956"/>
            <a:ext cx="4711700" cy="0"/>
          </a:xfrm>
          <a:prstGeom prst="line">
            <a:avLst/>
          </a:prstGeom>
          <a:noFill/>
          <a:ln w="6350">
            <a:solidFill>
              <a:srgbClr val="E2DED3"/>
            </a:solidFill>
            <a:prstDash val="solid"/>
          </a:ln>
        </p:spPr>
        <p:txBody>
          <a:bodyPr/>
          <a:lstStyle/>
          <a:p>
            <a:endParaRPr lang="en-US"/>
          </a:p>
        </p:txBody>
      </p:sp>
      <p:sp>
        <p:nvSpPr>
          <p:cNvPr id="10" name="Text 8"/>
          <p:cNvSpPr/>
          <p:nvPr/>
        </p:nvSpPr>
        <p:spPr>
          <a:xfrm>
            <a:off x="1047750" y="2777331"/>
            <a:ext cx="97381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0"/>
                </a:solidFill>
                <a:latin typeface="IBM Plex Sans" pitchFamily="34" charset="0"/>
                <a:ea typeface="IBM Plex Sans" pitchFamily="34" charset="-122"/>
                <a:cs typeface="IBM Plex Sans" pitchFamily="34" charset="-120"/>
              </a:rPr>
              <a:t>Tajima's D</a:t>
            </a:r>
            <a:endParaRPr lang="en-US" sz="1400" dirty="0"/>
          </a:p>
        </p:txBody>
      </p:sp>
      <p:sp>
        <p:nvSpPr>
          <p:cNvPr id="11" name="Text 9"/>
          <p:cNvSpPr/>
          <p:nvPr/>
        </p:nvSpPr>
        <p:spPr>
          <a:xfrm>
            <a:off x="4436189" y="2777331"/>
            <a:ext cx="1323261" cy="2742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14303A"/>
                </a:solidFill>
                <a:latin typeface="IBM Plex Sans" pitchFamily="34" charset="0"/>
                <a:ea typeface="IBM Plex Sans" pitchFamily="34" charset="-122"/>
                <a:cs typeface="IBM Plex Sans" pitchFamily="34" charset="-120"/>
              </a:rPr>
              <a:t>−0.37 to 0.09</a:t>
            </a:r>
            <a:endParaRPr lang="en-US" sz="1400" dirty="0"/>
          </a:p>
        </p:txBody>
      </p:sp>
      <p:sp>
        <p:nvSpPr>
          <p:cNvPr id="12" name="Shape 10"/>
          <p:cNvSpPr/>
          <p:nvPr/>
        </p:nvSpPr>
        <p:spPr>
          <a:xfrm>
            <a:off x="1047750" y="3130947"/>
            <a:ext cx="4711700" cy="0"/>
          </a:xfrm>
          <a:prstGeom prst="line">
            <a:avLst/>
          </a:prstGeom>
          <a:noFill/>
          <a:ln w="6350">
            <a:solidFill>
              <a:srgbClr val="E2DED3"/>
            </a:solidFill>
            <a:prstDash val="solid"/>
          </a:ln>
        </p:spPr>
        <p:txBody>
          <a:bodyPr/>
          <a:lstStyle/>
          <a:p>
            <a:endParaRPr lang="en-US"/>
          </a:p>
        </p:txBody>
      </p:sp>
      <p:sp>
        <p:nvSpPr>
          <p:cNvPr id="13" name="Text 11"/>
          <p:cNvSpPr/>
          <p:nvPr/>
        </p:nvSpPr>
        <p:spPr>
          <a:xfrm>
            <a:off x="1047750" y="3210322"/>
            <a:ext cx="149828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0"/>
                </a:solidFill>
                <a:latin typeface="IBM Plex Sans" pitchFamily="34" charset="0"/>
                <a:ea typeface="IBM Plex Sans" pitchFamily="34" charset="-122"/>
                <a:cs typeface="IBM Plex Sans" pitchFamily="34" charset="-120"/>
              </a:rPr>
              <a:t>Duplicate reads</a:t>
            </a:r>
            <a:endParaRPr lang="en-US" sz="1400" dirty="0"/>
          </a:p>
        </p:txBody>
      </p:sp>
      <p:sp>
        <p:nvSpPr>
          <p:cNvPr id="14" name="Text 12"/>
          <p:cNvSpPr/>
          <p:nvPr/>
        </p:nvSpPr>
        <p:spPr>
          <a:xfrm>
            <a:off x="4533463" y="3210322"/>
            <a:ext cx="1225987" cy="2742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14303A"/>
                </a:solidFill>
                <a:latin typeface="IBM Plex Sans" pitchFamily="34" charset="0"/>
                <a:ea typeface="IBM Plex Sans" pitchFamily="34" charset="-122"/>
                <a:cs typeface="IBM Plex Sans" pitchFamily="34" charset="-120"/>
              </a:rPr>
              <a:t>12.5–16.1%</a:t>
            </a:r>
            <a:endParaRPr lang="en-US" sz="1400" dirty="0"/>
          </a:p>
        </p:txBody>
      </p:sp>
      <p:sp>
        <p:nvSpPr>
          <p:cNvPr id="15" name="Shape 13"/>
          <p:cNvSpPr/>
          <p:nvPr/>
        </p:nvSpPr>
        <p:spPr>
          <a:xfrm>
            <a:off x="6200775" y="1725216"/>
            <a:ext cx="5175250" cy="1940322"/>
          </a:xfrm>
          <a:prstGeom prst="roundRect">
            <a:avLst>
              <a:gd name="adj" fmla="val 3764"/>
            </a:avLst>
          </a:prstGeom>
          <a:solidFill>
            <a:srgbClr val="FBFAF6"/>
          </a:solidFill>
          <a:ln w="6350">
            <a:solidFill>
              <a:srgbClr val="E2DED3"/>
            </a:solidFill>
            <a:prstDash val="solid"/>
          </a:ln>
        </p:spPr>
        <p:txBody>
          <a:bodyPr/>
          <a:lstStyle/>
          <a:p>
            <a:endParaRPr lang="en-US"/>
          </a:p>
        </p:txBody>
      </p:sp>
      <p:sp>
        <p:nvSpPr>
          <p:cNvPr id="16" name="Text 14"/>
          <p:cNvSpPr/>
          <p:nvPr/>
        </p:nvSpPr>
        <p:spPr>
          <a:xfrm>
            <a:off x="6432550" y="1931591"/>
            <a:ext cx="48530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35A17"/>
                </a:solidFill>
                <a:latin typeface="IBM Plex Sans" pitchFamily="34" charset="0"/>
                <a:ea typeface="IBM Plex Sans" pitchFamily="34" charset="-122"/>
                <a:cs typeface="IBM Plex Sans" pitchFamily="34" charset="-120"/>
              </a:rPr>
              <a:t>2024 collections · 8 sites</a:t>
            </a:r>
            <a:endParaRPr lang="en-US" sz="1500" dirty="0"/>
          </a:p>
        </p:txBody>
      </p:sp>
      <p:sp>
        <p:nvSpPr>
          <p:cNvPr id="17" name="Shape 15"/>
          <p:cNvSpPr/>
          <p:nvPr/>
        </p:nvSpPr>
        <p:spPr>
          <a:xfrm>
            <a:off x="6432550" y="2264966"/>
            <a:ext cx="4711700" cy="0"/>
          </a:xfrm>
          <a:prstGeom prst="line">
            <a:avLst/>
          </a:prstGeom>
          <a:noFill/>
          <a:ln w="6350">
            <a:solidFill>
              <a:srgbClr val="E2DED3"/>
            </a:solidFill>
            <a:prstDash val="solid"/>
          </a:ln>
        </p:spPr>
        <p:txBody>
          <a:bodyPr/>
          <a:lstStyle/>
          <a:p>
            <a:endParaRPr lang="en-US"/>
          </a:p>
        </p:txBody>
      </p:sp>
      <p:sp>
        <p:nvSpPr>
          <p:cNvPr id="18" name="Text 16"/>
          <p:cNvSpPr/>
          <p:nvPr/>
        </p:nvSpPr>
        <p:spPr>
          <a:xfrm>
            <a:off x="6432550" y="2344341"/>
            <a:ext cx="209097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0"/>
                </a:solidFill>
                <a:latin typeface="IBM Plex Sans" pitchFamily="34" charset="0"/>
                <a:ea typeface="IBM Plex Sans" pitchFamily="34" charset="-122"/>
                <a:cs typeface="IBM Plex Sans" pitchFamily="34" charset="-120"/>
              </a:rPr>
              <a:t>Nucleotide diversity π</a:t>
            </a:r>
            <a:endParaRPr lang="en-US" sz="1400" dirty="0"/>
          </a:p>
        </p:txBody>
      </p:sp>
      <p:sp>
        <p:nvSpPr>
          <p:cNvPr id="19" name="Text 17"/>
          <p:cNvSpPr/>
          <p:nvPr/>
        </p:nvSpPr>
        <p:spPr>
          <a:xfrm>
            <a:off x="9611082" y="2344341"/>
            <a:ext cx="1533168" cy="2742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14303A"/>
                </a:solidFill>
                <a:latin typeface="IBM Plex Sans" pitchFamily="34" charset="0"/>
                <a:ea typeface="IBM Plex Sans" pitchFamily="34" charset="-122"/>
                <a:cs typeface="IBM Plex Sans" pitchFamily="34" charset="-120"/>
              </a:rPr>
              <a:t>0.0034–0.0037</a:t>
            </a:r>
            <a:endParaRPr lang="en-US" sz="1400" dirty="0"/>
          </a:p>
        </p:txBody>
      </p:sp>
      <p:sp>
        <p:nvSpPr>
          <p:cNvPr id="20" name="Shape 18"/>
          <p:cNvSpPr/>
          <p:nvPr/>
        </p:nvSpPr>
        <p:spPr>
          <a:xfrm>
            <a:off x="6432550" y="2697956"/>
            <a:ext cx="4711700" cy="0"/>
          </a:xfrm>
          <a:prstGeom prst="line">
            <a:avLst/>
          </a:prstGeom>
          <a:noFill/>
          <a:ln w="6350">
            <a:solidFill>
              <a:srgbClr val="E2DED3"/>
            </a:solidFill>
            <a:prstDash val="solid"/>
          </a:ln>
        </p:spPr>
        <p:txBody>
          <a:bodyPr/>
          <a:lstStyle/>
          <a:p>
            <a:endParaRPr lang="en-US"/>
          </a:p>
        </p:txBody>
      </p:sp>
      <p:sp>
        <p:nvSpPr>
          <p:cNvPr id="21" name="Text 19"/>
          <p:cNvSpPr/>
          <p:nvPr/>
        </p:nvSpPr>
        <p:spPr>
          <a:xfrm>
            <a:off x="6432550" y="2777331"/>
            <a:ext cx="97381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0"/>
                </a:solidFill>
                <a:latin typeface="IBM Plex Sans" pitchFamily="34" charset="0"/>
                <a:ea typeface="IBM Plex Sans" pitchFamily="34" charset="-122"/>
                <a:cs typeface="IBM Plex Sans" pitchFamily="34" charset="-120"/>
              </a:rPr>
              <a:t>Tajima's D</a:t>
            </a:r>
            <a:endParaRPr lang="en-US" sz="1400" dirty="0"/>
          </a:p>
        </p:txBody>
      </p:sp>
      <p:sp>
        <p:nvSpPr>
          <p:cNvPr id="22" name="Text 20"/>
          <p:cNvSpPr/>
          <p:nvPr/>
        </p:nvSpPr>
        <p:spPr>
          <a:xfrm>
            <a:off x="9948982" y="2777331"/>
            <a:ext cx="1195268" cy="2742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14303A"/>
                </a:solidFill>
                <a:latin typeface="IBM Plex Sans" pitchFamily="34" charset="0"/>
                <a:ea typeface="IBM Plex Sans" pitchFamily="34" charset="-122"/>
                <a:cs typeface="IBM Plex Sans" pitchFamily="34" charset="-120"/>
              </a:rPr>
              <a:t>0.35 to 0.49</a:t>
            </a:r>
            <a:endParaRPr lang="en-US" sz="1400" dirty="0"/>
          </a:p>
        </p:txBody>
      </p:sp>
      <p:sp>
        <p:nvSpPr>
          <p:cNvPr id="23" name="Shape 21"/>
          <p:cNvSpPr/>
          <p:nvPr/>
        </p:nvSpPr>
        <p:spPr>
          <a:xfrm>
            <a:off x="6432550" y="3130947"/>
            <a:ext cx="4711700" cy="0"/>
          </a:xfrm>
          <a:prstGeom prst="line">
            <a:avLst/>
          </a:prstGeom>
          <a:noFill/>
          <a:ln w="6350">
            <a:solidFill>
              <a:srgbClr val="E2DED3"/>
            </a:solidFill>
            <a:prstDash val="solid"/>
          </a:ln>
        </p:spPr>
        <p:txBody>
          <a:bodyPr/>
          <a:lstStyle/>
          <a:p>
            <a:endParaRPr lang="en-US"/>
          </a:p>
        </p:txBody>
      </p:sp>
      <p:sp>
        <p:nvSpPr>
          <p:cNvPr id="24" name="Text 22"/>
          <p:cNvSpPr/>
          <p:nvPr/>
        </p:nvSpPr>
        <p:spPr>
          <a:xfrm>
            <a:off x="6432550" y="3210322"/>
            <a:ext cx="149828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0"/>
                </a:solidFill>
                <a:latin typeface="IBM Plex Sans" pitchFamily="34" charset="0"/>
                <a:ea typeface="IBM Plex Sans" pitchFamily="34" charset="-122"/>
                <a:cs typeface="IBM Plex Sans" pitchFamily="34" charset="-120"/>
              </a:rPr>
              <a:t>Duplicate reads</a:t>
            </a:r>
            <a:endParaRPr lang="en-US" sz="1400" dirty="0"/>
          </a:p>
        </p:txBody>
      </p:sp>
      <p:sp>
        <p:nvSpPr>
          <p:cNvPr id="25" name="Text 23"/>
          <p:cNvSpPr/>
          <p:nvPr/>
        </p:nvSpPr>
        <p:spPr>
          <a:xfrm>
            <a:off x="9918263" y="3210322"/>
            <a:ext cx="1225987" cy="274241"/>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14303A"/>
                </a:solidFill>
                <a:latin typeface="IBM Plex Sans" pitchFamily="34" charset="0"/>
                <a:ea typeface="IBM Plex Sans" pitchFamily="34" charset="-122"/>
                <a:cs typeface="IBM Plex Sans" pitchFamily="34" charset="-120"/>
              </a:rPr>
              <a:t>19.9–21.6%</a:t>
            </a:r>
            <a:endParaRPr lang="en-US" sz="1400" dirty="0"/>
          </a:p>
        </p:txBody>
      </p:sp>
      <p:sp>
        <p:nvSpPr>
          <p:cNvPr id="26" name="Shape 24"/>
          <p:cNvSpPr/>
          <p:nvPr/>
        </p:nvSpPr>
        <p:spPr>
          <a:xfrm>
            <a:off x="831850" y="5181600"/>
            <a:ext cx="0" cy="660400"/>
          </a:xfrm>
          <a:prstGeom prst="line">
            <a:avLst/>
          </a:prstGeom>
          <a:noFill/>
          <a:ln w="38100">
            <a:solidFill>
              <a:srgbClr val="C4661F"/>
            </a:solidFill>
            <a:prstDash val="solid"/>
          </a:ln>
        </p:spPr>
        <p:txBody>
          <a:bodyPr/>
          <a:lstStyle/>
          <a:p>
            <a:endParaRPr lang="en-US"/>
          </a:p>
        </p:txBody>
      </p:sp>
      <p:sp>
        <p:nvSpPr>
          <p:cNvPr id="27" name="Text 25"/>
          <p:cNvSpPr/>
          <p:nvPr/>
        </p:nvSpPr>
        <p:spPr>
          <a:xfrm>
            <a:off x="1028700" y="5207000"/>
            <a:ext cx="1066101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303A"/>
                </a:solidFill>
                <a:latin typeface="IBM Plex Sans" pitchFamily="34" charset="0"/>
                <a:ea typeface="IBM Plex Sans" pitchFamily="34" charset="-122"/>
                <a:cs typeface="IBM Plex Sans" pitchFamily="34" charset="-120"/>
              </a:rPr>
              <a:t>Same bay, two collections: Fidalgo 2018 vs. Fidalgo has weighted Fst 0.055, as large as many between-site pairs.</a:t>
            </a:r>
            <a:endParaRPr lang="en-US" sz="1500" dirty="0"/>
          </a:p>
        </p:txBody>
      </p:sp>
      <p:sp>
        <p:nvSpPr>
          <p:cNvPr id="28" name="Text 26"/>
          <p:cNvSpPr/>
          <p:nvPr/>
        </p:nvSpPr>
        <p:spPr>
          <a:xfrm>
            <a:off x="1028700" y="5549900"/>
            <a:ext cx="1066101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303A"/>
                </a:solidFill>
                <a:latin typeface="IBM Plex Sans" pitchFamily="34" charset="0"/>
                <a:ea typeface="IBM Plex Sans" pitchFamily="34" charset="-122"/>
                <a:cs typeface="IBM Plex Sans" pitchFamily="34" charset="-120"/>
              </a:rPr>
              <a:t>Collection year is now modelled in the RDA; diversity estimates still mix year and site.</a:t>
            </a:r>
            <a:endParaRPr lang="en-US" sz="1500" dirty="0"/>
          </a:p>
        </p:txBody>
      </p:sp>
      <p:sp>
        <p:nvSpPr>
          <p:cNvPr id="29" name="Text 2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Bengtsson, Martinelli &amp; Roberts · Olympia oyster lc-WGS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46360"/>
          </a:xfrm>
          <a:prstGeom prst="rect">
            <a:avLst/>
          </a:prstGeom>
          <a:noFill/>
          <a:ln/>
        </p:spPr>
        <p:txBody>
          <a:bodyPr wrap="square" lIns="0" tIns="0" rIns="0" bIns="0" rtlCol="0" anchor="t">
            <a:normAutofit/>
          </a:bodyPr>
          <a:lstStyle/>
          <a:p>
            <a:pPr marL="0" indent="0" algn="l">
              <a:lnSpc>
                <a:spcPts val="1774"/>
              </a:lnSpc>
              <a:buNone/>
            </a:pPr>
            <a:r>
              <a:rPr lang="en-US" sz="1268" b="1" kern="0" spc="100" dirty="0">
                <a:solidFill>
                  <a:srgbClr val="A9561A"/>
                </a:solidFill>
                <a:latin typeface="Nunito Sans" pitchFamily="34" charset="0"/>
                <a:ea typeface="Nunito Sans" pitchFamily="34" charset="-122"/>
                <a:cs typeface="Nunito Sans" pitchFamily="34" charset="-120"/>
              </a:rPr>
              <a:t>FINDING 3</a:t>
            </a:r>
            <a:endParaRPr lang="en-US" sz="1268" dirty="0"/>
          </a:p>
        </p:txBody>
      </p:sp>
      <p:sp>
        <p:nvSpPr>
          <p:cNvPr id="3" name="Text 1"/>
          <p:cNvSpPr>
            <a:spLocks noGrp="1"/>
          </p:cNvSpPr>
          <p:nvPr>
            <p:ph type="title"/>
          </p:nvPr>
        </p:nvSpPr>
        <p:spPr>
          <a:xfrm>
            <a:off x="812800" y="1097260"/>
            <a:ext cx="10883392" cy="412849"/>
          </a:xfrm>
          <a:prstGeom prst="rect">
            <a:avLst/>
          </a:prstGeom>
          <a:noFill/>
          <a:ln/>
        </p:spPr>
        <p:txBody>
          <a:bodyPr wrap="square" lIns="0" tIns="0" rIns="0" bIns="0" rtlCol="0" anchor="t">
            <a:normAutofit/>
          </a:bodyPr>
          <a:lstStyle/>
          <a:p>
            <a:pPr marL="0" indent="0" algn="l">
              <a:lnSpc>
                <a:spcPts val="3070"/>
              </a:lnSpc>
              <a:buNone/>
            </a:pPr>
            <a:r>
              <a:rPr lang="en-US" sz="2791" b="1" i="0" dirty="0">
                <a:solidFill>
                  <a:srgbClr val="1F3B4D"/>
                </a:solidFill>
                <a:latin typeface="Domine" pitchFamily="18" charset="0"/>
                <a:ea typeface="Domine" pitchFamily="18" charset="-122"/>
                <a:cs typeface="Domine" pitchFamily="18" charset="-120"/>
              </a:rPr>
              <a:t>History and geography outweigh water conditions</a:t>
            </a:r>
            <a:endParaRPr lang="en-US" sz="2791" dirty="0"/>
          </a:p>
        </p:txBody>
      </p:sp>
      <p:sp>
        <p:nvSpPr>
          <p:cNvPr id="4" name="Text 2"/>
          <p:cNvSpPr/>
          <p:nvPr/>
        </p:nvSpPr>
        <p:spPr>
          <a:xfrm>
            <a:off x="812800" y="1764109"/>
            <a:ext cx="10883392" cy="281583"/>
          </a:xfrm>
          <a:prstGeom prst="rect">
            <a:avLst/>
          </a:prstGeom>
          <a:noFill/>
          <a:ln/>
        </p:spPr>
        <p:txBody>
          <a:bodyPr wrap="square" lIns="0" tIns="0" rIns="0" bIns="0" rtlCol="0" anchor="t">
            <a:normAutofit/>
          </a:bodyPr>
          <a:lstStyle/>
          <a:p>
            <a:pPr marL="0" indent="0" algn="l">
              <a:lnSpc>
                <a:spcPts val="2021"/>
              </a:lnSpc>
              <a:buNone/>
            </a:pPr>
            <a:r>
              <a:rPr lang="en-US" sz="1444" dirty="0">
                <a:solidFill>
                  <a:srgbClr val="4B5A63"/>
                </a:solidFill>
                <a:latin typeface="Nunito Sans" pitchFamily="34" charset="0"/>
                <a:ea typeface="Nunito Sans" pitchFamily="34" charset="-122"/>
                <a:cs typeface="Nunito Sans" pitchFamily="34" charset="-120"/>
              </a:rPr>
              <a:t>Share of the genetic differences between sites that each factor explains</a:t>
            </a:r>
            <a:endParaRPr lang="en-US" sz="1444" dirty="0"/>
          </a:p>
        </p:txBody>
      </p:sp>
      <p:sp>
        <p:nvSpPr>
          <p:cNvPr id="5" name="Text 3"/>
          <p:cNvSpPr/>
          <p:nvPr/>
        </p:nvSpPr>
        <p:spPr>
          <a:xfrm>
            <a:off x="812800" y="2545159"/>
            <a:ext cx="366268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3B4D"/>
                </a:solidFill>
                <a:latin typeface="Nunito Sans" pitchFamily="34" charset="0"/>
                <a:ea typeface="Nunito Sans" pitchFamily="34" charset="-122"/>
                <a:cs typeface="Nunito Sans" pitchFamily="34" charset="-120"/>
              </a:rPr>
              <a:t>Shared ancestry (genetic group)</a:t>
            </a:r>
            <a:endParaRPr lang="en-US" sz="1500" dirty="0"/>
          </a:p>
        </p:txBody>
      </p:sp>
      <p:sp>
        <p:nvSpPr>
          <p:cNvPr id="6" name="Shape 4"/>
          <p:cNvSpPr/>
          <p:nvPr/>
        </p:nvSpPr>
        <p:spPr>
          <a:xfrm>
            <a:off x="4521200" y="2513409"/>
            <a:ext cx="5334000" cy="330200"/>
          </a:xfrm>
          <a:prstGeom prst="roundRect">
            <a:avLst>
              <a:gd name="adj" fmla="val 11538"/>
            </a:avLst>
          </a:prstGeom>
          <a:solidFill>
            <a:srgbClr val="2F7F86"/>
          </a:solidFill>
          <a:ln/>
        </p:spPr>
        <p:txBody>
          <a:bodyPr/>
          <a:lstStyle/>
          <a:p>
            <a:endParaRPr lang="en-US"/>
          </a:p>
        </p:txBody>
      </p:sp>
      <p:sp>
        <p:nvSpPr>
          <p:cNvPr id="7" name="Text 5"/>
          <p:cNvSpPr/>
          <p:nvPr/>
        </p:nvSpPr>
        <p:spPr>
          <a:xfrm>
            <a:off x="9298252" y="2539874"/>
            <a:ext cx="708130" cy="876723"/>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3B4D"/>
                </a:solidFill>
                <a:latin typeface="Nunito Sans" pitchFamily="34" charset="0"/>
                <a:ea typeface="Nunito Sans" pitchFamily="34" charset="-122"/>
                <a:cs typeface="Nunito Sans" pitchFamily="34" charset="-120"/>
              </a:rPr>
              <a:t>14%</a:t>
            </a:r>
            <a:endParaRPr lang="en-US" sz="1500" dirty="0"/>
          </a:p>
        </p:txBody>
      </p:sp>
      <p:sp>
        <p:nvSpPr>
          <p:cNvPr id="8" name="Text 6"/>
          <p:cNvSpPr/>
          <p:nvPr/>
        </p:nvSpPr>
        <p:spPr>
          <a:xfrm>
            <a:off x="10134600" y="2562920"/>
            <a:ext cx="12954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A63"/>
                </a:solidFill>
                <a:latin typeface="Nunito Sans" pitchFamily="34" charset="0"/>
                <a:ea typeface="Nunito Sans" pitchFamily="34" charset="-122"/>
                <a:cs typeface="Nunito Sans" pitchFamily="34" charset="-120"/>
              </a:rPr>
              <a:t>clear effect</a:t>
            </a:r>
            <a:endParaRPr lang="en-US" sz="1300" dirty="0"/>
          </a:p>
        </p:txBody>
      </p:sp>
      <p:sp>
        <p:nvSpPr>
          <p:cNvPr id="9" name="Text 7"/>
          <p:cNvSpPr/>
          <p:nvPr/>
        </p:nvSpPr>
        <p:spPr>
          <a:xfrm>
            <a:off x="812800" y="3308846"/>
            <a:ext cx="366268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3B4D"/>
                </a:solidFill>
                <a:latin typeface="Nunito Sans" pitchFamily="34" charset="0"/>
                <a:ea typeface="Nunito Sans" pitchFamily="34" charset="-122"/>
                <a:cs typeface="Nunito Sans" pitchFamily="34" charset="-120"/>
              </a:rPr>
              <a:t>Location and distance</a:t>
            </a:r>
            <a:endParaRPr lang="en-US" sz="1500" dirty="0"/>
          </a:p>
        </p:txBody>
      </p:sp>
      <p:sp>
        <p:nvSpPr>
          <p:cNvPr id="10" name="Shape 8"/>
          <p:cNvSpPr/>
          <p:nvPr/>
        </p:nvSpPr>
        <p:spPr>
          <a:xfrm>
            <a:off x="4521200" y="3277195"/>
            <a:ext cx="2400300" cy="330200"/>
          </a:xfrm>
          <a:prstGeom prst="roundRect">
            <a:avLst>
              <a:gd name="adj" fmla="val 11538"/>
            </a:avLst>
          </a:prstGeom>
          <a:solidFill>
            <a:srgbClr val="2F7F86"/>
          </a:solidFill>
          <a:ln/>
        </p:spPr>
        <p:txBody>
          <a:bodyPr/>
          <a:lstStyle/>
          <a:p>
            <a:endParaRPr lang="en-US"/>
          </a:p>
        </p:txBody>
      </p:sp>
      <p:sp>
        <p:nvSpPr>
          <p:cNvPr id="11" name="Text 9"/>
          <p:cNvSpPr/>
          <p:nvPr/>
        </p:nvSpPr>
        <p:spPr>
          <a:xfrm>
            <a:off x="7048500" y="3308945"/>
            <a:ext cx="35528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3B4D"/>
                </a:solidFill>
                <a:latin typeface="Nunito Sans" pitchFamily="34" charset="0"/>
                <a:ea typeface="Nunito Sans" pitchFamily="34" charset="-122"/>
                <a:cs typeface="Nunito Sans" pitchFamily="34" charset="-120"/>
              </a:rPr>
              <a:t>6%</a:t>
            </a:r>
            <a:endParaRPr lang="en-US" sz="1500" dirty="0"/>
          </a:p>
        </p:txBody>
      </p:sp>
      <p:sp>
        <p:nvSpPr>
          <p:cNvPr id="12" name="Text 10"/>
          <p:cNvSpPr/>
          <p:nvPr/>
        </p:nvSpPr>
        <p:spPr>
          <a:xfrm>
            <a:off x="10134600" y="3326705"/>
            <a:ext cx="12954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A63"/>
                </a:solidFill>
                <a:latin typeface="Nunito Sans" pitchFamily="34" charset="0"/>
                <a:ea typeface="Nunito Sans" pitchFamily="34" charset="-122"/>
                <a:cs typeface="Nunito Sans" pitchFamily="34" charset="-120"/>
              </a:rPr>
              <a:t>clear effect</a:t>
            </a:r>
            <a:endParaRPr lang="en-US" sz="1300" dirty="0"/>
          </a:p>
        </p:txBody>
      </p:sp>
      <p:sp>
        <p:nvSpPr>
          <p:cNvPr id="13" name="Text 11"/>
          <p:cNvSpPr/>
          <p:nvPr/>
        </p:nvSpPr>
        <p:spPr>
          <a:xfrm>
            <a:off x="812800" y="3850084"/>
            <a:ext cx="366268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3B4D"/>
                </a:solidFill>
                <a:latin typeface="Nunito Sans" pitchFamily="34" charset="0"/>
                <a:ea typeface="Nunito Sans" pitchFamily="34" charset="-122"/>
                <a:cs typeface="Nunito Sans" pitchFamily="34" charset="-120"/>
              </a:rPr>
              <a:t>Water conditions</a:t>
            </a:r>
            <a:endParaRPr lang="en-US" sz="1500" dirty="0"/>
          </a:p>
        </p:txBody>
      </p:sp>
      <p:sp>
        <p:nvSpPr>
          <p:cNvPr id="14" name="Shape 12"/>
          <p:cNvSpPr/>
          <p:nvPr/>
        </p:nvSpPr>
        <p:spPr>
          <a:xfrm>
            <a:off x="4521200" y="3818434"/>
            <a:ext cx="1143000" cy="330200"/>
          </a:xfrm>
          <a:prstGeom prst="roundRect">
            <a:avLst>
              <a:gd name="adj" fmla="val 11538"/>
            </a:avLst>
          </a:prstGeom>
          <a:solidFill>
            <a:srgbClr val="C76A1C"/>
          </a:solidFill>
          <a:ln/>
        </p:spPr>
        <p:txBody>
          <a:bodyPr/>
          <a:lstStyle/>
          <a:p>
            <a:endParaRPr lang="en-US"/>
          </a:p>
        </p:txBody>
      </p:sp>
      <p:sp>
        <p:nvSpPr>
          <p:cNvPr id="15" name="Text 13"/>
          <p:cNvSpPr/>
          <p:nvPr/>
        </p:nvSpPr>
        <p:spPr>
          <a:xfrm>
            <a:off x="5791200" y="3850184"/>
            <a:ext cx="35528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3B4D"/>
                </a:solidFill>
                <a:latin typeface="Nunito Sans" pitchFamily="34" charset="0"/>
                <a:ea typeface="Nunito Sans" pitchFamily="34" charset="-122"/>
                <a:cs typeface="Nunito Sans" pitchFamily="34" charset="-120"/>
              </a:rPr>
              <a:t>3%</a:t>
            </a:r>
            <a:endParaRPr lang="en-US" sz="1500" dirty="0"/>
          </a:p>
        </p:txBody>
      </p:sp>
      <p:sp>
        <p:nvSpPr>
          <p:cNvPr id="16" name="Text 14"/>
          <p:cNvSpPr/>
          <p:nvPr/>
        </p:nvSpPr>
        <p:spPr>
          <a:xfrm>
            <a:off x="10134600" y="3867944"/>
            <a:ext cx="12954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A63"/>
                </a:solidFill>
                <a:latin typeface="Nunito Sans" pitchFamily="34" charset="0"/>
                <a:ea typeface="Nunito Sans" pitchFamily="34" charset="-122"/>
                <a:cs typeface="Nunito Sans" pitchFamily="34" charset="-120"/>
              </a:rPr>
              <a:t>could be chance</a:t>
            </a:r>
            <a:endParaRPr lang="en-US" sz="1300" dirty="0"/>
          </a:p>
        </p:txBody>
      </p:sp>
      <p:sp>
        <p:nvSpPr>
          <p:cNvPr id="17" name="Text 15"/>
          <p:cNvSpPr/>
          <p:nvPr/>
        </p:nvSpPr>
        <p:spPr>
          <a:xfrm>
            <a:off x="812800" y="4354215"/>
            <a:ext cx="3662680"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3B4D"/>
                </a:solidFill>
                <a:latin typeface="Nunito Sans" pitchFamily="34" charset="0"/>
                <a:ea typeface="Nunito Sans" pitchFamily="34" charset="-122"/>
                <a:cs typeface="Nunito Sans" pitchFamily="34" charset="-120"/>
              </a:rPr>
              <a:t>Water conditions, once location is known</a:t>
            </a:r>
            <a:endParaRPr lang="en-US" sz="1500" dirty="0"/>
          </a:p>
        </p:txBody>
      </p:sp>
      <p:sp>
        <p:nvSpPr>
          <p:cNvPr id="18" name="Shape 16"/>
          <p:cNvSpPr/>
          <p:nvPr/>
        </p:nvSpPr>
        <p:spPr>
          <a:xfrm>
            <a:off x="4521200" y="4455815"/>
            <a:ext cx="38100" cy="330200"/>
          </a:xfrm>
          <a:prstGeom prst="rect">
            <a:avLst/>
          </a:prstGeom>
          <a:solidFill>
            <a:srgbClr val="5E6A70"/>
          </a:solidFill>
          <a:ln/>
        </p:spPr>
        <p:txBody>
          <a:bodyPr/>
          <a:lstStyle/>
          <a:p>
            <a:endParaRPr lang="en-US"/>
          </a:p>
        </p:txBody>
      </p:sp>
      <p:sp>
        <p:nvSpPr>
          <p:cNvPr id="19" name="Text 17"/>
          <p:cNvSpPr/>
          <p:nvPr/>
        </p:nvSpPr>
        <p:spPr>
          <a:xfrm>
            <a:off x="4686300" y="4487565"/>
            <a:ext cx="35528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3B4D"/>
                </a:solidFill>
                <a:latin typeface="Nunito Sans" pitchFamily="34" charset="0"/>
                <a:ea typeface="Nunito Sans" pitchFamily="34" charset="-122"/>
                <a:cs typeface="Nunito Sans" pitchFamily="34" charset="-120"/>
              </a:rPr>
              <a:t>0%</a:t>
            </a:r>
            <a:endParaRPr lang="en-US" sz="1500" dirty="0"/>
          </a:p>
        </p:txBody>
      </p:sp>
      <p:sp>
        <p:nvSpPr>
          <p:cNvPr id="20" name="Text 18"/>
          <p:cNvSpPr/>
          <p:nvPr/>
        </p:nvSpPr>
        <p:spPr>
          <a:xfrm>
            <a:off x="10134600" y="4505325"/>
            <a:ext cx="12954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A63"/>
                </a:solidFill>
                <a:latin typeface="Nunito Sans" pitchFamily="34" charset="0"/>
                <a:ea typeface="Nunito Sans" pitchFamily="34" charset="-122"/>
                <a:cs typeface="Nunito Sans" pitchFamily="34" charset="-120"/>
              </a:rPr>
              <a:t>no effect</a:t>
            </a:r>
            <a:endParaRPr lang="en-US" sz="1300" dirty="0"/>
          </a:p>
        </p:txBody>
      </p:sp>
      <p:sp>
        <p:nvSpPr>
          <p:cNvPr id="21" name="Text 19"/>
          <p:cNvSpPr/>
          <p:nvPr/>
        </p:nvSpPr>
        <p:spPr>
          <a:xfrm>
            <a:off x="812800" y="5432227"/>
            <a:ext cx="10883392" cy="435173"/>
          </a:xfrm>
          <a:prstGeom prst="rect">
            <a:avLst/>
          </a:prstGeom>
          <a:noFill/>
          <a:ln/>
        </p:spPr>
        <p:txBody>
          <a:bodyPr wrap="square" lIns="0" tIns="0" rIns="0" bIns="0" rtlCol="0" anchor="t">
            <a:normAutofit/>
          </a:bodyPr>
          <a:lstStyle/>
          <a:p>
            <a:pPr marL="0" indent="0" algn="l">
              <a:lnSpc>
                <a:spcPts val="1633"/>
              </a:lnSpc>
              <a:buNone/>
            </a:pPr>
            <a:r>
              <a:rPr lang="en-US" sz="1166" dirty="0">
                <a:solidFill>
                  <a:srgbClr val="5E6A70"/>
                </a:solidFill>
                <a:latin typeface="Nunito Sans" pitchFamily="34" charset="0"/>
                <a:ea typeface="Nunito Sans" pitchFamily="34" charset="-122"/>
                <a:cs typeface="Nunito Sans" pitchFamily="34" charset="-120"/>
              </a:rPr>
              <a:t>Water conditions = summer temperature, salinity swings and summer food (chlorophyll), 2015–2018. Redundancy analysis on 14 sites. The result holds after accounting for collection year (2018 vs. 2024).</a:t>
            </a:r>
            <a:endParaRPr lang="en-US" sz="1166" dirty="0"/>
          </a:p>
        </p:txBody>
      </p:sp>
      <p:sp>
        <p:nvSpPr>
          <p:cNvPr id="22" name="Text 2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0"/>
                </a:solidFill>
                <a:latin typeface="Nunito Sans" pitchFamily="34" charset="0"/>
                <a:ea typeface="Nunito Sans" pitchFamily="34" charset="-122"/>
                <a:cs typeface="Nunito Sans" pitchFamily="34" charset="-120"/>
              </a:rPr>
              <a:t>Olympia oyster genetics · Bengtsson, Martinelli &amp; Roberts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35A17"/>
                </a:solidFill>
                <a:latin typeface="IBM Plex Sans" pitchFamily="34" charset="0"/>
                <a:ea typeface="IBM Plex Sans" pitchFamily="34" charset="-122"/>
                <a:cs typeface="IBM Plex Sans" pitchFamily="34" charset="-120"/>
              </a:rPr>
              <a:t>ENVIRONMENTAL PREDICTORS</a:t>
            </a:r>
            <a:endParaRPr lang="en-US" sz="1200" dirty="0"/>
          </a:p>
        </p:txBody>
      </p:sp>
      <p:sp>
        <p:nvSpPr>
          <p:cNvPr id="3" name="Text 1"/>
          <p:cNvSpPr>
            <a:spLocks noGrp="1"/>
          </p:cNvSpPr>
          <p:nvPr>
            <p:ph type="title"/>
          </p:nvPr>
        </p:nvSpPr>
        <p:spPr>
          <a:xfrm>
            <a:off x="812800" y="1076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303A"/>
                </a:solidFill>
                <a:latin typeface="Source Serif 4" pitchFamily="18" charset="0"/>
                <a:ea typeface="Source Serif 4" pitchFamily="18" charset="-122"/>
                <a:cs typeface="Source Serif 4" pitchFamily="18" charset="-120"/>
              </a:rPr>
              <a:t>Sites span 8 °C of summer temperature</a:t>
            </a:r>
            <a:endParaRPr lang="en-US" sz="2800" dirty="0"/>
          </a:p>
        </p:txBody>
      </p:sp>
      <p:sp>
        <p:nvSpPr>
          <p:cNvPr id="4" name="Shape 2"/>
          <p:cNvSpPr/>
          <p:nvPr/>
        </p:nvSpPr>
        <p:spPr>
          <a:xfrm>
            <a:off x="812800" y="1722041"/>
            <a:ext cx="6604000" cy="3771900"/>
          </a:xfrm>
          <a:prstGeom prst="roundRect">
            <a:avLst>
              <a:gd name="adj" fmla="val 2020"/>
            </a:avLst>
          </a:prstGeom>
          <a:solidFill>
            <a:srgbClr val="FFFFFF"/>
          </a:solidFill>
          <a:ln/>
        </p:spPr>
        <p:txBody>
          <a:bodyPr/>
          <a:lstStyle/>
          <a:p>
            <a:endParaRPr lang="en-US"/>
          </a:p>
        </p:txBody>
      </p:sp>
      <p:pic>
        <p:nvPicPr>
          <p:cNvPr id="5" name="Image 0" descr="Scatter of summer mean temperature against salinity range for each Ecology station, bubble size showing summer chlorophyll; Willapa Bay and Little Skookum have the largest salinity range, Sequim Bay is coolest, Mud Bay has the most chlorophyll"/>
          <p:cNvPicPr>
            <a:picLocks noChangeAspect="1"/>
          </p:cNvPicPr>
          <p:nvPr/>
        </p:nvPicPr>
        <p:blipFill>
          <a:blip r:embed="rId3"/>
          <a:srcRect l="-72" r="-72"/>
          <a:stretch/>
        </p:blipFill>
        <p:spPr>
          <a:xfrm>
            <a:off x="819150" y="1728391"/>
            <a:ext cx="6591300" cy="3759200"/>
          </a:xfrm>
          <a:prstGeom prst="roundRect">
            <a:avLst>
              <a:gd name="adj" fmla="val 1858"/>
            </a:avLst>
          </a:prstGeom>
        </p:spPr>
      </p:pic>
      <p:sp>
        <p:nvSpPr>
          <p:cNvPr id="6" name="Shape 3"/>
          <p:cNvSpPr/>
          <p:nvPr/>
        </p:nvSpPr>
        <p:spPr>
          <a:xfrm>
            <a:off x="815975" y="1725216"/>
            <a:ext cx="6597650" cy="3765550"/>
          </a:xfrm>
          <a:prstGeom prst="roundRect">
            <a:avLst>
              <a:gd name="adj" fmla="val 1939"/>
            </a:avLst>
          </a:prstGeom>
          <a:noFill/>
          <a:ln w="6350">
            <a:solidFill>
              <a:srgbClr val="E2DED3"/>
            </a:solidFill>
            <a:prstDash val="solid"/>
          </a:ln>
        </p:spPr>
        <p:txBody>
          <a:bodyPr/>
          <a:lstStyle/>
          <a:p>
            <a:endParaRPr lang="en-US"/>
          </a:p>
        </p:txBody>
      </p:sp>
      <p:sp>
        <p:nvSpPr>
          <p:cNvPr id="7" name="Shape 4"/>
          <p:cNvSpPr/>
          <p:nvPr/>
        </p:nvSpPr>
        <p:spPr>
          <a:xfrm>
            <a:off x="7724775" y="1725216"/>
            <a:ext cx="3651250" cy="1121370"/>
          </a:xfrm>
          <a:prstGeom prst="roundRect">
            <a:avLst>
              <a:gd name="adj" fmla="val 6512"/>
            </a:avLst>
          </a:prstGeom>
          <a:solidFill>
            <a:srgbClr val="FBFAF6"/>
          </a:solidFill>
          <a:ln w="6350">
            <a:solidFill>
              <a:srgbClr val="E2DED3"/>
            </a:solidFill>
            <a:prstDash val="solid"/>
          </a:ln>
        </p:spPr>
        <p:txBody>
          <a:bodyPr/>
          <a:lstStyle/>
          <a:p>
            <a:endParaRPr lang="en-US"/>
          </a:p>
        </p:txBody>
      </p:sp>
      <p:sp>
        <p:nvSpPr>
          <p:cNvPr id="8" name="Text 5"/>
          <p:cNvSpPr/>
          <p:nvPr/>
        </p:nvSpPr>
        <p:spPr>
          <a:xfrm>
            <a:off x="7905750" y="1880791"/>
            <a:ext cx="338797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Summer temperature</a:t>
            </a:r>
            <a:endParaRPr lang="en-US" sz="1500" dirty="0"/>
          </a:p>
        </p:txBody>
      </p:sp>
      <p:sp>
        <p:nvSpPr>
          <p:cNvPr id="9" name="Text 6"/>
          <p:cNvSpPr/>
          <p:nvPr/>
        </p:nvSpPr>
        <p:spPr>
          <a:xfrm>
            <a:off x="7905750" y="2160191"/>
            <a:ext cx="3387979" cy="292100"/>
          </a:xfrm>
          <a:prstGeom prst="rect">
            <a:avLst/>
          </a:prstGeom>
          <a:noFill/>
          <a:ln/>
        </p:spPr>
        <p:txBody>
          <a:bodyPr wrap="square" lIns="0" tIns="0" rIns="0" bIns="0" rtlCol="0" anchor="t">
            <a:normAutofit/>
          </a:bodyPr>
          <a:lstStyle/>
          <a:p>
            <a:pPr marL="0" indent="0" algn="l">
              <a:lnSpc>
                <a:spcPts val="2100"/>
              </a:lnSpc>
              <a:buNone/>
            </a:pPr>
            <a:r>
              <a:rPr lang="en-US" sz="2000" b="1" dirty="0">
                <a:solidFill>
                  <a:srgbClr val="B35A17"/>
                </a:solidFill>
                <a:latin typeface="Source Serif 4" pitchFamily="18" charset="0"/>
                <a:ea typeface="Source Serif 4" pitchFamily="18" charset="-122"/>
                <a:cs typeface="Source Serif 4" pitchFamily="18" charset="-120"/>
              </a:rPr>
              <a:t>11.2–19.4 °C</a:t>
            </a:r>
            <a:endParaRPr lang="en-US" sz="2000" dirty="0"/>
          </a:p>
        </p:txBody>
      </p:sp>
      <p:sp>
        <p:nvSpPr>
          <p:cNvPr id="10" name="Text 7"/>
          <p:cNvSpPr/>
          <p:nvPr/>
        </p:nvSpPr>
        <p:spPr>
          <a:xfrm>
            <a:off x="7905750" y="2477691"/>
            <a:ext cx="33879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Sequim → North Bay</a:t>
            </a:r>
            <a:endParaRPr lang="en-US" sz="1200" dirty="0"/>
          </a:p>
        </p:txBody>
      </p:sp>
      <p:sp>
        <p:nvSpPr>
          <p:cNvPr id="11" name="Shape 8"/>
          <p:cNvSpPr/>
          <p:nvPr/>
        </p:nvSpPr>
        <p:spPr>
          <a:xfrm>
            <a:off x="7724775" y="2954536"/>
            <a:ext cx="3651250" cy="1121370"/>
          </a:xfrm>
          <a:prstGeom prst="roundRect">
            <a:avLst>
              <a:gd name="adj" fmla="val 6512"/>
            </a:avLst>
          </a:prstGeom>
          <a:solidFill>
            <a:srgbClr val="FBFAF6"/>
          </a:solidFill>
          <a:ln w="6350">
            <a:solidFill>
              <a:srgbClr val="E2DED3"/>
            </a:solidFill>
            <a:prstDash val="solid"/>
          </a:ln>
        </p:spPr>
        <p:txBody>
          <a:bodyPr/>
          <a:lstStyle/>
          <a:p>
            <a:endParaRPr lang="en-US"/>
          </a:p>
        </p:txBody>
      </p:sp>
      <p:sp>
        <p:nvSpPr>
          <p:cNvPr id="12" name="Text 9"/>
          <p:cNvSpPr/>
          <p:nvPr/>
        </p:nvSpPr>
        <p:spPr>
          <a:xfrm>
            <a:off x="7905750" y="3110111"/>
            <a:ext cx="338797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Salinity range</a:t>
            </a:r>
            <a:endParaRPr lang="en-US" sz="1500" dirty="0"/>
          </a:p>
        </p:txBody>
      </p:sp>
      <p:sp>
        <p:nvSpPr>
          <p:cNvPr id="13" name="Text 10"/>
          <p:cNvSpPr/>
          <p:nvPr/>
        </p:nvSpPr>
        <p:spPr>
          <a:xfrm>
            <a:off x="7905750" y="3389511"/>
            <a:ext cx="3387979" cy="292100"/>
          </a:xfrm>
          <a:prstGeom prst="rect">
            <a:avLst/>
          </a:prstGeom>
          <a:noFill/>
          <a:ln/>
        </p:spPr>
        <p:txBody>
          <a:bodyPr wrap="square" lIns="0" tIns="0" rIns="0" bIns="0" rtlCol="0" anchor="t">
            <a:normAutofit/>
          </a:bodyPr>
          <a:lstStyle/>
          <a:p>
            <a:pPr marL="0" indent="0" algn="l">
              <a:lnSpc>
                <a:spcPts val="2100"/>
              </a:lnSpc>
              <a:buNone/>
            </a:pPr>
            <a:r>
              <a:rPr lang="en-US" sz="2000" b="1" dirty="0">
                <a:solidFill>
                  <a:srgbClr val="B35A17"/>
                </a:solidFill>
                <a:latin typeface="Source Serif 4" pitchFamily="18" charset="0"/>
                <a:ea typeface="Source Serif 4" pitchFamily="18" charset="-122"/>
                <a:cs typeface="Source Serif 4" pitchFamily="18" charset="-120"/>
              </a:rPr>
              <a:t>1.7–10.2 PSU</a:t>
            </a:r>
            <a:endParaRPr lang="en-US" sz="2000" dirty="0"/>
          </a:p>
        </p:txBody>
      </p:sp>
      <p:sp>
        <p:nvSpPr>
          <p:cNvPr id="14" name="Text 11"/>
          <p:cNvSpPr/>
          <p:nvPr/>
        </p:nvSpPr>
        <p:spPr>
          <a:xfrm>
            <a:off x="7905750" y="3707011"/>
            <a:ext cx="33879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Sequim → Willapa Bay</a:t>
            </a:r>
            <a:endParaRPr lang="en-US" sz="1200" dirty="0"/>
          </a:p>
        </p:txBody>
      </p:sp>
      <p:sp>
        <p:nvSpPr>
          <p:cNvPr id="15" name="Shape 12"/>
          <p:cNvSpPr/>
          <p:nvPr/>
        </p:nvSpPr>
        <p:spPr>
          <a:xfrm>
            <a:off x="7724775" y="4183856"/>
            <a:ext cx="3651250" cy="1121370"/>
          </a:xfrm>
          <a:prstGeom prst="roundRect">
            <a:avLst>
              <a:gd name="adj" fmla="val 6512"/>
            </a:avLst>
          </a:prstGeom>
          <a:solidFill>
            <a:srgbClr val="FBFAF6"/>
          </a:solidFill>
          <a:ln w="6350">
            <a:solidFill>
              <a:srgbClr val="E2DED3"/>
            </a:solidFill>
            <a:prstDash val="solid"/>
          </a:ln>
        </p:spPr>
        <p:txBody>
          <a:bodyPr/>
          <a:lstStyle/>
          <a:p>
            <a:endParaRPr lang="en-US"/>
          </a:p>
        </p:txBody>
      </p:sp>
      <p:sp>
        <p:nvSpPr>
          <p:cNvPr id="16" name="Text 13"/>
          <p:cNvSpPr/>
          <p:nvPr/>
        </p:nvSpPr>
        <p:spPr>
          <a:xfrm>
            <a:off x="7905750" y="4339431"/>
            <a:ext cx="338797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Summer chlorophyll</a:t>
            </a:r>
            <a:endParaRPr lang="en-US" sz="1500" dirty="0"/>
          </a:p>
        </p:txBody>
      </p:sp>
      <p:sp>
        <p:nvSpPr>
          <p:cNvPr id="17" name="Text 14"/>
          <p:cNvSpPr/>
          <p:nvPr/>
        </p:nvSpPr>
        <p:spPr>
          <a:xfrm>
            <a:off x="7905750" y="4618831"/>
            <a:ext cx="3387979" cy="292100"/>
          </a:xfrm>
          <a:prstGeom prst="rect">
            <a:avLst/>
          </a:prstGeom>
          <a:noFill/>
          <a:ln/>
        </p:spPr>
        <p:txBody>
          <a:bodyPr wrap="square" lIns="0" tIns="0" rIns="0" bIns="0" rtlCol="0" anchor="t">
            <a:normAutofit/>
          </a:bodyPr>
          <a:lstStyle/>
          <a:p>
            <a:pPr marL="0" indent="0" algn="l">
              <a:lnSpc>
                <a:spcPts val="2100"/>
              </a:lnSpc>
              <a:buNone/>
            </a:pPr>
            <a:r>
              <a:rPr lang="en-US" sz="2000" b="1" dirty="0">
                <a:solidFill>
                  <a:srgbClr val="B35A17"/>
                </a:solidFill>
                <a:latin typeface="Source Serif 4" pitchFamily="18" charset="0"/>
                <a:ea typeface="Source Serif 4" pitchFamily="18" charset="-122"/>
                <a:cs typeface="Source Serif 4" pitchFamily="18" charset="-120"/>
              </a:rPr>
              <a:t>2.4–51 mg m⁻³</a:t>
            </a:r>
            <a:endParaRPr lang="en-US" sz="2000" dirty="0"/>
          </a:p>
        </p:txBody>
      </p:sp>
      <p:sp>
        <p:nvSpPr>
          <p:cNvPr id="18" name="Text 15"/>
          <p:cNvSpPr/>
          <p:nvPr/>
        </p:nvSpPr>
        <p:spPr>
          <a:xfrm>
            <a:off x="7905750" y="4936331"/>
            <a:ext cx="33879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Sequim → Mud Bay</a:t>
            </a:r>
            <a:endParaRPr lang="en-US" sz="1200" dirty="0"/>
          </a:p>
        </p:txBody>
      </p:sp>
      <p:sp>
        <p:nvSpPr>
          <p:cNvPr id="19" name="Text 16"/>
          <p:cNvSpPr/>
          <p:nvPr/>
        </p:nvSpPr>
        <p:spPr>
          <a:xfrm>
            <a:off x="812800" y="5511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Kept from 6 candidates (VIF ≤ 2.2). 14 sites on 10 Ecology stations; Coos Bay (temperature only) is left out of the environment model.</a:t>
            </a:r>
            <a:endParaRPr lang="en-US" sz="1200" dirty="0"/>
          </a:p>
        </p:txBody>
      </p:sp>
      <p:sp>
        <p:nvSpPr>
          <p:cNvPr id="20" name="Text 1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Bengtsson, Martinelli &amp; Roberts · Olympia oyster lc-WGS</a:t>
            </a:r>
            <a:endParaRPr lang="en-US" sz="1200" dirty="0"/>
          </a:p>
        </p:txBody>
      </p:sp>
      <p:sp>
        <p:nvSpPr>
          <p:cNvPr id="21" name="Text 1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35A17"/>
                </a:solidFill>
                <a:latin typeface="IBM Plex Sans" pitchFamily="34" charset="0"/>
                <a:ea typeface="IBM Plex Sans" pitchFamily="34" charset="-122"/>
                <a:cs typeface="IBM Plex Sans" pitchFamily="34" charset="-120"/>
              </a:rPr>
              <a:t>REDUNDANCY ANALYSIS</a:t>
            </a:r>
            <a:endParaRPr lang="en-US" sz="1200" dirty="0"/>
          </a:p>
        </p:txBody>
      </p:sp>
      <p:sp>
        <p:nvSpPr>
          <p:cNvPr id="3" name="Text 1"/>
          <p:cNvSpPr>
            <a:spLocks noGrp="1"/>
          </p:cNvSpPr>
          <p:nvPr>
            <p:ph type="title"/>
          </p:nvPr>
        </p:nvSpPr>
        <p:spPr>
          <a:xfrm>
            <a:off x="812800" y="1076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303A"/>
                </a:solidFill>
                <a:latin typeface="Source Serif 4" pitchFamily="18" charset="0"/>
                <a:ea typeface="Source Serif 4" pitchFamily="18" charset="-122"/>
                <a:cs typeface="Source Serif 4" pitchFamily="18" charset="-120"/>
              </a:rPr>
              <a:t>Structure and geography outweigh environment</a:t>
            </a:r>
            <a:endParaRPr lang="en-US" sz="2800" dirty="0"/>
          </a:p>
        </p:txBody>
      </p:sp>
      <p:sp>
        <p:nvSpPr>
          <p:cNvPr id="4" name="Text 2"/>
          <p:cNvSpPr/>
          <p:nvPr/>
        </p:nvSpPr>
        <p:spPr>
          <a:xfrm>
            <a:off x="812800" y="1722041"/>
            <a:ext cx="313944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303A"/>
                </a:solidFill>
                <a:latin typeface="IBM Plex Sans" pitchFamily="34" charset="0"/>
                <a:ea typeface="IBM Plex Sans" pitchFamily="34" charset="-122"/>
                <a:cs typeface="IBM Plex Sans" pitchFamily="34" charset="-120"/>
              </a:rPr>
              <a:t>Full model</a:t>
            </a:r>
            <a:endParaRPr lang="en-US" sz="1500" dirty="0"/>
          </a:p>
        </p:txBody>
      </p:sp>
      <p:sp>
        <p:nvSpPr>
          <p:cNvPr id="5" name="Shape 3"/>
          <p:cNvSpPr/>
          <p:nvPr/>
        </p:nvSpPr>
        <p:spPr>
          <a:xfrm>
            <a:off x="4013200" y="1728391"/>
            <a:ext cx="4318000" cy="254000"/>
          </a:xfrm>
          <a:prstGeom prst="roundRect">
            <a:avLst>
              <a:gd name="adj" fmla="val 10000"/>
            </a:avLst>
          </a:prstGeom>
          <a:solidFill>
            <a:srgbClr val="14303A"/>
          </a:solidFill>
          <a:ln/>
        </p:spPr>
        <p:txBody>
          <a:bodyPr/>
          <a:lstStyle/>
          <a:p>
            <a:endParaRPr lang="en-US"/>
          </a:p>
        </p:txBody>
      </p:sp>
      <p:sp>
        <p:nvSpPr>
          <p:cNvPr id="6" name="Text 4"/>
          <p:cNvSpPr/>
          <p:nvPr/>
        </p:nvSpPr>
        <p:spPr>
          <a:xfrm>
            <a:off x="8686800" y="1722041"/>
            <a:ext cx="939800" cy="292100"/>
          </a:xfrm>
          <a:prstGeom prst="rect">
            <a:avLst/>
          </a:prstGeom>
          <a:noFill/>
          <a:ln/>
        </p:spPr>
        <p:txBody>
          <a:bodyPr wrap="square" lIns="0" tIns="0" rIns="0" bIns="0" rtlCol="0" anchor="t">
            <a:normAutofit/>
          </a:bodyPr>
          <a:lstStyle/>
          <a:p>
            <a:pPr marL="0" indent="0" algn="r">
              <a:lnSpc>
                <a:spcPts val="2100"/>
              </a:lnSpc>
              <a:buNone/>
            </a:pPr>
            <a:r>
              <a:rPr lang="en-US" sz="1500" b="1" dirty="0">
                <a:solidFill>
                  <a:srgbClr val="14303A"/>
                </a:solidFill>
                <a:latin typeface="IBM Plex Sans" pitchFamily="34" charset="0"/>
                <a:ea typeface="IBM Plex Sans" pitchFamily="34" charset="-122"/>
                <a:cs typeface="IBM Plex Sans" pitchFamily="34" charset="-120"/>
              </a:rPr>
              <a:t>15.1%</a:t>
            </a:r>
            <a:endParaRPr lang="en-US" sz="1500" dirty="0"/>
          </a:p>
        </p:txBody>
      </p:sp>
      <p:sp>
        <p:nvSpPr>
          <p:cNvPr id="7" name="Text 5"/>
          <p:cNvSpPr/>
          <p:nvPr/>
        </p:nvSpPr>
        <p:spPr>
          <a:xfrm>
            <a:off x="812800" y="2166541"/>
            <a:ext cx="313944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303A"/>
                </a:solidFill>
                <a:latin typeface="IBM Plex Sans" pitchFamily="34" charset="0"/>
                <a:ea typeface="IBM Plex Sans" pitchFamily="34" charset="-122"/>
                <a:cs typeface="IBM Plex Sans" pitchFamily="34" charset="-120"/>
              </a:rPr>
              <a:t>Structure (PC1 + PC2)</a:t>
            </a:r>
            <a:endParaRPr lang="en-US" sz="1500" dirty="0"/>
          </a:p>
        </p:txBody>
      </p:sp>
      <p:sp>
        <p:nvSpPr>
          <p:cNvPr id="8" name="Shape 6"/>
          <p:cNvSpPr/>
          <p:nvPr/>
        </p:nvSpPr>
        <p:spPr>
          <a:xfrm>
            <a:off x="4013200" y="2172891"/>
            <a:ext cx="4000500" cy="254000"/>
          </a:xfrm>
          <a:prstGeom prst="roundRect">
            <a:avLst>
              <a:gd name="adj" fmla="val 10000"/>
            </a:avLst>
          </a:prstGeom>
          <a:solidFill>
            <a:srgbClr val="2E6E7E"/>
          </a:solidFill>
          <a:ln/>
        </p:spPr>
        <p:txBody>
          <a:bodyPr/>
          <a:lstStyle/>
          <a:p>
            <a:endParaRPr lang="en-US"/>
          </a:p>
        </p:txBody>
      </p:sp>
      <p:sp>
        <p:nvSpPr>
          <p:cNvPr id="9" name="Text 7"/>
          <p:cNvSpPr/>
          <p:nvPr/>
        </p:nvSpPr>
        <p:spPr>
          <a:xfrm>
            <a:off x="8686800" y="2166541"/>
            <a:ext cx="939800" cy="292100"/>
          </a:xfrm>
          <a:prstGeom prst="rect">
            <a:avLst/>
          </a:prstGeom>
          <a:noFill/>
          <a:ln/>
        </p:spPr>
        <p:txBody>
          <a:bodyPr wrap="square" lIns="0" tIns="0" rIns="0" bIns="0" rtlCol="0" anchor="t">
            <a:normAutofit/>
          </a:bodyPr>
          <a:lstStyle/>
          <a:p>
            <a:pPr marL="0" indent="0" algn="r">
              <a:lnSpc>
                <a:spcPts val="2100"/>
              </a:lnSpc>
              <a:buNone/>
            </a:pPr>
            <a:r>
              <a:rPr lang="en-US" sz="1500" b="1" dirty="0">
                <a:solidFill>
                  <a:srgbClr val="14303A"/>
                </a:solidFill>
                <a:latin typeface="IBM Plex Sans" pitchFamily="34" charset="0"/>
                <a:ea typeface="IBM Plex Sans" pitchFamily="34" charset="-122"/>
                <a:cs typeface="IBM Plex Sans" pitchFamily="34" charset="-120"/>
              </a:rPr>
              <a:t>14.0%</a:t>
            </a:r>
            <a:endParaRPr lang="en-US" sz="1500" dirty="0"/>
          </a:p>
        </p:txBody>
      </p:sp>
      <p:sp>
        <p:nvSpPr>
          <p:cNvPr id="10" name="Text 8"/>
          <p:cNvSpPr/>
          <p:nvPr/>
        </p:nvSpPr>
        <p:spPr>
          <a:xfrm>
            <a:off x="9779000" y="2193230"/>
            <a:ext cx="1651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p = 0.001</a:t>
            </a:r>
            <a:endParaRPr lang="en-US" sz="1200" dirty="0"/>
          </a:p>
        </p:txBody>
      </p:sp>
      <p:sp>
        <p:nvSpPr>
          <p:cNvPr id="11" name="Text 9"/>
          <p:cNvSpPr/>
          <p:nvPr/>
        </p:nvSpPr>
        <p:spPr>
          <a:xfrm>
            <a:off x="812800" y="2611041"/>
            <a:ext cx="313944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303A"/>
                </a:solidFill>
                <a:latin typeface="IBM Plex Sans" pitchFamily="34" charset="0"/>
                <a:ea typeface="IBM Plex Sans" pitchFamily="34" charset="-122"/>
                <a:cs typeface="IBM Plex Sans" pitchFamily="34" charset="-120"/>
              </a:rPr>
              <a:t>Geography (dbMEM)</a:t>
            </a:r>
            <a:endParaRPr lang="en-US" sz="1500" dirty="0"/>
          </a:p>
        </p:txBody>
      </p:sp>
      <p:sp>
        <p:nvSpPr>
          <p:cNvPr id="12" name="Shape 10"/>
          <p:cNvSpPr/>
          <p:nvPr/>
        </p:nvSpPr>
        <p:spPr>
          <a:xfrm>
            <a:off x="4013200" y="2617391"/>
            <a:ext cx="1803400" cy="254000"/>
          </a:xfrm>
          <a:prstGeom prst="roundRect">
            <a:avLst>
              <a:gd name="adj" fmla="val 10000"/>
            </a:avLst>
          </a:prstGeom>
          <a:solidFill>
            <a:srgbClr val="2E6E7E"/>
          </a:solidFill>
          <a:ln/>
        </p:spPr>
        <p:txBody>
          <a:bodyPr/>
          <a:lstStyle/>
          <a:p>
            <a:endParaRPr lang="en-US"/>
          </a:p>
        </p:txBody>
      </p:sp>
      <p:sp>
        <p:nvSpPr>
          <p:cNvPr id="13" name="Text 11"/>
          <p:cNvSpPr/>
          <p:nvPr/>
        </p:nvSpPr>
        <p:spPr>
          <a:xfrm>
            <a:off x="8686800" y="2611041"/>
            <a:ext cx="939800" cy="292100"/>
          </a:xfrm>
          <a:prstGeom prst="rect">
            <a:avLst/>
          </a:prstGeom>
          <a:noFill/>
          <a:ln/>
        </p:spPr>
        <p:txBody>
          <a:bodyPr wrap="square" lIns="0" tIns="0" rIns="0" bIns="0" rtlCol="0" anchor="t">
            <a:normAutofit/>
          </a:bodyPr>
          <a:lstStyle/>
          <a:p>
            <a:pPr marL="0" indent="0" algn="r">
              <a:lnSpc>
                <a:spcPts val="2100"/>
              </a:lnSpc>
              <a:buNone/>
            </a:pPr>
            <a:r>
              <a:rPr lang="en-US" sz="1500" b="1" dirty="0">
                <a:solidFill>
                  <a:srgbClr val="14303A"/>
                </a:solidFill>
                <a:latin typeface="IBM Plex Sans" pitchFamily="34" charset="0"/>
                <a:ea typeface="IBM Plex Sans" pitchFamily="34" charset="-122"/>
                <a:cs typeface="IBM Plex Sans" pitchFamily="34" charset="-120"/>
              </a:rPr>
              <a:t>6.3%</a:t>
            </a:r>
            <a:endParaRPr lang="en-US" sz="1500" dirty="0"/>
          </a:p>
        </p:txBody>
      </p:sp>
      <p:sp>
        <p:nvSpPr>
          <p:cNvPr id="14" name="Text 12"/>
          <p:cNvSpPr/>
          <p:nvPr/>
        </p:nvSpPr>
        <p:spPr>
          <a:xfrm>
            <a:off x="9779000" y="2637730"/>
            <a:ext cx="1651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p = 0.003</a:t>
            </a:r>
            <a:endParaRPr lang="en-US" sz="1200" dirty="0"/>
          </a:p>
        </p:txBody>
      </p:sp>
      <p:sp>
        <p:nvSpPr>
          <p:cNvPr id="15" name="Text 13"/>
          <p:cNvSpPr/>
          <p:nvPr/>
        </p:nvSpPr>
        <p:spPr>
          <a:xfrm>
            <a:off x="812800" y="3055541"/>
            <a:ext cx="313944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303A"/>
                </a:solidFill>
                <a:latin typeface="IBM Plex Sans" pitchFamily="34" charset="0"/>
                <a:ea typeface="IBM Plex Sans" pitchFamily="34" charset="-122"/>
                <a:cs typeface="IBM Plex Sans" pitchFamily="34" charset="-120"/>
              </a:rPr>
              <a:t>Collection year (2018 vs 2024)</a:t>
            </a:r>
            <a:endParaRPr lang="en-US" sz="1500" dirty="0"/>
          </a:p>
        </p:txBody>
      </p:sp>
      <p:sp>
        <p:nvSpPr>
          <p:cNvPr id="16" name="Shape 14"/>
          <p:cNvSpPr/>
          <p:nvPr/>
        </p:nvSpPr>
        <p:spPr>
          <a:xfrm>
            <a:off x="4013200" y="3061891"/>
            <a:ext cx="171450" cy="254000"/>
          </a:xfrm>
          <a:prstGeom prst="roundRect">
            <a:avLst>
              <a:gd name="adj" fmla="val 14815"/>
            </a:avLst>
          </a:prstGeom>
          <a:solidFill>
            <a:srgbClr val="8A9499"/>
          </a:solidFill>
          <a:ln/>
        </p:spPr>
        <p:txBody>
          <a:bodyPr/>
          <a:lstStyle/>
          <a:p>
            <a:endParaRPr lang="en-US"/>
          </a:p>
        </p:txBody>
      </p:sp>
      <p:sp>
        <p:nvSpPr>
          <p:cNvPr id="17" name="Text 15"/>
          <p:cNvSpPr/>
          <p:nvPr/>
        </p:nvSpPr>
        <p:spPr>
          <a:xfrm>
            <a:off x="8686800" y="3055541"/>
            <a:ext cx="939800" cy="292100"/>
          </a:xfrm>
          <a:prstGeom prst="rect">
            <a:avLst/>
          </a:prstGeom>
          <a:noFill/>
          <a:ln/>
        </p:spPr>
        <p:txBody>
          <a:bodyPr wrap="square" lIns="0" tIns="0" rIns="0" bIns="0" rtlCol="0" anchor="t">
            <a:normAutofit/>
          </a:bodyPr>
          <a:lstStyle/>
          <a:p>
            <a:pPr marL="0" indent="0" algn="r">
              <a:lnSpc>
                <a:spcPts val="2100"/>
              </a:lnSpc>
              <a:buNone/>
            </a:pPr>
            <a:r>
              <a:rPr lang="en-US" sz="1500" b="1" dirty="0">
                <a:solidFill>
                  <a:srgbClr val="14303A"/>
                </a:solidFill>
                <a:latin typeface="IBM Plex Sans" pitchFamily="34" charset="0"/>
                <a:ea typeface="IBM Plex Sans" pitchFamily="34" charset="-122"/>
                <a:cs typeface="IBM Plex Sans" pitchFamily="34" charset="-120"/>
              </a:rPr>
              <a:t>0.6%</a:t>
            </a:r>
            <a:endParaRPr lang="en-US" sz="1500" dirty="0"/>
          </a:p>
        </p:txBody>
      </p:sp>
      <p:sp>
        <p:nvSpPr>
          <p:cNvPr id="18" name="Text 16"/>
          <p:cNvSpPr/>
          <p:nvPr/>
        </p:nvSpPr>
        <p:spPr>
          <a:xfrm>
            <a:off x="9779000" y="3082230"/>
            <a:ext cx="1651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p = 0.19, n.s.</a:t>
            </a:r>
            <a:endParaRPr lang="en-US" sz="1200" dirty="0"/>
          </a:p>
        </p:txBody>
      </p:sp>
      <p:sp>
        <p:nvSpPr>
          <p:cNvPr id="19" name="Text 17"/>
          <p:cNvSpPr/>
          <p:nvPr/>
        </p:nvSpPr>
        <p:spPr>
          <a:xfrm>
            <a:off x="812800" y="3500041"/>
            <a:ext cx="313944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303A"/>
                </a:solidFill>
                <a:latin typeface="IBM Plex Sans" pitchFamily="34" charset="0"/>
                <a:ea typeface="IBM Plex Sans" pitchFamily="34" charset="-122"/>
                <a:cs typeface="IBM Plex Sans" pitchFamily="34" charset="-120"/>
              </a:rPr>
              <a:t>Environment</a:t>
            </a:r>
            <a:endParaRPr lang="en-US" sz="1500" dirty="0"/>
          </a:p>
        </p:txBody>
      </p:sp>
      <p:sp>
        <p:nvSpPr>
          <p:cNvPr id="20" name="Shape 18"/>
          <p:cNvSpPr/>
          <p:nvPr/>
        </p:nvSpPr>
        <p:spPr>
          <a:xfrm>
            <a:off x="4013200" y="3506391"/>
            <a:ext cx="857250" cy="254000"/>
          </a:xfrm>
          <a:prstGeom prst="roundRect">
            <a:avLst>
              <a:gd name="adj" fmla="val 10000"/>
            </a:avLst>
          </a:prstGeom>
          <a:solidFill>
            <a:srgbClr val="C4661F"/>
          </a:solidFill>
          <a:ln/>
        </p:spPr>
        <p:txBody>
          <a:bodyPr/>
          <a:lstStyle/>
          <a:p>
            <a:endParaRPr lang="en-US"/>
          </a:p>
        </p:txBody>
      </p:sp>
      <p:sp>
        <p:nvSpPr>
          <p:cNvPr id="21" name="Text 19"/>
          <p:cNvSpPr/>
          <p:nvPr/>
        </p:nvSpPr>
        <p:spPr>
          <a:xfrm>
            <a:off x="8686800" y="3500041"/>
            <a:ext cx="939800" cy="292100"/>
          </a:xfrm>
          <a:prstGeom prst="rect">
            <a:avLst/>
          </a:prstGeom>
          <a:noFill/>
          <a:ln/>
        </p:spPr>
        <p:txBody>
          <a:bodyPr wrap="square" lIns="0" tIns="0" rIns="0" bIns="0" rtlCol="0" anchor="t">
            <a:normAutofit/>
          </a:bodyPr>
          <a:lstStyle/>
          <a:p>
            <a:pPr marL="0" indent="0" algn="r">
              <a:lnSpc>
                <a:spcPts val="2100"/>
              </a:lnSpc>
              <a:buNone/>
            </a:pPr>
            <a:r>
              <a:rPr lang="en-US" sz="1500" b="1" dirty="0">
                <a:solidFill>
                  <a:srgbClr val="14303A"/>
                </a:solidFill>
                <a:latin typeface="IBM Plex Sans" pitchFamily="34" charset="0"/>
                <a:ea typeface="IBM Plex Sans" pitchFamily="34" charset="-122"/>
                <a:cs typeface="IBM Plex Sans" pitchFamily="34" charset="-120"/>
              </a:rPr>
              <a:t>3.0%</a:t>
            </a:r>
            <a:endParaRPr lang="en-US" sz="1500" dirty="0"/>
          </a:p>
        </p:txBody>
      </p:sp>
      <p:sp>
        <p:nvSpPr>
          <p:cNvPr id="22" name="Text 20"/>
          <p:cNvSpPr/>
          <p:nvPr/>
        </p:nvSpPr>
        <p:spPr>
          <a:xfrm>
            <a:off x="9779000" y="3526730"/>
            <a:ext cx="1651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p = 0.16, n.s.</a:t>
            </a:r>
            <a:endParaRPr lang="en-US" sz="1200" dirty="0"/>
          </a:p>
        </p:txBody>
      </p:sp>
      <p:sp>
        <p:nvSpPr>
          <p:cNvPr id="23" name="Text 21"/>
          <p:cNvSpPr/>
          <p:nvPr/>
        </p:nvSpPr>
        <p:spPr>
          <a:xfrm>
            <a:off x="812800" y="3944541"/>
            <a:ext cx="313944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303A"/>
                </a:solidFill>
                <a:latin typeface="IBM Plex Sans" pitchFamily="34" charset="0"/>
                <a:ea typeface="IBM Plex Sans" pitchFamily="34" charset="-122"/>
                <a:cs typeface="IBM Plex Sans" pitchFamily="34" charset="-120"/>
              </a:rPr>
              <a:t>Environment | structure</a:t>
            </a:r>
            <a:endParaRPr lang="en-US" sz="1500" dirty="0"/>
          </a:p>
        </p:txBody>
      </p:sp>
      <p:sp>
        <p:nvSpPr>
          <p:cNvPr id="24" name="Shape 22"/>
          <p:cNvSpPr/>
          <p:nvPr/>
        </p:nvSpPr>
        <p:spPr>
          <a:xfrm>
            <a:off x="4013200" y="3950891"/>
            <a:ext cx="171450" cy="254000"/>
          </a:xfrm>
          <a:prstGeom prst="roundRect">
            <a:avLst>
              <a:gd name="adj" fmla="val 14815"/>
            </a:avLst>
          </a:prstGeom>
          <a:solidFill>
            <a:srgbClr val="E3B48C"/>
          </a:solidFill>
          <a:ln/>
        </p:spPr>
        <p:txBody>
          <a:bodyPr/>
          <a:lstStyle/>
          <a:p>
            <a:endParaRPr lang="en-US"/>
          </a:p>
        </p:txBody>
      </p:sp>
      <p:sp>
        <p:nvSpPr>
          <p:cNvPr id="25" name="Text 23"/>
          <p:cNvSpPr/>
          <p:nvPr/>
        </p:nvSpPr>
        <p:spPr>
          <a:xfrm>
            <a:off x="8686800" y="3944541"/>
            <a:ext cx="939800" cy="292100"/>
          </a:xfrm>
          <a:prstGeom prst="rect">
            <a:avLst/>
          </a:prstGeom>
          <a:noFill/>
          <a:ln/>
        </p:spPr>
        <p:txBody>
          <a:bodyPr wrap="square" lIns="0" tIns="0" rIns="0" bIns="0" rtlCol="0" anchor="t">
            <a:normAutofit/>
          </a:bodyPr>
          <a:lstStyle/>
          <a:p>
            <a:pPr marL="0" indent="0" algn="r">
              <a:lnSpc>
                <a:spcPts val="2100"/>
              </a:lnSpc>
              <a:buNone/>
            </a:pPr>
            <a:r>
              <a:rPr lang="en-US" sz="1500" b="1" dirty="0">
                <a:solidFill>
                  <a:srgbClr val="14303A"/>
                </a:solidFill>
                <a:latin typeface="IBM Plex Sans" pitchFamily="34" charset="0"/>
                <a:ea typeface="IBM Plex Sans" pitchFamily="34" charset="-122"/>
                <a:cs typeface="IBM Plex Sans" pitchFamily="34" charset="-120"/>
              </a:rPr>
              <a:t>0.6%</a:t>
            </a:r>
            <a:endParaRPr lang="en-US" sz="1500" dirty="0"/>
          </a:p>
        </p:txBody>
      </p:sp>
      <p:sp>
        <p:nvSpPr>
          <p:cNvPr id="26" name="Text 24"/>
          <p:cNvSpPr/>
          <p:nvPr/>
        </p:nvSpPr>
        <p:spPr>
          <a:xfrm>
            <a:off x="9779000" y="3971230"/>
            <a:ext cx="1651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p = 0.36, n.s.</a:t>
            </a:r>
            <a:endParaRPr lang="en-US" sz="1200" dirty="0"/>
          </a:p>
        </p:txBody>
      </p:sp>
      <p:sp>
        <p:nvSpPr>
          <p:cNvPr id="27" name="Text 25"/>
          <p:cNvSpPr/>
          <p:nvPr/>
        </p:nvSpPr>
        <p:spPr>
          <a:xfrm>
            <a:off x="812800" y="4389041"/>
            <a:ext cx="313944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303A"/>
                </a:solidFill>
                <a:latin typeface="IBM Plex Sans" pitchFamily="34" charset="0"/>
                <a:ea typeface="IBM Plex Sans" pitchFamily="34" charset="-122"/>
                <a:cs typeface="IBM Plex Sans" pitchFamily="34" charset="-120"/>
              </a:rPr>
              <a:t>Environment | geography</a:t>
            </a:r>
            <a:endParaRPr lang="en-US" sz="1500" dirty="0"/>
          </a:p>
        </p:txBody>
      </p:sp>
      <p:sp>
        <p:nvSpPr>
          <p:cNvPr id="28" name="Shape 26"/>
          <p:cNvSpPr/>
          <p:nvPr/>
        </p:nvSpPr>
        <p:spPr>
          <a:xfrm>
            <a:off x="4013200" y="4395391"/>
            <a:ext cx="25400" cy="254000"/>
          </a:xfrm>
          <a:prstGeom prst="rect">
            <a:avLst/>
          </a:prstGeom>
          <a:solidFill>
            <a:srgbClr val="5B6B70"/>
          </a:solidFill>
          <a:ln/>
        </p:spPr>
        <p:txBody>
          <a:bodyPr/>
          <a:lstStyle/>
          <a:p>
            <a:endParaRPr lang="en-US"/>
          </a:p>
        </p:txBody>
      </p:sp>
      <p:sp>
        <p:nvSpPr>
          <p:cNvPr id="29" name="Text 27"/>
          <p:cNvSpPr/>
          <p:nvPr/>
        </p:nvSpPr>
        <p:spPr>
          <a:xfrm>
            <a:off x="8686800" y="4389041"/>
            <a:ext cx="939800" cy="292100"/>
          </a:xfrm>
          <a:prstGeom prst="rect">
            <a:avLst/>
          </a:prstGeom>
          <a:noFill/>
          <a:ln/>
        </p:spPr>
        <p:txBody>
          <a:bodyPr wrap="square" lIns="0" tIns="0" rIns="0" bIns="0" rtlCol="0" anchor="t">
            <a:normAutofit/>
          </a:bodyPr>
          <a:lstStyle/>
          <a:p>
            <a:pPr marL="0" indent="0" algn="r">
              <a:lnSpc>
                <a:spcPts val="2100"/>
              </a:lnSpc>
              <a:buNone/>
            </a:pPr>
            <a:r>
              <a:rPr lang="en-US" sz="1500" b="1" dirty="0">
                <a:solidFill>
                  <a:srgbClr val="14303A"/>
                </a:solidFill>
                <a:latin typeface="IBM Plex Sans" pitchFamily="34" charset="0"/>
                <a:ea typeface="IBM Plex Sans" pitchFamily="34" charset="-122"/>
                <a:cs typeface="IBM Plex Sans" pitchFamily="34" charset="-120"/>
              </a:rPr>
              <a:t>−2.8%</a:t>
            </a:r>
            <a:endParaRPr lang="en-US" sz="1500" dirty="0"/>
          </a:p>
        </p:txBody>
      </p:sp>
      <p:sp>
        <p:nvSpPr>
          <p:cNvPr id="30" name="Text 28"/>
          <p:cNvSpPr/>
          <p:nvPr/>
        </p:nvSpPr>
        <p:spPr>
          <a:xfrm>
            <a:off x="9779000" y="4415730"/>
            <a:ext cx="1651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p = 0.92, n.s.</a:t>
            </a:r>
            <a:endParaRPr lang="en-US" sz="1200" dirty="0"/>
          </a:p>
        </p:txBody>
      </p:sp>
      <p:sp>
        <p:nvSpPr>
          <p:cNvPr id="31" name="Text 29"/>
          <p:cNvSpPr/>
          <p:nvPr/>
        </p:nvSpPr>
        <p:spPr>
          <a:xfrm>
            <a:off x="812800" y="56286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Adjusted R² of RDA models on population allele frequencies · 14 site units · 7.26 M SNPs · “|” = after conditioning</a:t>
            </a:r>
            <a:endParaRPr lang="en-US" sz="1200" dirty="0"/>
          </a:p>
        </p:txBody>
      </p:sp>
      <p:sp>
        <p:nvSpPr>
          <p:cNvPr id="32" name="Text 3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Bengtsson, Martinelli &amp; Roberts · Olympia oyster lc-WGS</a:t>
            </a:r>
            <a:endParaRPr lang="en-US" sz="1200" dirty="0"/>
          </a:p>
        </p:txBody>
      </p:sp>
      <p:sp>
        <p:nvSpPr>
          <p:cNvPr id="33" name="Text 3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A9561A"/>
                </a:solidFill>
                <a:latin typeface="Nunito Sans" pitchFamily="34" charset="0"/>
                <a:ea typeface="Nunito Sans" pitchFamily="34" charset="-122"/>
                <a:cs typeface="Nunito Sans" pitchFamily="34" charset="-120"/>
              </a:rPr>
              <a:t>FINDING 4</a:t>
            </a:r>
            <a:endParaRPr lang="en-US" sz="1300" dirty="0"/>
          </a:p>
        </p:txBody>
      </p:sp>
      <p:sp>
        <p:nvSpPr>
          <p:cNvPr id="3" name="Text 1"/>
          <p:cNvSpPr>
            <a:spLocks noGrp="1"/>
          </p:cNvSpPr>
          <p:nvPr>
            <p:ph type="title"/>
          </p:nvPr>
        </p:nvSpPr>
        <p:spPr>
          <a:xfrm>
            <a:off x="812800" y="1107380"/>
            <a:ext cx="10883392" cy="430510"/>
          </a:xfrm>
          <a:prstGeom prst="rect">
            <a:avLst/>
          </a:prstGeom>
          <a:noFill/>
          <a:ln/>
        </p:spPr>
        <p:txBody>
          <a:bodyPr wrap="square" lIns="0" tIns="0" rIns="0" bIns="0" rtlCol="0" anchor="t">
            <a:normAutofit/>
          </a:bodyPr>
          <a:lstStyle/>
          <a:p>
            <a:pPr marL="0" indent="0" algn="l">
              <a:lnSpc>
                <a:spcPts val="3190"/>
              </a:lnSpc>
              <a:buNone/>
            </a:pPr>
            <a:r>
              <a:rPr lang="en-US" sz="2900" b="1" i="0" dirty="0">
                <a:solidFill>
                  <a:srgbClr val="1F3B4D"/>
                </a:solidFill>
                <a:latin typeface="Domine" pitchFamily="18" charset="0"/>
                <a:ea typeface="Domine" pitchFamily="18" charset="-122"/>
                <a:cs typeface="Domine" pitchFamily="18" charset="-120"/>
              </a:rPr>
              <a:t>No clear “local adaptation” genes yet</a:t>
            </a:r>
            <a:endParaRPr lang="en-US" sz="2900" dirty="0"/>
          </a:p>
        </p:txBody>
      </p:sp>
      <p:sp>
        <p:nvSpPr>
          <p:cNvPr id="4" name="Shape 2"/>
          <p:cNvSpPr/>
          <p:nvPr/>
        </p:nvSpPr>
        <p:spPr>
          <a:xfrm>
            <a:off x="815975" y="1795066"/>
            <a:ext cx="3380284" cy="2210792"/>
          </a:xfrm>
          <a:prstGeom prst="roundRect">
            <a:avLst>
              <a:gd name="adj" fmla="val 4452"/>
            </a:avLst>
          </a:prstGeom>
          <a:solidFill>
            <a:srgbClr val="FBF9F4"/>
          </a:solidFill>
          <a:ln w="6350">
            <a:solidFill>
              <a:srgbClr val="DDD8CC"/>
            </a:solidFill>
            <a:prstDash val="solid"/>
          </a:ln>
        </p:spPr>
        <p:txBody>
          <a:bodyPr/>
          <a:lstStyle/>
          <a:p>
            <a:endParaRPr lang="en-US"/>
          </a:p>
        </p:txBody>
      </p:sp>
      <p:sp>
        <p:nvSpPr>
          <p:cNvPr id="5" name="Text 3"/>
          <p:cNvSpPr/>
          <p:nvPr/>
        </p:nvSpPr>
        <p:spPr>
          <a:xfrm>
            <a:off x="1047750" y="2001441"/>
            <a:ext cx="3004236" cy="66546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A9561A"/>
                </a:solidFill>
                <a:latin typeface="Domine" pitchFamily="18" charset="0"/>
                <a:ea typeface="Domine" pitchFamily="18" charset="-122"/>
                <a:cs typeface="Domine" pitchFamily="18" charset="-120"/>
              </a:rPr>
              <a:t>0</a:t>
            </a:r>
            <a:endParaRPr lang="en-US" sz="4800" dirty="0"/>
          </a:p>
        </p:txBody>
      </p:sp>
      <p:sp>
        <p:nvSpPr>
          <p:cNvPr id="6" name="Text 4"/>
          <p:cNvSpPr/>
          <p:nvPr/>
        </p:nvSpPr>
        <p:spPr>
          <a:xfrm>
            <a:off x="1047750" y="2717701"/>
            <a:ext cx="300423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F3B4D"/>
                </a:solidFill>
                <a:latin typeface="Nunito Sans" pitchFamily="34" charset="0"/>
                <a:ea typeface="Nunito Sans" pitchFamily="34" charset="-122"/>
                <a:cs typeface="Nunito Sans" pitchFamily="34" charset="-120"/>
              </a:rPr>
              <a:t>standout markers</a:t>
            </a:r>
            <a:endParaRPr lang="en-US" sz="1700" dirty="0"/>
          </a:p>
        </p:txBody>
      </p:sp>
      <p:sp>
        <p:nvSpPr>
          <p:cNvPr id="7" name="Text 5"/>
          <p:cNvSpPr/>
          <p:nvPr/>
        </p:nvSpPr>
        <p:spPr>
          <a:xfrm>
            <a:off x="1047750" y="3052961"/>
            <a:ext cx="3004236"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A63"/>
                </a:solidFill>
                <a:latin typeface="Nunito Sans" pitchFamily="34" charset="0"/>
                <a:ea typeface="Nunito Sans" pitchFamily="34" charset="-122"/>
                <a:cs typeface="Nunito Sans" pitchFamily="34" charset="-120"/>
              </a:rPr>
              <a:t>Of 7.3 million markers scanned, none stood out as tied to water conditions.</a:t>
            </a:r>
            <a:endParaRPr lang="en-US" sz="1400" dirty="0"/>
          </a:p>
        </p:txBody>
      </p:sp>
      <p:sp>
        <p:nvSpPr>
          <p:cNvPr id="8" name="Shape 6"/>
          <p:cNvSpPr/>
          <p:nvPr/>
        </p:nvSpPr>
        <p:spPr>
          <a:xfrm>
            <a:off x="4405809" y="1795066"/>
            <a:ext cx="3380383" cy="2210792"/>
          </a:xfrm>
          <a:prstGeom prst="roundRect">
            <a:avLst>
              <a:gd name="adj" fmla="val 4452"/>
            </a:avLst>
          </a:prstGeom>
          <a:solidFill>
            <a:srgbClr val="FBF9F4"/>
          </a:solidFill>
          <a:ln w="6350">
            <a:solidFill>
              <a:srgbClr val="DDD8CC"/>
            </a:solidFill>
            <a:prstDash val="solid"/>
          </a:ln>
        </p:spPr>
        <p:txBody>
          <a:bodyPr/>
          <a:lstStyle/>
          <a:p>
            <a:endParaRPr lang="en-US"/>
          </a:p>
        </p:txBody>
      </p:sp>
      <p:sp>
        <p:nvSpPr>
          <p:cNvPr id="9" name="Text 7"/>
          <p:cNvSpPr/>
          <p:nvPr/>
        </p:nvSpPr>
        <p:spPr>
          <a:xfrm>
            <a:off x="4637584" y="2001441"/>
            <a:ext cx="3004338" cy="558800"/>
          </a:xfrm>
          <a:prstGeom prst="rect">
            <a:avLst/>
          </a:prstGeom>
          <a:noFill/>
          <a:ln/>
        </p:spPr>
        <p:txBody>
          <a:bodyPr wrap="square" lIns="0" tIns="0" rIns="0" bIns="0" rtlCol="0" anchor="t">
            <a:normAutofit/>
          </a:bodyPr>
          <a:lstStyle/>
          <a:p>
            <a:pPr marL="0" indent="0" algn="l">
              <a:lnSpc>
                <a:spcPts val="4200"/>
              </a:lnSpc>
              <a:buNone/>
            </a:pPr>
            <a:r>
              <a:rPr lang="en-US" sz="4000" b="1" dirty="0">
                <a:solidFill>
                  <a:srgbClr val="2F7F86"/>
                </a:solidFill>
                <a:latin typeface="Domine" pitchFamily="18" charset="0"/>
                <a:ea typeface="Domine" pitchFamily="18" charset="-122"/>
                <a:cs typeface="Domine" pitchFamily="18" charset="-120"/>
              </a:rPr>
              <a:t>Weak</a:t>
            </a:r>
            <a:endParaRPr lang="en-US" sz="4000" dirty="0"/>
          </a:p>
        </p:txBody>
      </p:sp>
      <p:sp>
        <p:nvSpPr>
          <p:cNvPr id="10" name="Text 8"/>
          <p:cNvSpPr/>
          <p:nvPr/>
        </p:nvSpPr>
        <p:spPr>
          <a:xfrm>
            <a:off x="4637584" y="2611041"/>
            <a:ext cx="300433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F3B4D"/>
                </a:solidFill>
                <a:latin typeface="Nunito Sans" pitchFamily="34" charset="0"/>
                <a:ea typeface="Nunito Sans" pitchFamily="34" charset="-122"/>
                <a:cs typeface="Nunito Sans" pitchFamily="34" charset="-120"/>
              </a:rPr>
              <a:t>salinity hint</a:t>
            </a:r>
            <a:endParaRPr lang="en-US" sz="1700" dirty="0"/>
          </a:p>
        </p:txBody>
      </p:sp>
      <p:sp>
        <p:nvSpPr>
          <p:cNvPr id="11" name="Text 9"/>
          <p:cNvSpPr/>
          <p:nvPr/>
        </p:nvSpPr>
        <p:spPr>
          <a:xfrm>
            <a:off x="4637584" y="2946301"/>
            <a:ext cx="3004338"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A63"/>
                </a:solidFill>
                <a:latin typeface="Nunito Sans" pitchFamily="34" charset="0"/>
                <a:ea typeface="Nunito Sans" pitchFamily="34" charset="-122"/>
                <a:cs typeface="Nunito Sans" pitchFamily="34" charset="-120"/>
              </a:rPr>
              <a:t>Sites with bigger salinity swings differ slightly, but this rests mostly on Willapa Bay.</a:t>
            </a:r>
            <a:endParaRPr lang="en-US" sz="1400" dirty="0"/>
          </a:p>
        </p:txBody>
      </p:sp>
      <p:sp>
        <p:nvSpPr>
          <p:cNvPr id="12" name="Shape 10"/>
          <p:cNvSpPr/>
          <p:nvPr/>
        </p:nvSpPr>
        <p:spPr>
          <a:xfrm>
            <a:off x="7995741" y="1795066"/>
            <a:ext cx="3380284" cy="2210792"/>
          </a:xfrm>
          <a:prstGeom prst="roundRect">
            <a:avLst>
              <a:gd name="adj" fmla="val 4452"/>
            </a:avLst>
          </a:prstGeom>
          <a:solidFill>
            <a:srgbClr val="FBF9F4"/>
          </a:solidFill>
          <a:ln w="6350">
            <a:solidFill>
              <a:srgbClr val="DDD8CC"/>
            </a:solidFill>
            <a:prstDash val="solid"/>
          </a:ln>
        </p:spPr>
        <p:txBody>
          <a:bodyPr/>
          <a:lstStyle/>
          <a:p>
            <a:endParaRPr lang="en-US"/>
          </a:p>
        </p:txBody>
      </p:sp>
      <p:sp>
        <p:nvSpPr>
          <p:cNvPr id="13" name="Text 11"/>
          <p:cNvSpPr/>
          <p:nvPr/>
        </p:nvSpPr>
        <p:spPr>
          <a:xfrm>
            <a:off x="8227516" y="2001441"/>
            <a:ext cx="3004236" cy="558800"/>
          </a:xfrm>
          <a:prstGeom prst="rect">
            <a:avLst/>
          </a:prstGeom>
          <a:noFill/>
          <a:ln/>
        </p:spPr>
        <p:txBody>
          <a:bodyPr wrap="square" lIns="0" tIns="0" rIns="0" bIns="0" rtlCol="0" anchor="t">
            <a:normAutofit/>
          </a:bodyPr>
          <a:lstStyle/>
          <a:p>
            <a:pPr marL="0" indent="0" algn="l">
              <a:lnSpc>
                <a:spcPts val="4200"/>
              </a:lnSpc>
              <a:buNone/>
            </a:pPr>
            <a:r>
              <a:rPr lang="en-US" sz="4000" b="1" dirty="0">
                <a:solidFill>
                  <a:srgbClr val="2F7F86"/>
                </a:solidFill>
                <a:latin typeface="Domine" pitchFamily="18" charset="0"/>
                <a:ea typeface="Domine" pitchFamily="18" charset="-122"/>
                <a:cs typeface="Domine" pitchFamily="18" charset="-120"/>
              </a:rPr>
              <a:t>&lt; 1%</a:t>
            </a:r>
            <a:endParaRPr lang="en-US" sz="4000" dirty="0"/>
          </a:p>
        </p:txBody>
      </p:sp>
      <p:sp>
        <p:nvSpPr>
          <p:cNvPr id="14" name="Text 12"/>
          <p:cNvSpPr/>
          <p:nvPr/>
        </p:nvSpPr>
        <p:spPr>
          <a:xfrm>
            <a:off x="8227516" y="2611041"/>
            <a:ext cx="300423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F3B4D"/>
                </a:solidFill>
                <a:latin typeface="Nunito Sans" pitchFamily="34" charset="0"/>
                <a:ea typeface="Nunito Sans" pitchFamily="34" charset="-122"/>
                <a:cs typeface="Nunito Sans" pitchFamily="34" charset="-120"/>
              </a:rPr>
              <a:t>temperature hint</a:t>
            </a:r>
            <a:endParaRPr lang="en-US" sz="1700" dirty="0"/>
          </a:p>
        </p:txBody>
      </p:sp>
      <p:sp>
        <p:nvSpPr>
          <p:cNvPr id="15" name="Text 13"/>
          <p:cNvSpPr/>
          <p:nvPr/>
        </p:nvSpPr>
        <p:spPr>
          <a:xfrm>
            <a:off x="8227516" y="2946301"/>
            <a:ext cx="3004236"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A63"/>
                </a:solidFill>
                <a:latin typeface="Nunito Sans" pitchFamily="34" charset="0"/>
                <a:ea typeface="Nunito Sans" pitchFamily="34" charset="-122"/>
                <a:cs typeface="Nunito Sans" pitchFamily="34" charset="-120"/>
              </a:rPr>
              <a:t>Summer temperature explains under 1% once genetic group is accounted for.</a:t>
            </a:r>
            <a:endParaRPr lang="en-US" sz="1400" dirty="0"/>
          </a:p>
        </p:txBody>
      </p:sp>
      <p:sp>
        <p:nvSpPr>
          <p:cNvPr id="16" name="Shape 14"/>
          <p:cNvSpPr/>
          <p:nvPr/>
        </p:nvSpPr>
        <p:spPr>
          <a:xfrm>
            <a:off x="831850" y="5257800"/>
            <a:ext cx="0" cy="584200"/>
          </a:xfrm>
          <a:prstGeom prst="line">
            <a:avLst/>
          </a:prstGeom>
          <a:noFill/>
          <a:ln w="38100">
            <a:solidFill>
              <a:srgbClr val="C76A1C"/>
            </a:solidFill>
            <a:prstDash val="solid"/>
          </a:ln>
        </p:spPr>
        <p:txBody>
          <a:bodyPr/>
          <a:lstStyle/>
          <a:p>
            <a:endParaRPr lang="en-US"/>
          </a:p>
        </p:txBody>
      </p:sp>
      <p:sp>
        <p:nvSpPr>
          <p:cNvPr id="17" name="Text 15"/>
          <p:cNvSpPr/>
          <p:nvPr/>
        </p:nvSpPr>
        <p:spPr>
          <a:xfrm>
            <a:off x="1028700" y="5283200"/>
            <a:ext cx="1066101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3B4D"/>
                </a:solidFill>
                <a:latin typeface="Nunito Sans" pitchFamily="34" charset="0"/>
                <a:ea typeface="Nunito Sans" pitchFamily="34" charset="-122"/>
                <a:cs typeface="Nunito Sans" pitchFamily="34" charset="-120"/>
              </a:rPr>
              <a:t>Counting each oyster as independent made the environment look important; treating each bay as one sample removed most of that signal.</a:t>
            </a:r>
            <a:endParaRPr lang="en-US" sz="1500" dirty="0"/>
          </a:p>
        </p:txBody>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0"/>
                </a:solidFill>
                <a:latin typeface="Nunito Sans" pitchFamily="34" charset="0"/>
                <a:ea typeface="Nunito Sans" pitchFamily="34" charset="-122"/>
                <a:cs typeface="Nunito Sans" pitchFamily="34" charset="-120"/>
              </a:rPr>
              <a:t>Olympia oyster genetics · Bengtsson, Martinelli &amp; Roberts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35A17"/>
                </a:solidFill>
                <a:latin typeface="IBM Plex Sans" pitchFamily="34" charset="0"/>
                <a:ea typeface="IBM Plex Sans" pitchFamily="34" charset="-122"/>
                <a:cs typeface="IBM Plex Sans" pitchFamily="34" charset="-120"/>
              </a:rPr>
              <a:t>REDUNDANCY ANALYSIS</a:t>
            </a:r>
            <a:endParaRPr lang="en-US" sz="1200" dirty="0"/>
          </a:p>
        </p:txBody>
      </p:sp>
      <p:sp>
        <p:nvSpPr>
          <p:cNvPr id="3" name="Text 1"/>
          <p:cNvSpPr>
            <a:spLocks noGrp="1"/>
          </p:cNvSpPr>
          <p:nvPr>
            <p:ph type="title"/>
          </p:nvPr>
        </p:nvSpPr>
        <p:spPr>
          <a:xfrm>
            <a:off x="812800" y="1076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303A"/>
                </a:solidFill>
                <a:latin typeface="Source Serif 4" pitchFamily="18" charset="0"/>
                <a:ea typeface="Source Serif 4" pitchFamily="18" charset="-122"/>
                <a:cs typeface="Source Serif 4" pitchFamily="18" charset="-120"/>
              </a:rPr>
              <a:t>Salinity range carries the only environmental signal</a:t>
            </a:r>
            <a:endParaRPr lang="en-US" sz="2800" dirty="0"/>
          </a:p>
        </p:txBody>
      </p:sp>
      <p:sp>
        <p:nvSpPr>
          <p:cNvPr id="4" name="Shape 2"/>
          <p:cNvSpPr/>
          <p:nvPr/>
        </p:nvSpPr>
        <p:spPr>
          <a:xfrm>
            <a:off x="812800" y="1722041"/>
            <a:ext cx="6858000" cy="4114800"/>
          </a:xfrm>
          <a:prstGeom prst="roundRect">
            <a:avLst>
              <a:gd name="adj" fmla="val 1852"/>
            </a:avLst>
          </a:prstGeom>
          <a:solidFill>
            <a:srgbClr val="FFFFFF"/>
          </a:solidFill>
          <a:ln/>
        </p:spPr>
        <p:txBody>
          <a:bodyPr/>
          <a:lstStyle/>
          <a:p>
            <a:endParaRPr lang="en-US"/>
          </a:p>
        </p:txBody>
      </p:sp>
      <p:pic>
        <p:nvPicPr>
          <p:cNvPr id="5" name="Image 0" descr="Environment-only RDA biplot of 14 sites with arrows for summer temperature, salinity range and summer chlorophyll; Willapa Bay sits far out along RDA1 in the salinity-range direction"/>
          <p:cNvPicPr>
            <a:picLocks noChangeAspect="1"/>
          </p:cNvPicPr>
          <p:nvPr/>
        </p:nvPicPr>
        <p:blipFill>
          <a:blip r:embed="rId3"/>
          <a:srcRect l="-62" r="-62"/>
          <a:stretch/>
        </p:blipFill>
        <p:spPr>
          <a:xfrm>
            <a:off x="819150" y="1728391"/>
            <a:ext cx="6845300" cy="4102100"/>
          </a:xfrm>
          <a:prstGeom prst="roundRect">
            <a:avLst>
              <a:gd name="adj" fmla="val 1703"/>
            </a:avLst>
          </a:prstGeom>
        </p:spPr>
      </p:pic>
      <p:sp>
        <p:nvSpPr>
          <p:cNvPr id="6" name="Shape 3"/>
          <p:cNvSpPr/>
          <p:nvPr/>
        </p:nvSpPr>
        <p:spPr>
          <a:xfrm>
            <a:off x="815975" y="1725216"/>
            <a:ext cx="6851650" cy="4108450"/>
          </a:xfrm>
          <a:prstGeom prst="roundRect">
            <a:avLst>
              <a:gd name="adj" fmla="val 1777"/>
            </a:avLst>
          </a:prstGeom>
          <a:noFill/>
          <a:ln w="6350">
            <a:solidFill>
              <a:srgbClr val="E2DED3"/>
            </a:solidFill>
            <a:prstDash val="solid"/>
          </a:ln>
        </p:spPr>
        <p:txBody>
          <a:bodyPr/>
          <a:lstStyle/>
          <a:p>
            <a:endParaRPr lang="en-US"/>
          </a:p>
        </p:txBody>
      </p:sp>
      <p:sp>
        <p:nvSpPr>
          <p:cNvPr id="7" name="Shape 4"/>
          <p:cNvSpPr/>
          <p:nvPr/>
        </p:nvSpPr>
        <p:spPr>
          <a:xfrm>
            <a:off x="7978775" y="1725216"/>
            <a:ext cx="3397250" cy="868561"/>
          </a:xfrm>
          <a:prstGeom prst="roundRect">
            <a:avLst>
              <a:gd name="adj" fmla="val 8408"/>
            </a:avLst>
          </a:prstGeom>
          <a:solidFill>
            <a:srgbClr val="FBFAF6"/>
          </a:solidFill>
          <a:ln w="6350">
            <a:solidFill>
              <a:srgbClr val="E2DED3"/>
            </a:solidFill>
            <a:prstDash val="solid"/>
          </a:ln>
        </p:spPr>
        <p:txBody>
          <a:bodyPr/>
          <a:lstStyle/>
          <a:p>
            <a:endParaRPr lang="en-US"/>
          </a:p>
        </p:txBody>
      </p:sp>
      <p:sp>
        <p:nvSpPr>
          <p:cNvPr id="8" name="Text 5"/>
          <p:cNvSpPr/>
          <p:nvPr/>
        </p:nvSpPr>
        <p:spPr>
          <a:xfrm>
            <a:off x="8159750" y="1880791"/>
            <a:ext cx="3126359" cy="318691"/>
          </a:xfrm>
          <a:prstGeom prst="rect">
            <a:avLst/>
          </a:prstGeom>
          <a:noFill/>
          <a:ln/>
        </p:spPr>
        <p:txBody>
          <a:bodyPr wrap="square" lIns="0" tIns="0" rIns="0" bIns="0" rtlCol="0" anchor="t">
            <a:normAutofit/>
          </a:bodyPr>
          <a:lstStyle/>
          <a:p>
            <a:pPr marL="0" indent="0" algn="l">
              <a:lnSpc>
                <a:spcPts val="2310"/>
              </a:lnSpc>
              <a:buNone/>
            </a:pPr>
            <a:r>
              <a:rPr lang="en-US" sz="2200" b="1" dirty="0">
                <a:solidFill>
                  <a:srgbClr val="B35A17"/>
                </a:solidFill>
                <a:latin typeface="Source Serif 4" pitchFamily="18" charset="0"/>
                <a:ea typeface="Source Serif 4" pitchFamily="18" charset="-122"/>
                <a:cs typeface="Source Serif 4" pitchFamily="18" charset="-120"/>
              </a:rPr>
              <a:t>p = 0.024</a:t>
            </a:r>
            <a:endParaRPr lang="en-US" sz="2200" dirty="0"/>
          </a:p>
        </p:txBody>
      </p:sp>
      <p:sp>
        <p:nvSpPr>
          <p:cNvPr id="9" name="Text 6"/>
          <p:cNvSpPr/>
          <p:nvPr/>
        </p:nvSpPr>
        <p:spPr>
          <a:xfrm>
            <a:off x="8159750" y="2224881"/>
            <a:ext cx="31263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salinity range, marginal test</a:t>
            </a:r>
            <a:endParaRPr lang="en-US" sz="1200" dirty="0"/>
          </a:p>
        </p:txBody>
      </p:sp>
      <p:sp>
        <p:nvSpPr>
          <p:cNvPr id="10" name="Shape 7"/>
          <p:cNvSpPr/>
          <p:nvPr/>
        </p:nvSpPr>
        <p:spPr>
          <a:xfrm>
            <a:off x="7978775" y="2752527"/>
            <a:ext cx="3397250" cy="868561"/>
          </a:xfrm>
          <a:prstGeom prst="roundRect">
            <a:avLst>
              <a:gd name="adj" fmla="val 8408"/>
            </a:avLst>
          </a:prstGeom>
          <a:solidFill>
            <a:srgbClr val="FBFAF6"/>
          </a:solidFill>
          <a:ln w="6350">
            <a:solidFill>
              <a:srgbClr val="E2DED3"/>
            </a:solidFill>
            <a:prstDash val="solid"/>
          </a:ln>
        </p:spPr>
        <p:txBody>
          <a:bodyPr/>
          <a:lstStyle/>
          <a:p>
            <a:endParaRPr lang="en-US"/>
          </a:p>
        </p:txBody>
      </p:sp>
      <p:sp>
        <p:nvSpPr>
          <p:cNvPr id="11" name="Text 8"/>
          <p:cNvSpPr/>
          <p:nvPr/>
        </p:nvSpPr>
        <p:spPr>
          <a:xfrm>
            <a:off x="8159750" y="2908102"/>
            <a:ext cx="3126359" cy="318691"/>
          </a:xfrm>
          <a:prstGeom prst="rect">
            <a:avLst/>
          </a:prstGeom>
          <a:noFill/>
          <a:ln/>
        </p:spPr>
        <p:txBody>
          <a:bodyPr wrap="square" lIns="0" tIns="0" rIns="0" bIns="0" rtlCol="0" anchor="t">
            <a:normAutofit/>
          </a:bodyPr>
          <a:lstStyle/>
          <a:p>
            <a:pPr marL="0" indent="0" algn="l">
              <a:lnSpc>
                <a:spcPts val="2310"/>
              </a:lnSpc>
              <a:buNone/>
            </a:pPr>
            <a:r>
              <a:rPr lang="en-US" sz="2200" b="1" dirty="0">
                <a:solidFill>
                  <a:srgbClr val="2E6E7E"/>
                </a:solidFill>
                <a:latin typeface="Source Serif 4" pitchFamily="18" charset="0"/>
                <a:ea typeface="Source Serif 4" pitchFamily="18" charset="-122"/>
                <a:cs typeface="Source Serif 4" pitchFamily="18" charset="-120"/>
              </a:rPr>
              <a:t>11.0%</a:t>
            </a:r>
            <a:endParaRPr lang="en-US" sz="2200" dirty="0"/>
          </a:p>
        </p:txBody>
      </p:sp>
      <p:sp>
        <p:nvSpPr>
          <p:cNvPr id="12" name="Text 9"/>
          <p:cNvSpPr/>
          <p:nvPr/>
        </p:nvSpPr>
        <p:spPr>
          <a:xfrm>
            <a:off x="8159750" y="3252192"/>
            <a:ext cx="31263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RDA1, driven mostly by Willapa Bay</a:t>
            </a:r>
            <a:endParaRPr lang="en-US" sz="1200" dirty="0"/>
          </a:p>
        </p:txBody>
      </p:sp>
      <p:sp>
        <p:nvSpPr>
          <p:cNvPr id="13" name="Shape 10"/>
          <p:cNvSpPr/>
          <p:nvPr/>
        </p:nvSpPr>
        <p:spPr>
          <a:xfrm>
            <a:off x="7978775" y="3779838"/>
            <a:ext cx="3397250" cy="868561"/>
          </a:xfrm>
          <a:prstGeom prst="roundRect">
            <a:avLst>
              <a:gd name="adj" fmla="val 8408"/>
            </a:avLst>
          </a:prstGeom>
          <a:solidFill>
            <a:srgbClr val="FBFAF6"/>
          </a:solidFill>
          <a:ln w="6350">
            <a:solidFill>
              <a:srgbClr val="E2DED3"/>
            </a:solidFill>
            <a:prstDash val="solid"/>
          </a:ln>
        </p:spPr>
        <p:txBody>
          <a:bodyPr/>
          <a:lstStyle/>
          <a:p>
            <a:endParaRPr lang="en-US"/>
          </a:p>
        </p:txBody>
      </p:sp>
      <p:sp>
        <p:nvSpPr>
          <p:cNvPr id="14" name="Text 11"/>
          <p:cNvSpPr/>
          <p:nvPr/>
        </p:nvSpPr>
        <p:spPr>
          <a:xfrm>
            <a:off x="8159750" y="3935413"/>
            <a:ext cx="3126359" cy="318691"/>
          </a:xfrm>
          <a:prstGeom prst="rect">
            <a:avLst/>
          </a:prstGeom>
          <a:noFill/>
          <a:ln/>
        </p:spPr>
        <p:txBody>
          <a:bodyPr wrap="square" lIns="0" tIns="0" rIns="0" bIns="0" rtlCol="0" anchor="t">
            <a:normAutofit/>
          </a:bodyPr>
          <a:lstStyle/>
          <a:p>
            <a:pPr marL="0" indent="0" algn="l">
              <a:lnSpc>
                <a:spcPts val="2310"/>
              </a:lnSpc>
              <a:buNone/>
            </a:pPr>
            <a:r>
              <a:rPr lang="en-US" sz="2200" b="1" dirty="0">
                <a:solidFill>
                  <a:srgbClr val="2E6E7E"/>
                </a:solidFill>
                <a:latin typeface="Source Serif 4" pitchFamily="18" charset="0"/>
                <a:ea typeface="Source Serif 4" pitchFamily="18" charset="-122"/>
                <a:cs typeface="Source Serif 4" pitchFamily="18" charset="-120"/>
              </a:rPr>
              <a:t>p = 0.16</a:t>
            </a:r>
            <a:endParaRPr lang="en-US" sz="2200" dirty="0"/>
          </a:p>
        </p:txBody>
      </p:sp>
      <p:sp>
        <p:nvSpPr>
          <p:cNvPr id="15" name="Text 12"/>
          <p:cNvSpPr/>
          <p:nvPr/>
        </p:nvSpPr>
        <p:spPr>
          <a:xfrm>
            <a:off x="8159750" y="4279503"/>
            <a:ext cx="31263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global environment model, 14 sites</a:t>
            </a:r>
            <a:endParaRPr lang="en-US" sz="1200" dirty="0"/>
          </a:p>
        </p:txBody>
      </p:sp>
      <p:sp>
        <p:nvSpPr>
          <p:cNvPr id="16" name="Text 1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Bengtsson, Martinelli &amp; Roberts · Olympia oyster lc-WGS</a:t>
            </a:r>
            <a:endParaRPr lang="en-US" sz="1200" dirty="0"/>
          </a:p>
        </p:txBody>
      </p:sp>
      <p:sp>
        <p:nvSpPr>
          <p:cNvPr id="17"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35A17"/>
                </a:solidFill>
                <a:latin typeface="IBM Plex Sans" pitchFamily="34" charset="0"/>
                <a:ea typeface="IBM Plex Sans" pitchFamily="34" charset="-122"/>
                <a:cs typeface="IBM Plex Sans" pitchFamily="34" charset="-120"/>
              </a:rPr>
              <a:t>ROBUSTNESS</a:t>
            </a:r>
            <a:endParaRPr lang="en-US" sz="1200" dirty="0"/>
          </a:p>
        </p:txBody>
      </p:sp>
      <p:sp>
        <p:nvSpPr>
          <p:cNvPr id="3" name="Text 1"/>
          <p:cNvSpPr>
            <a:spLocks noGrp="1"/>
          </p:cNvSpPr>
          <p:nvPr>
            <p:ph type="title"/>
          </p:nvPr>
        </p:nvSpPr>
        <p:spPr>
          <a:xfrm>
            <a:off x="812800" y="1076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303A"/>
                </a:solidFill>
                <a:latin typeface="Source Serif 4" pitchFamily="18" charset="0"/>
                <a:ea typeface="Source Serif 4" pitchFamily="18" charset="-122"/>
                <a:cs typeface="Source Serif 4" pitchFamily="18" charset="-120"/>
              </a:rPr>
              <a:t>Individual and SNP-level tests agree: the signal is weak</a:t>
            </a:r>
            <a:endParaRPr lang="en-US" sz="2800" dirty="0"/>
          </a:p>
        </p:txBody>
      </p:sp>
      <p:sp>
        <p:nvSpPr>
          <p:cNvPr id="4" name="Shape 2"/>
          <p:cNvSpPr/>
          <p:nvPr/>
        </p:nvSpPr>
        <p:spPr>
          <a:xfrm>
            <a:off x="812800" y="1722041"/>
            <a:ext cx="5715000" cy="3003550"/>
          </a:xfrm>
          <a:prstGeom prst="roundRect">
            <a:avLst>
              <a:gd name="adj" fmla="val 2537"/>
            </a:avLst>
          </a:prstGeom>
          <a:solidFill>
            <a:srgbClr val="FFFFFF"/>
          </a:solidFill>
          <a:ln/>
        </p:spPr>
        <p:txBody>
          <a:bodyPr/>
          <a:lstStyle/>
          <a:p>
            <a:endParaRPr lang="en-US"/>
          </a:p>
        </p:txBody>
      </p:sp>
      <p:pic>
        <p:nvPicPr>
          <p:cNvPr id="5" name="Image 0" descr="Permutation null distributions of pseudo-F for the individual-level environment RDA: shuffling oysters freely gives a narrow null near 1 (p = 0.001); shuffling whole sites gives a wide null (p = 0.087); observed F = 1.61"/>
          <p:cNvPicPr>
            <a:picLocks noChangeAspect="1"/>
          </p:cNvPicPr>
          <p:nvPr/>
        </p:nvPicPr>
        <p:blipFill>
          <a:blip r:embed="rId3"/>
          <a:srcRect l="-48" r="-48"/>
          <a:stretch/>
        </p:blipFill>
        <p:spPr>
          <a:xfrm>
            <a:off x="819150" y="1728391"/>
            <a:ext cx="5702300" cy="2990850"/>
          </a:xfrm>
          <a:prstGeom prst="roundRect">
            <a:avLst>
              <a:gd name="adj" fmla="val 2335"/>
            </a:avLst>
          </a:prstGeom>
        </p:spPr>
      </p:pic>
      <p:sp>
        <p:nvSpPr>
          <p:cNvPr id="6" name="Shape 3"/>
          <p:cNvSpPr/>
          <p:nvPr/>
        </p:nvSpPr>
        <p:spPr>
          <a:xfrm>
            <a:off x="815975" y="1725216"/>
            <a:ext cx="5708650" cy="2997200"/>
          </a:xfrm>
          <a:prstGeom prst="roundRect">
            <a:avLst>
              <a:gd name="adj" fmla="val 2436"/>
            </a:avLst>
          </a:prstGeom>
          <a:noFill/>
          <a:ln w="6350">
            <a:solidFill>
              <a:srgbClr val="E2DED3"/>
            </a:solidFill>
            <a:prstDash val="solid"/>
          </a:ln>
        </p:spPr>
        <p:txBody>
          <a:bodyPr/>
          <a:lstStyle/>
          <a:p>
            <a:endParaRPr lang="en-US"/>
          </a:p>
        </p:txBody>
      </p:sp>
      <p:sp>
        <p:nvSpPr>
          <p:cNvPr id="7" name="Text 4"/>
          <p:cNvSpPr/>
          <p:nvPr/>
        </p:nvSpPr>
        <p:spPr>
          <a:xfrm>
            <a:off x="812800" y="4852591"/>
            <a:ext cx="588645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303A"/>
                </a:solidFill>
                <a:latin typeface="IBM Plex Sans" pitchFamily="34" charset="0"/>
                <a:ea typeface="IBM Plex Sans" pitchFamily="34" charset="-122"/>
                <a:cs typeface="IBM Plex Sans" pitchFamily="34" charset="-120"/>
              </a:rPr>
              <a:t>Individual RDA, 102 oysters. Shuffling oysters freely treats bay-mates as independent and inflates significance.</a:t>
            </a:r>
            <a:endParaRPr lang="en-US" sz="1300" dirty="0"/>
          </a:p>
        </p:txBody>
      </p:sp>
      <p:sp>
        <p:nvSpPr>
          <p:cNvPr id="8" name="Shape 5"/>
          <p:cNvSpPr/>
          <p:nvPr/>
        </p:nvSpPr>
        <p:spPr>
          <a:xfrm>
            <a:off x="6835775" y="1725216"/>
            <a:ext cx="4540250" cy="1361281"/>
          </a:xfrm>
          <a:prstGeom prst="roundRect">
            <a:avLst>
              <a:gd name="adj" fmla="val 5364"/>
            </a:avLst>
          </a:prstGeom>
          <a:solidFill>
            <a:srgbClr val="FBFAF6"/>
          </a:solidFill>
          <a:ln w="6350">
            <a:solidFill>
              <a:srgbClr val="E2DED3"/>
            </a:solidFill>
            <a:prstDash val="solid"/>
          </a:ln>
        </p:spPr>
        <p:txBody>
          <a:bodyPr/>
          <a:lstStyle/>
          <a:p>
            <a:endParaRPr lang="en-US"/>
          </a:p>
        </p:txBody>
      </p:sp>
      <p:sp>
        <p:nvSpPr>
          <p:cNvPr id="9" name="Text 6"/>
          <p:cNvSpPr/>
          <p:nvPr/>
        </p:nvSpPr>
        <p:spPr>
          <a:xfrm>
            <a:off x="7016750" y="1880791"/>
            <a:ext cx="430364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No outlier loci</a:t>
            </a:r>
            <a:endParaRPr lang="en-US" sz="1500" dirty="0"/>
          </a:p>
        </p:txBody>
      </p:sp>
      <p:sp>
        <p:nvSpPr>
          <p:cNvPr id="10" name="Text 7"/>
          <p:cNvSpPr/>
          <p:nvPr/>
        </p:nvSpPr>
        <p:spPr>
          <a:xfrm>
            <a:off x="7016750" y="2160191"/>
            <a:ext cx="4303649" cy="318691"/>
          </a:xfrm>
          <a:prstGeom prst="rect">
            <a:avLst/>
          </a:prstGeom>
          <a:noFill/>
          <a:ln/>
        </p:spPr>
        <p:txBody>
          <a:bodyPr wrap="square" lIns="0" tIns="0" rIns="0" bIns="0" rtlCol="0" anchor="t">
            <a:normAutofit/>
          </a:bodyPr>
          <a:lstStyle/>
          <a:p>
            <a:pPr marL="0" indent="0" algn="l">
              <a:lnSpc>
                <a:spcPts val="2310"/>
              </a:lnSpc>
              <a:buNone/>
            </a:pPr>
            <a:r>
              <a:rPr lang="en-US" sz="2200" b="1" dirty="0">
                <a:solidFill>
                  <a:srgbClr val="B35A17"/>
                </a:solidFill>
                <a:latin typeface="Source Serif 4" pitchFamily="18" charset="0"/>
                <a:ea typeface="Source Serif 4" pitchFamily="18" charset="-122"/>
                <a:cs typeface="Source Serif 4" pitchFamily="18" charset="-120"/>
              </a:rPr>
              <a:t>0 of 7.26 M</a:t>
            </a:r>
            <a:endParaRPr lang="en-US" sz="2200" dirty="0"/>
          </a:p>
        </p:txBody>
      </p:sp>
      <p:sp>
        <p:nvSpPr>
          <p:cNvPr id="11" name="Text 8"/>
          <p:cNvSpPr/>
          <p:nvPr/>
        </p:nvSpPr>
        <p:spPr>
          <a:xfrm>
            <a:off x="7016750" y="2504281"/>
            <a:ext cx="430364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SNPs at q &lt; 0.2 in the genome-wide RDA outlier scan (minimum q 0.98).</a:t>
            </a:r>
            <a:endParaRPr lang="en-US" sz="1200" dirty="0"/>
          </a:p>
        </p:txBody>
      </p:sp>
      <p:sp>
        <p:nvSpPr>
          <p:cNvPr id="12" name="Shape 9"/>
          <p:cNvSpPr/>
          <p:nvPr/>
        </p:nvSpPr>
        <p:spPr>
          <a:xfrm>
            <a:off x="6835775" y="3245247"/>
            <a:ext cx="4540250" cy="1361281"/>
          </a:xfrm>
          <a:prstGeom prst="roundRect">
            <a:avLst>
              <a:gd name="adj" fmla="val 5364"/>
            </a:avLst>
          </a:prstGeom>
          <a:solidFill>
            <a:srgbClr val="FBFAF6"/>
          </a:solidFill>
          <a:ln w="6350">
            <a:solidFill>
              <a:srgbClr val="E2DED3"/>
            </a:solidFill>
            <a:prstDash val="solid"/>
          </a:ln>
        </p:spPr>
        <p:txBody>
          <a:bodyPr/>
          <a:lstStyle/>
          <a:p>
            <a:endParaRPr lang="en-US"/>
          </a:p>
        </p:txBody>
      </p:sp>
      <p:sp>
        <p:nvSpPr>
          <p:cNvPr id="13" name="Text 10"/>
          <p:cNvSpPr/>
          <p:nvPr/>
        </p:nvSpPr>
        <p:spPr>
          <a:xfrm>
            <a:off x="7016750" y="3400822"/>
            <a:ext cx="430364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Temperature, after structure</a:t>
            </a:r>
            <a:endParaRPr lang="en-US" sz="1500" dirty="0"/>
          </a:p>
        </p:txBody>
      </p:sp>
      <p:sp>
        <p:nvSpPr>
          <p:cNvPr id="14" name="Text 11"/>
          <p:cNvSpPr/>
          <p:nvPr/>
        </p:nvSpPr>
        <p:spPr>
          <a:xfrm>
            <a:off x="7016750" y="3680222"/>
            <a:ext cx="4303649" cy="318691"/>
          </a:xfrm>
          <a:prstGeom prst="rect">
            <a:avLst/>
          </a:prstGeom>
          <a:noFill/>
          <a:ln/>
        </p:spPr>
        <p:txBody>
          <a:bodyPr wrap="square" lIns="0" tIns="0" rIns="0" bIns="0" rtlCol="0" anchor="t">
            <a:normAutofit/>
          </a:bodyPr>
          <a:lstStyle/>
          <a:p>
            <a:pPr marL="0" indent="0" algn="l">
              <a:lnSpc>
                <a:spcPts val="2310"/>
              </a:lnSpc>
              <a:buNone/>
            </a:pPr>
            <a:r>
              <a:rPr lang="en-US" sz="2200" b="1" dirty="0">
                <a:solidFill>
                  <a:srgbClr val="B35A17"/>
                </a:solidFill>
                <a:latin typeface="Source Serif 4" pitchFamily="18" charset="0"/>
                <a:ea typeface="Source Serif 4" pitchFamily="18" charset="-122"/>
                <a:cs typeface="Source Serif 4" pitchFamily="18" charset="-120"/>
              </a:rPr>
              <a:t>adj. R² 0.009</a:t>
            </a:r>
            <a:endParaRPr lang="en-US" sz="2200" dirty="0"/>
          </a:p>
        </p:txBody>
      </p:sp>
      <p:sp>
        <p:nvSpPr>
          <p:cNvPr id="15" name="Text 12"/>
          <p:cNvSpPr/>
          <p:nvPr/>
        </p:nvSpPr>
        <p:spPr>
          <a:xfrm>
            <a:off x="7016750" y="4024313"/>
            <a:ext cx="430364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p = 0.036 with all 15 sites; p = 0.41 without conditioning on PC1 + PC2.</a:t>
            </a:r>
            <a:endParaRPr lang="en-US" sz="1200" dirty="0"/>
          </a:p>
        </p:txBody>
      </p:sp>
      <p:sp>
        <p:nvSpPr>
          <p:cNvPr id="16" name="Text 1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Bengtsson, Martinelli &amp; Roberts · Olympia oyster lc-WGS</a:t>
            </a:r>
            <a:endParaRPr lang="en-US" sz="1200" dirty="0"/>
          </a:p>
        </p:txBody>
      </p:sp>
      <p:sp>
        <p:nvSpPr>
          <p:cNvPr id="17"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0"/>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A9561A"/>
                </a:solidFill>
                <a:latin typeface="Nunito Sans" pitchFamily="34" charset="0"/>
                <a:ea typeface="Nunito Sans" pitchFamily="34" charset="-122"/>
                <a:cs typeface="Nunito Sans" pitchFamily="34" charset="-120"/>
              </a:rPr>
              <a:t>READING THE RESULTS</a:t>
            </a:r>
            <a:endParaRPr lang="en-US" sz="1300" dirty="0"/>
          </a:p>
        </p:txBody>
      </p:sp>
      <p:sp>
        <p:nvSpPr>
          <p:cNvPr id="3" name="Text 1"/>
          <p:cNvSpPr>
            <a:spLocks noGrp="1"/>
          </p:cNvSpPr>
          <p:nvPr>
            <p:ph type="title"/>
          </p:nvPr>
        </p:nvSpPr>
        <p:spPr>
          <a:xfrm>
            <a:off x="812800" y="1107380"/>
            <a:ext cx="10883392" cy="430510"/>
          </a:xfrm>
          <a:prstGeom prst="rect">
            <a:avLst/>
          </a:prstGeom>
          <a:noFill/>
          <a:ln/>
        </p:spPr>
        <p:txBody>
          <a:bodyPr wrap="square" lIns="0" tIns="0" rIns="0" bIns="0" rtlCol="0" anchor="t">
            <a:normAutofit/>
          </a:bodyPr>
          <a:lstStyle/>
          <a:p>
            <a:pPr marL="0" indent="0" algn="l">
              <a:lnSpc>
                <a:spcPts val="3190"/>
              </a:lnSpc>
              <a:buNone/>
            </a:pPr>
            <a:r>
              <a:rPr lang="en-US" sz="2900" b="1" i="0" dirty="0">
                <a:solidFill>
                  <a:srgbClr val="1F3B4D"/>
                </a:solidFill>
                <a:latin typeface="Domine" pitchFamily="18" charset="0"/>
                <a:ea typeface="Domine" pitchFamily="18" charset="-122"/>
                <a:cs typeface="Domine" pitchFamily="18" charset="-120"/>
              </a:rPr>
              <a:t>What the results do and don't tell us</a:t>
            </a:r>
            <a:endParaRPr lang="en-US" sz="2900" dirty="0"/>
          </a:p>
        </p:txBody>
      </p:sp>
      <p:sp>
        <p:nvSpPr>
          <p:cNvPr id="4" name="Shape 2"/>
          <p:cNvSpPr/>
          <p:nvPr/>
        </p:nvSpPr>
        <p:spPr>
          <a:xfrm>
            <a:off x="815975" y="1795066"/>
            <a:ext cx="5175250" cy="2132310"/>
          </a:xfrm>
          <a:prstGeom prst="roundRect">
            <a:avLst>
              <a:gd name="adj" fmla="val 4616"/>
            </a:avLst>
          </a:prstGeom>
          <a:solidFill>
            <a:srgbClr val="FBF9F4"/>
          </a:solidFill>
          <a:ln w="6350">
            <a:solidFill>
              <a:srgbClr val="DDD8CC"/>
            </a:solidFill>
            <a:prstDash val="solid"/>
          </a:ln>
        </p:spPr>
        <p:txBody>
          <a:bodyPr/>
          <a:lstStyle/>
          <a:p>
            <a:endParaRPr lang="en-US"/>
          </a:p>
        </p:txBody>
      </p:sp>
      <p:sp>
        <p:nvSpPr>
          <p:cNvPr id="5" name="Text 3"/>
          <p:cNvSpPr/>
          <p:nvPr/>
        </p:nvSpPr>
        <p:spPr>
          <a:xfrm>
            <a:off x="1047750" y="2001441"/>
            <a:ext cx="485305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F7F86"/>
                </a:solidFill>
                <a:latin typeface="Nunito Sans" pitchFamily="34" charset="0"/>
                <a:ea typeface="Nunito Sans" pitchFamily="34" charset="-122"/>
                <a:cs typeface="Nunito Sans" pitchFamily="34" charset="-120"/>
              </a:rPr>
              <a:t>What they support</a:t>
            </a:r>
            <a:endParaRPr lang="en-US" sz="1700" dirty="0"/>
          </a:p>
        </p:txBody>
      </p:sp>
      <p:sp>
        <p:nvSpPr>
          <p:cNvPr id="6" name="Text 4"/>
          <p:cNvSpPr/>
          <p:nvPr/>
        </p:nvSpPr>
        <p:spPr>
          <a:xfrm>
            <a:off x="1118870" y="2387501"/>
            <a:ext cx="4774311" cy="10922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1F3B4D"/>
                </a:solidFill>
                <a:latin typeface="Nunito Sans" pitchFamily="34" charset="0"/>
                <a:ea typeface="Nunito Sans" pitchFamily="34" charset="-122"/>
                <a:cs typeface="Nunito Sans" pitchFamily="34" charset="-120"/>
              </a:rPr>
              <a:t>Genetic groups are real and consistent</a:t>
            </a:r>
            <a:endParaRPr lang="en-US" sz="1500" dirty="0"/>
          </a:p>
          <a:p>
            <a:pPr marL="182880" indent="-182880" algn="l">
              <a:lnSpc>
                <a:spcPts val="2100"/>
              </a:lnSpc>
              <a:buSzPct val="100000"/>
              <a:buChar char="•"/>
            </a:pPr>
            <a:r>
              <a:rPr lang="en-US" sz="1500" dirty="0">
                <a:solidFill>
                  <a:srgbClr val="1F3B4D"/>
                </a:solidFill>
                <a:latin typeface="Nunito Sans" pitchFamily="34" charset="0"/>
                <a:ea typeface="Nunito Sans" pitchFamily="34" charset="-122"/>
                <a:cs typeface="Nunito Sans" pitchFamily="34" charset="-120"/>
              </a:rPr>
              <a:t>Coast and Puget Sound stocks are distinct</a:t>
            </a:r>
            <a:endParaRPr lang="en-US" sz="1500" dirty="0"/>
          </a:p>
          <a:p>
            <a:pPr marL="182880" indent="-182880" algn="l">
              <a:lnSpc>
                <a:spcPts val="2100"/>
              </a:lnSpc>
              <a:buSzPct val="100000"/>
              <a:buChar char="•"/>
            </a:pPr>
            <a:r>
              <a:rPr lang="en-US" sz="1500" dirty="0">
                <a:solidFill>
                  <a:srgbClr val="1F3B4D"/>
                </a:solidFill>
                <a:latin typeface="Nunito Sans" pitchFamily="34" charset="0"/>
                <a:ea typeface="Nunito Sans" pitchFamily="34" charset="-122"/>
                <a:cs typeface="Nunito Sans" pitchFamily="34" charset="-120"/>
              </a:rPr>
              <a:t>Water conditions are not a strong guide to genetic makeup</a:t>
            </a:r>
            <a:endParaRPr lang="en-US" sz="1500" dirty="0"/>
          </a:p>
        </p:txBody>
      </p:sp>
      <p:sp>
        <p:nvSpPr>
          <p:cNvPr id="7" name="Shape 5"/>
          <p:cNvSpPr/>
          <p:nvPr/>
        </p:nvSpPr>
        <p:spPr>
          <a:xfrm>
            <a:off x="6200775" y="1795066"/>
            <a:ext cx="5175250" cy="2132310"/>
          </a:xfrm>
          <a:prstGeom prst="roundRect">
            <a:avLst>
              <a:gd name="adj" fmla="val 4616"/>
            </a:avLst>
          </a:prstGeom>
          <a:solidFill>
            <a:srgbClr val="FBF9F4"/>
          </a:solidFill>
          <a:ln w="6350">
            <a:solidFill>
              <a:srgbClr val="DDD8CC"/>
            </a:solidFill>
            <a:prstDash val="solid"/>
          </a:ln>
        </p:spPr>
        <p:txBody>
          <a:bodyPr/>
          <a:lstStyle/>
          <a:p>
            <a:endParaRPr lang="en-US"/>
          </a:p>
        </p:txBody>
      </p:sp>
      <p:sp>
        <p:nvSpPr>
          <p:cNvPr id="8" name="Text 6"/>
          <p:cNvSpPr/>
          <p:nvPr/>
        </p:nvSpPr>
        <p:spPr>
          <a:xfrm>
            <a:off x="6432550" y="2001441"/>
            <a:ext cx="485305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A9561A"/>
                </a:solidFill>
                <a:latin typeface="Nunito Sans" pitchFamily="34" charset="0"/>
                <a:ea typeface="Nunito Sans" pitchFamily="34" charset="-122"/>
                <a:cs typeface="Nunito Sans" pitchFamily="34" charset="-120"/>
              </a:rPr>
              <a:t>What they don't show</a:t>
            </a:r>
            <a:endParaRPr lang="en-US" sz="1700" dirty="0"/>
          </a:p>
        </p:txBody>
      </p:sp>
      <p:sp>
        <p:nvSpPr>
          <p:cNvPr id="9" name="Text 7"/>
          <p:cNvSpPr/>
          <p:nvPr/>
        </p:nvSpPr>
        <p:spPr>
          <a:xfrm>
            <a:off x="6503670" y="2387501"/>
            <a:ext cx="4774311" cy="13589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1F3B4D"/>
                </a:solidFill>
                <a:latin typeface="Nunito Sans" pitchFamily="34" charset="0"/>
                <a:ea typeface="Nunito Sans" pitchFamily="34" charset="-122"/>
                <a:cs typeface="Nunito Sans" pitchFamily="34" charset="-120"/>
              </a:rPr>
              <a:t>That oysters are not adapted to local water. Effects may be small or need more sites</a:t>
            </a:r>
            <a:endParaRPr lang="en-US" sz="1500" dirty="0"/>
          </a:p>
          <a:p>
            <a:pPr marL="182880" indent="-182880" algn="l">
              <a:lnSpc>
                <a:spcPts val="2100"/>
              </a:lnSpc>
              <a:buSzPct val="100000"/>
              <a:buChar char="•"/>
            </a:pPr>
            <a:r>
              <a:rPr lang="en-US" sz="1500" dirty="0">
                <a:solidFill>
                  <a:srgbClr val="1F3B4D"/>
                </a:solidFill>
                <a:latin typeface="Nunito Sans" pitchFamily="34" charset="0"/>
                <a:ea typeface="Nunito Sans" pitchFamily="34" charset="-122"/>
                <a:cs typeface="Nunito Sans" pitchFamily="34" charset="-120"/>
              </a:rPr>
              <a:t>Which sites hold the most genetic diversity. Differences track collection year (2018 vs. 2024)</a:t>
            </a:r>
            <a:endParaRPr lang="en-US" sz="1500" dirty="0"/>
          </a:p>
          <a:p>
            <a:pPr marL="182880" indent="-182880" algn="l">
              <a:lnSpc>
                <a:spcPts val="2100"/>
              </a:lnSpc>
              <a:buSzPct val="100000"/>
              <a:buChar char="•"/>
            </a:pPr>
            <a:r>
              <a:rPr lang="en-US" sz="1500" dirty="0">
                <a:solidFill>
                  <a:srgbClr val="1F3B4D"/>
                </a:solidFill>
                <a:latin typeface="Nunito Sans" pitchFamily="34" charset="0"/>
                <a:ea typeface="Nunito Sans" pitchFamily="34" charset="-122"/>
                <a:cs typeface="Nunito Sans" pitchFamily="34" charset="-120"/>
              </a:rPr>
              <a:t>Why Mud Bay groups with Hood Canal</a:t>
            </a:r>
            <a:endParaRPr lang="en-US" sz="15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0"/>
                </a:solidFill>
                <a:latin typeface="Nunito Sans" pitchFamily="34" charset="0"/>
                <a:ea typeface="Nunito Sans" pitchFamily="34" charset="-122"/>
                <a:cs typeface="Nunito Sans" pitchFamily="34" charset="-120"/>
              </a:rPr>
              <a:t>Olympia oyster genetics · Bengtsson, Martinelli &amp; Roberts</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1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35A17"/>
                </a:solidFill>
                <a:latin typeface="IBM Plex Sans" pitchFamily="34" charset="0"/>
                <a:ea typeface="IBM Plex Sans" pitchFamily="34" charset="-122"/>
                <a:cs typeface="IBM Plex Sans" pitchFamily="34" charset="-120"/>
              </a:rPr>
              <a:t>COLLECTION YEAR</a:t>
            </a:r>
            <a:endParaRPr lang="en-US" sz="1200" dirty="0"/>
          </a:p>
        </p:txBody>
      </p:sp>
      <p:sp>
        <p:nvSpPr>
          <p:cNvPr id="3" name="Text 1"/>
          <p:cNvSpPr>
            <a:spLocks noGrp="1"/>
          </p:cNvSpPr>
          <p:nvPr>
            <p:ph type="title"/>
          </p:nvPr>
        </p:nvSpPr>
        <p:spPr>
          <a:xfrm>
            <a:off x="812800" y="1076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303A"/>
                </a:solidFill>
                <a:latin typeface="Source Serif 4" pitchFamily="18" charset="0"/>
                <a:ea typeface="Source Serif 4" pitchFamily="18" charset="-122"/>
                <a:cs typeface="Source Serif 4" pitchFamily="18" charset="-120"/>
              </a:rPr>
              <a:t>Accounting for collection year leaves the result unchanged</a:t>
            </a:r>
            <a:endParaRPr lang="en-US" sz="2800" dirty="0"/>
          </a:p>
        </p:txBody>
      </p:sp>
      <p:sp>
        <p:nvSpPr>
          <p:cNvPr id="4" name="Shape 2"/>
          <p:cNvSpPr/>
          <p:nvPr/>
        </p:nvSpPr>
        <p:spPr>
          <a:xfrm>
            <a:off x="815975" y="1725216"/>
            <a:ext cx="3247727" cy="1441351"/>
          </a:xfrm>
          <a:prstGeom prst="roundRect">
            <a:avLst>
              <a:gd name="adj" fmla="val 5066"/>
            </a:avLst>
          </a:prstGeom>
          <a:solidFill>
            <a:srgbClr val="FBFAF6"/>
          </a:solidFill>
          <a:ln w="6350">
            <a:solidFill>
              <a:srgbClr val="E2DED3"/>
            </a:solidFill>
            <a:prstDash val="solid"/>
          </a:ln>
        </p:spPr>
        <p:txBody>
          <a:bodyPr/>
          <a:lstStyle/>
          <a:p>
            <a:endParaRPr lang="en-US"/>
          </a:p>
        </p:txBody>
      </p:sp>
      <p:sp>
        <p:nvSpPr>
          <p:cNvPr id="5" name="Text 3"/>
          <p:cNvSpPr/>
          <p:nvPr/>
        </p:nvSpPr>
        <p:spPr>
          <a:xfrm>
            <a:off x="996950" y="1880791"/>
            <a:ext cx="29723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Year on its own</a:t>
            </a:r>
            <a:endParaRPr lang="en-US" sz="1500" dirty="0"/>
          </a:p>
        </p:txBody>
      </p:sp>
      <p:sp>
        <p:nvSpPr>
          <p:cNvPr id="6" name="Text 4"/>
          <p:cNvSpPr/>
          <p:nvPr/>
        </p:nvSpPr>
        <p:spPr>
          <a:xfrm>
            <a:off x="996950" y="2160191"/>
            <a:ext cx="2972351" cy="398760"/>
          </a:xfrm>
          <a:prstGeom prst="rect">
            <a:avLst/>
          </a:prstGeom>
          <a:noFill/>
          <a:ln/>
        </p:spPr>
        <p:txBody>
          <a:bodyPr wrap="square" lIns="0" tIns="0" rIns="0" bIns="0" rtlCol="0" anchor="t">
            <a:normAutofit/>
          </a:bodyPr>
          <a:lstStyle/>
          <a:p>
            <a:pPr marL="0" indent="0" algn="l">
              <a:lnSpc>
                <a:spcPts val="2940"/>
              </a:lnSpc>
              <a:buNone/>
            </a:pPr>
            <a:r>
              <a:rPr lang="en-US" sz="2800" b="1" dirty="0">
                <a:solidFill>
                  <a:srgbClr val="2E6E7E"/>
                </a:solidFill>
                <a:latin typeface="Source Serif 4" pitchFamily="18" charset="0"/>
                <a:ea typeface="Source Serif 4" pitchFamily="18" charset="-122"/>
                <a:cs typeface="Source Serif 4" pitchFamily="18" charset="-120"/>
              </a:rPr>
              <a:t>0.6%</a:t>
            </a:r>
            <a:endParaRPr lang="en-US" sz="2800" dirty="0"/>
          </a:p>
        </p:txBody>
      </p:sp>
      <p:sp>
        <p:nvSpPr>
          <p:cNvPr id="7" name="Text 5"/>
          <p:cNvSpPr/>
          <p:nvPr/>
        </p:nvSpPr>
        <p:spPr>
          <a:xfrm>
            <a:off x="996950" y="2584351"/>
            <a:ext cx="297235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of allele-frequency variation (adj. R²), p = 0.19. Not a strong batch signal.</a:t>
            </a:r>
            <a:endParaRPr lang="en-US" sz="1200" dirty="0"/>
          </a:p>
        </p:txBody>
      </p:sp>
      <p:sp>
        <p:nvSpPr>
          <p:cNvPr id="8" name="Shape 6"/>
          <p:cNvSpPr/>
          <p:nvPr/>
        </p:nvSpPr>
        <p:spPr>
          <a:xfrm>
            <a:off x="4222452" y="1725216"/>
            <a:ext cx="4054078" cy="1441351"/>
          </a:xfrm>
          <a:prstGeom prst="roundRect">
            <a:avLst>
              <a:gd name="adj" fmla="val 5066"/>
            </a:avLst>
          </a:prstGeom>
          <a:solidFill>
            <a:srgbClr val="FBFAF6"/>
          </a:solidFill>
          <a:ln w="6350">
            <a:solidFill>
              <a:srgbClr val="E2DED3"/>
            </a:solidFill>
            <a:prstDash val="solid"/>
          </a:ln>
        </p:spPr>
        <p:txBody>
          <a:bodyPr/>
          <a:lstStyle/>
          <a:p>
            <a:endParaRPr lang="en-US"/>
          </a:p>
        </p:txBody>
      </p:sp>
      <p:sp>
        <p:nvSpPr>
          <p:cNvPr id="9" name="Text 7"/>
          <p:cNvSpPr/>
          <p:nvPr/>
        </p:nvSpPr>
        <p:spPr>
          <a:xfrm>
            <a:off x="4403427" y="1880791"/>
            <a:ext cx="38028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Environment, given year</a:t>
            </a:r>
            <a:endParaRPr lang="en-US" sz="1500" dirty="0"/>
          </a:p>
        </p:txBody>
      </p:sp>
      <p:sp>
        <p:nvSpPr>
          <p:cNvPr id="10" name="Text 8"/>
          <p:cNvSpPr/>
          <p:nvPr/>
        </p:nvSpPr>
        <p:spPr>
          <a:xfrm>
            <a:off x="4403427" y="2160191"/>
            <a:ext cx="3802892" cy="398760"/>
          </a:xfrm>
          <a:prstGeom prst="rect">
            <a:avLst/>
          </a:prstGeom>
          <a:noFill/>
          <a:ln/>
        </p:spPr>
        <p:txBody>
          <a:bodyPr wrap="square" lIns="0" tIns="0" rIns="0" bIns="0" rtlCol="0" anchor="t">
            <a:normAutofit/>
          </a:bodyPr>
          <a:lstStyle/>
          <a:p>
            <a:pPr marL="0" indent="0" algn="l">
              <a:lnSpc>
                <a:spcPts val="2940"/>
              </a:lnSpc>
              <a:buNone/>
            </a:pPr>
            <a:r>
              <a:rPr lang="en-US" sz="2800" b="1" dirty="0">
                <a:solidFill>
                  <a:srgbClr val="B35A17"/>
                </a:solidFill>
                <a:latin typeface="Source Serif 4" pitchFamily="18" charset="0"/>
                <a:ea typeface="Source Serif 4" pitchFamily="18" charset="-122"/>
                <a:cs typeface="Source Serif 4" pitchFamily="18" charset="-120"/>
              </a:rPr>
              <a:t>4.3%</a:t>
            </a:r>
            <a:endParaRPr lang="en-US" sz="2800" dirty="0"/>
          </a:p>
        </p:txBody>
      </p:sp>
      <p:sp>
        <p:nvSpPr>
          <p:cNvPr id="11" name="Text 9"/>
          <p:cNvSpPr/>
          <p:nvPr/>
        </p:nvSpPr>
        <p:spPr>
          <a:xfrm>
            <a:off x="4403427" y="2584351"/>
            <a:ext cx="38028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p = 0.08 (0.12 with permutations kept within year). Given geography + year: −2.0%, p = 0.84.</a:t>
            </a:r>
            <a:endParaRPr lang="en-US" sz="1200" dirty="0"/>
          </a:p>
        </p:txBody>
      </p:sp>
      <p:sp>
        <p:nvSpPr>
          <p:cNvPr id="12" name="Shape 10"/>
          <p:cNvSpPr/>
          <p:nvPr/>
        </p:nvSpPr>
        <p:spPr>
          <a:xfrm>
            <a:off x="8435280" y="1725216"/>
            <a:ext cx="2940745" cy="1441351"/>
          </a:xfrm>
          <a:prstGeom prst="roundRect">
            <a:avLst>
              <a:gd name="adj" fmla="val 5066"/>
            </a:avLst>
          </a:prstGeom>
          <a:solidFill>
            <a:srgbClr val="FBFAF6"/>
          </a:solidFill>
          <a:ln w="6350">
            <a:solidFill>
              <a:srgbClr val="E2DED3"/>
            </a:solidFill>
            <a:prstDash val="solid"/>
          </a:ln>
        </p:spPr>
        <p:txBody>
          <a:bodyPr/>
          <a:lstStyle/>
          <a:p>
            <a:endParaRPr lang="en-US"/>
          </a:p>
        </p:txBody>
      </p:sp>
      <p:sp>
        <p:nvSpPr>
          <p:cNvPr id="13" name="Text 11"/>
          <p:cNvSpPr/>
          <p:nvPr/>
        </p:nvSpPr>
        <p:spPr>
          <a:xfrm>
            <a:off x="8616255" y="1880791"/>
            <a:ext cx="265615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303A"/>
                </a:solidFill>
                <a:latin typeface="IBM Plex Sans" pitchFamily="34" charset="0"/>
                <a:ea typeface="IBM Plex Sans" pitchFamily="34" charset="-122"/>
                <a:cs typeface="IBM Plex Sans" pitchFamily="34" charset="-120"/>
              </a:rPr>
              <a:t>Same bay, six years apart</a:t>
            </a:r>
            <a:endParaRPr lang="en-US" sz="1500" dirty="0"/>
          </a:p>
        </p:txBody>
      </p:sp>
      <p:sp>
        <p:nvSpPr>
          <p:cNvPr id="14" name="Text 12"/>
          <p:cNvSpPr/>
          <p:nvPr/>
        </p:nvSpPr>
        <p:spPr>
          <a:xfrm>
            <a:off x="8616255" y="2160191"/>
            <a:ext cx="2656158" cy="398760"/>
          </a:xfrm>
          <a:prstGeom prst="rect">
            <a:avLst/>
          </a:prstGeom>
          <a:noFill/>
          <a:ln/>
        </p:spPr>
        <p:txBody>
          <a:bodyPr wrap="square" lIns="0" tIns="0" rIns="0" bIns="0" rtlCol="0" anchor="t">
            <a:normAutofit/>
          </a:bodyPr>
          <a:lstStyle/>
          <a:p>
            <a:pPr marL="0" indent="0" algn="l">
              <a:lnSpc>
                <a:spcPts val="2940"/>
              </a:lnSpc>
              <a:buNone/>
            </a:pPr>
            <a:r>
              <a:rPr lang="en-US" sz="2800" b="1" dirty="0">
                <a:solidFill>
                  <a:srgbClr val="2E6E7E"/>
                </a:solidFill>
                <a:latin typeface="Source Serif 4" pitchFamily="18" charset="0"/>
                <a:ea typeface="Source Serif 4" pitchFamily="18" charset="-122"/>
                <a:cs typeface="Source Serif 4" pitchFamily="18" charset="-120"/>
              </a:rPr>
              <a:t>0.055</a:t>
            </a:r>
            <a:endParaRPr lang="en-US" sz="2800" dirty="0"/>
          </a:p>
        </p:txBody>
      </p:sp>
      <p:sp>
        <p:nvSpPr>
          <p:cNvPr id="15" name="Text 13"/>
          <p:cNvSpPr/>
          <p:nvPr/>
        </p:nvSpPr>
        <p:spPr>
          <a:xfrm>
            <a:off x="8616255" y="2584351"/>
            <a:ext cx="265615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0"/>
                </a:solidFill>
                <a:latin typeface="IBM Plex Sans" pitchFamily="34" charset="0"/>
                <a:ea typeface="IBM Plex Sans" pitchFamily="34" charset="-122"/>
                <a:cs typeface="IBM Plex Sans" pitchFamily="34" charset="-120"/>
              </a:rPr>
              <a:t>Fidalgo 2018 vs 2024 Fst: lower than 61% of between-site pairs.</a:t>
            </a:r>
            <a:endParaRPr lang="en-US" sz="1200" dirty="0"/>
          </a:p>
        </p:txBody>
      </p:sp>
      <p:sp>
        <p:nvSpPr>
          <p:cNvPr id="16" name="Shape 14"/>
          <p:cNvSpPr/>
          <p:nvPr/>
        </p:nvSpPr>
        <p:spPr>
          <a:xfrm>
            <a:off x="815975" y="3426916"/>
            <a:ext cx="3099197" cy="839391"/>
          </a:xfrm>
          <a:prstGeom prst="roundRect">
            <a:avLst>
              <a:gd name="adj" fmla="val 8700"/>
            </a:avLst>
          </a:prstGeom>
          <a:solidFill>
            <a:srgbClr val="FBFAF6"/>
          </a:solidFill>
          <a:ln w="6350">
            <a:solidFill>
              <a:srgbClr val="E2DED3"/>
            </a:solidFill>
            <a:prstDash val="solid"/>
          </a:ln>
        </p:spPr>
        <p:txBody>
          <a:bodyPr/>
          <a:lstStyle/>
          <a:p>
            <a:endParaRPr lang="en-US"/>
          </a:p>
        </p:txBody>
      </p:sp>
      <p:sp>
        <p:nvSpPr>
          <p:cNvPr id="17" name="Text 15"/>
          <p:cNvSpPr/>
          <p:nvPr/>
        </p:nvSpPr>
        <p:spPr>
          <a:xfrm>
            <a:off x="996950" y="3582491"/>
            <a:ext cx="281936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35A17"/>
                </a:solidFill>
                <a:latin typeface="IBM Plex Sans" pitchFamily="34" charset="0"/>
                <a:ea typeface="IBM Plex Sans" pitchFamily="34" charset="-122"/>
                <a:cs typeface="IBM Plex Sans" pitchFamily="34" charset="-120"/>
              </a:rPr>
              <a:t>2024 sites only (7)</a:t>
            </a:r>
            <a:endParaRPr lang="en-US" sz="1500" dirty="0"/>
          </a:p>
        </p:txBody>
      </p:sp>
      <p:sp>
        <p:nvSpPr>
          <p:cNvPr id="18" name="Text 16"/>
          <p:cNvSpPr/>
          <p:nvPr/>
        </p:nvSpPr>
        <p:spPr>
          <a:xfrm>
            <a:off x="996950" y="3861891"/>
            <a:ext cx="29150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303A"/>
                </a:solidFill>
                <a:latin typeface="IBM Plex Sans" pitchFamily="34" charset="0"/>
                <a:ea typeface="IBM Plex Sans" pitchFamily="34" charset="-122"/>
                <a:cs typeface="IBM Plex Sans" pitchFamily="34" charset="-120"/>
              </a:rPr>
              <a:t>Environment adj. R² 11%, p = 0.10</a:t>
            </a:r>
            <a:endParaRPr lang="en-US" sz="1400" dirty="0"/>
          </a:p>
        </p:txBody>
      </p:sp>
      <p:sp>
        <p:nvSpPr>
          <p:cNvPr id="19" name="Shape 17"/>
          <p:cNvSpPr/>
          <p:nvPr/>
        </p:nvSpPr>
        <p:spPr>
          <a:xfrm>
            <a:off x="4073922" y="3426916"/>
            <a:ext cx="3254276" cy="839391"/>
          </a:xfrm>
          <a:prstGeom prst="roundRect">
            <a:avLst>
              <a:gd name="adj" fmla="val 8700"/>
            </a:avLst>
          </a:prstGeom>
          <a:solidFill>
            <a:srgbClr val="FBFAF6"/>
          </a:solidFill>
          <a:ln w="6350">
            <a:solidFill>
              <a:srgbClr val="E2DED3"/>
            </a:solidFill>
            <a:prstDash val="solid"/>
          </a:ln>
        </p:spPr>
        <p:txBody>
          <a:bodyPr/>
          <a:lstStyle/>
          <a:p>
            <a:endParaRPr lang="en-US"/>
          </a:p>
        </p:txBody>
      </p:sp>
      <p:sp>
        <p:nvSpPr>
          <p:cNvPr id="20" name="Text 18"/>
          <p:cNvSpPr/>
          <p:nvPr/>
        </p:nvSpPr>
        <p:spPr>
          <a:xfrm>
            <a:off x="4254897" y="3582491"/>
            <a:ext cx="297909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E6E7E"/>
                </a:solidFill>
                <a:latin typeface="IBM Plex Sans" pitchFamily="34" charset="0"/>
                <a:ea typeface="IBM Plex Sans" pitchFamily="34" charset="-122"/>
                <a:cs typeface="IBM Plex Sans" pitchFamily="34" charset="-120"/>
              </a:rPr>
              <a:t>2018 sites only (7)</a:t>
            </a:r>
            <a:endParaRPr lang="en-US" sz="1500" dirty="0"/>
          </a:p>
        </p:txBody>
      </p:sp>
      <p:sp>
        <p:nvSpPr>
          <p:cNvPr id="21" name="Text 19"/>
          <p:cNvSpPr/>
          <p:nvPr/>
        </p:nvSpPr>
        <p:spPr>
          <a:xfrm>
            <a:off x="4254897" y="3861891"/>
            <a:ext cx="307012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303A"/>
                </a:solidFill>
                <a:latin typeface="IBM Plex Sans" pitchFamily="34" charset="0"/>
                <a:ea typeface="IBM Plex Sans" pitchFamily="34" charset="-122"/>
                <a:cs typeface="IBM Plex Sans" pitchFamily="34" charset="-120"/>
              </a:rPr>
              <a:t>Environment adj. R² −0.9%, p = 0.59</a:t>
            </a:r>
            <a:endParaRPr lang="en-US" sz="1400" dirty="0"/>
          </a:p>
        </p:txBody>
      </p:sp>
      <p:sp>
        <p:nvSpPr>
          <p:cNvPr id="22" name="Text 20"/>
          <p:cNvSpPr/>
          <p:nvPr/>
        </p:nvSpPr>
        <p:spPr>
          <a:xfrm>
            <a:off x="812800" y="4523482"/>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Sites labelled 18 were collected in 2018, the rest in 2024, so year is partly confounded with site. Year entered as a variance component, a conditioning term and a permutation stratum.</a:t>
            </a:r>
            <a:endParaRPr lang="en-US" sz="12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Bengtsson, Martinelli &amp; Roberts · Olympia oyster lc-WGS</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A9561A"/>
                </a:solidFill>
                <a:latin typeface="Nunito Sans" pitchFamily="34" charset="0"/>
                <a:ea typeface="Nunito Sans" pitchFamily="34" charset="-122"/>
                <a:cs typeface="Nunito Sans" pitchFamily="34" charset="-120"/>
              </a:rPr>
              <a:t>CONSIDERATIONS</a:t>
            </a:r>
            <a:endParaRPr lang="en-US" sz="1300" dirty="0"/>
          </a:p>
        </p:txBody>
      </p:sp>
      <p:sp>
        <p:nvSpPr>
          <p:cNvPr id="3" name="Text 1"/>
          <p:cNvSpPr>
            <a:spLocks noGrp="1"/>
          </p:cNvSpPr>
          <p:nvPr>
            <p:ph type="title"/>
          </p:nvPr>
        </p:nvSpPr>
        <p:spPr>
          <a:xfrm>
            <a:off x="812800" y="1107380"/>
            <a:ext cx="10883392" cy="430510"/>
          </a:xfrm>
          <a:prstGeom prst="rect">
            <a:avLst/>
          </a:prstGeom>
          <a:noFill/>
          <a:ln/>
        </p:spPr>
        <p:txBody>
          <a:bodyPr wrap="square" lIns="0" tIns="0" rIns="0" bIns="0" rtlCol="0" anchor="t">
            <a:normAutofit/>
          </a:bodyPr>
          <a:lstStyle/>
          <a:p>
            <a:pPr marL="0" indent="0" algn="l">
              <a:lnSpc>
                <a:spcPts val="3190"/>
              </a:lnSpc>
              <a:buNone/>
            </a:pPr>
            <a:r>
              <a:rPr lang="en-US" sz="2900" b="1" i="0" dirty="0">
                <a:solidFill>
                  <a:srgbClr val="1F3B4D"/>
                </a:solidFill>
                <a:latin typeface="Domine" pitchFamily="18" charset="0"/>
                <a:ea typeface="Domine" pitchFamily="18" charset="-122"/>
                <a:cs typeface="Domine" pitchFamily="18" charset="-120"/>
              </a:rPr>
              <a:t>Considerations for seed and broodstock sourcing</a:t>
            </a:r>
            <a:endParaRPr lang="en-US" sz="2900" dirty="0"/>
          </a:p>
        </p:txBody>
      </p:sp>
      <p:sp>
        <p:nvSpPr>
          <p:cNvPr id="4" name="Shape 2"/>
          <p:cNvSpPr/>
          <p:nvPr/>
        </p:nvSpPr>
        <p:spPr>
          <a:xfrm>
            <a:off x="812800" y="1795066"/>
            <a:ext cx="10566400" cy="0"/>
          </a:xfrm>
          <a:prstGeom prst="line">
            <a:avLst/>
          </a:prstGeom>
          <a:noFill/>
          <a:ln w="6350">
            <a:solidFill>
              <a:srgbClr val="DDD8CC"/>
            </a:solidFill>
            <a:prstDash val="solid"/>
          </a:ln>
        </p:spPr>
        <p:txBody>
          <a:bodyPr/>
          <a:lstStyle/>
          <a:p>
            <a:endParaRPr lang="en-US"/>
          </a:p>
        </p:txBody>
      </p:sp>
      <p:sp>
        <p:nvSpPr>
          <p:cNvPr id="5" name="Text 3"/>
          <p:cNvSpPr/>
          <p:nvPr/>
        </p:nvSpPr>
        <p:spPr>
          <a:xfrm>
            <a:off x="812800" y="1950641"/>
            <a:ext cx="198735" cy="398760"/>
          </a:xfrm>
          <a:prstGeom prst="rect">
            <a:avLst/>
          </a:prstGeom>
          <a:noFill/>
          <a:ln/>
        </p:spPr>
        <p:txBody>
          <a:bodyPr wrap="square" lIns="0" tIns="0" rIns="0" bIns="0" rtlCol="0" anchor="t">
            <a:normAutofit/>
          </a:bodyPr>
          <a:lstStyle/>
          <a:p>
            <a:pPr marL="0" indent="0" algn="l">
              <a:lnSpc>
                <a:spcPts val="2940"/>
              </a:lnSpc>
              <a:buNone/>
            </a:pPr>
            <a:r>
              <a:rPr lang="en-US" sz="2800" b="1" dirty="0">
                <a:solidFill>
                  <a:srgbClr val="A9561A"/>
                </a:solidFill>
                <a:latin typeface="Domine" pitchFamily="18" charset="0"/>
                <a:ea typeface="Domine" pitchFamily="18" charset="-122"/>
                <a:cs typeface="Domine" pitchFamily="18" charset="-120"/>
              </a:rPr>
              <a:t>1</a:t>
            </a:r>
            <a:endParaRPr lang="en-US" sz="2800" dirty="0"/>
          </a:p>
        </p:txBody>
      </p:sp>
      <p:sp>
        <p:nvSpPr>
          <p:cNvPr id="6" name="Text 4"/>
          <p:cNvSpPr/>
          <p:nvPr/>
        </p:nvSpPr>
        <p:spPr>
          <a:xfrm>
            <a:off x="1138535" y="1950641"/>
            <a:ext cx="6347579"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F3B4D"/>
                </a:solidFill>
                <a:latin typeface="Nunito Sans" pitchFamily="34" charset="0"/>
                <a:ea typeface="Nunito Sans" pitchFamily="34" charset="-122"/>
                <a:cs typeface="Nunito Sans" pitchFamily="34" charset="-120"/>
              </a:rPr>
              <a:t>Keep outer-coast and Puget Sound stocks separate.</a:t>
            </a:r>
            <a:endParaRPr lang="en-US" sz="1700" dirty="0"/>
          </a:p>
        </p:txBody>
      </p:sp>
      <p:sp>
        <p:nvSpPr>
          <p:cNvPr id="7" name="Text 5"/>
          <p:cNvSpPr/>
          <p:nvPr/>
        </p:nvSpPr>
        <p:spPr>
          <a:xfrm>
            <a:off x="1138535" y="2290961"/>
            <a:ext cx="5448339"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A63"/>
                </a:solidFill>
                <a:latin typeface="Nunito Sans" pitchFamily="34" charset="0"/>
                <a:ea typeface="Nunito Sans" pitchFamily="34" charset="-122"/>
                <a:cs typeface="Nunito Sans" pitchFamily="34" charset="-120"/>
              </a:rPr>
              <a:t>The clearest and largest genetic boundary in the data.</a:t>
            </a:r>
            <a:endParaRPr lang="en-US" sz="1400" dirty="0"/>
          </a:p>
        </p:txBody>
      </p:sp>
      <p:sp>
        <p:nvSpPr>
          <p:cNvPr id="8" name="Shape 6"/>
          <p:cNvSpPr/>
          <p:nvPr/>
        </p:nvSpPr>
        <p:spPr>
          <a:xfrm>
            <a:off x="812800" y="2695377"/>
            <a:ext cx="10566400" cy="0"/>
          </a:xfrm>
          <a:prstGeom prst="line">
            <a:avLst/>
          </a:prstGeom>
          <a:noFill/>
          <a:ln w="6350">
            <a:solidFill>
              <a:srgbClr val="DDD8CC"/>
            </a:solidFill>
            <a:prstDash val="solid"/>
          </a:ln>
        </p:spPr>
        <p:txBody>
          <a:bodyPr/>
          <a:lstStyle/>
          <a:p>
            <a:endParaRPr lang="en-US"/>
          </a:p>
        </p:txBody>
      </p:sp>
      <p:sp>
        <p:nvSpPr>
          <p:cNvPr id="9" name="Text 7"/>
          <p:cNvSpPr/>
          <p:nvPr/>
        </p:nvSpPr>
        <p:spPr>
          <a:xfrm>
            <a:off x="812800" y="2850952"/>
            <a:ext cx="264220" cy="398760"/>
          </a:xfrm>
          <a:prstGeom prst="rect">
            <a:avLst/>
          </a:prstGeom>
          <a:noFill/>
          <a:ln/>
        </p:spPr>
        <p:txBody>
          <a:bodyPr wrap="square" lIns="0" tIns="0" rIns="0" bIns="0" rtlCol="0" anchor="t">
            <a:normAutofit/>
          </a:bodyPr>
          <a:lstStyle/>
          <a:p>
            <a:pPr marL="0" indent="0" algn="l">
              <a:lnSpc>
                <a:spcPts val="2940"/>
              </a:lnSpc>
              <a:buNone/>
            </a:pPr>
            <a:r>
              <a:rPr lang="en-US" sz="2800" b="1" dirty="0">
                <a:solidFill>
                  <a:srgbClr val="A9561A"/>
                </a:solidFill>
                <a:latin typeface="Domine" pitchFamily="18" charset="0"/>
                <a:ea typeface="Domine" pitchFamily="18" charset="-122"/>
                <a:cs typeface="Domine" pitchFamily="18" charset="-120"/>
              </a:rPr>
              <a:t>2</a:t>
            </a:r>
            <a:endParaRPr lang="en-US" sz="2800" dirty="0"/>
          </a:p>
        </p:txBody>
      </p:sp>
      <p:sp>
        <p:nvSpPr>
          <p:cNvPr id="10" name="Text 8"/>
          <p:cNvSpPr/>
          <p:nvPr/>
        </p:nvSpPr>
        <p:spPr>
          <a:xfrm>
            <a:off x="1204020" y="2850952"/>
            <a:ext cx="6639163"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F3B4D"/>
                </a:solidFill>
                <a:latin typeface="Nunito Sans" pitchFamily="34" charset="0"/>
                <a:ea typeface="Nunito Sans" pitchFamily="34" charset="-122"/>
                <a:cs typeface="Nunito Sans" pitchFamily="34" charset="-120"/>
              </a:rPr>
              <a:t>Source within the same genetic group where possible.</a:t>
            </a:r>
            <a:endParaRPr lang="en-US" sz="1700" dirty="0"/>
          </a:p>
        </p:txBody>
      </p:sp>
      <p:sp>
        <p:nvSpPr>
          <p:cNvPr id="11" name="Text 9"/>
          <p:cNvSpPr/>
          <p:nvPr/>
        </p:nvSpPr>
        <p:spPr>
          <a:xfrm>
            <a:off x="1204020" y="3191272"/>
            <a:ext cx="663916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A63"/>
                </a:solidFill>
                <a:latin typeface="Nunito Sans" pitchFamily="34" charset="0"/>
                <a:ea typeface="Nunito Sans" pitchFamily="34" charset="-122"/>
                <a:cs typeface="Nunito Sans" pitchFamily="34" charset="-120"/>
              </a:rPr>
              <a:t>Central &amp; South Sound and Hood Canal &amp; Strait as a starting frame.</a:t>
            </a:r>
            <a:endParaRPr lang="en-US" sz="1400" dirty="0"/>
          </a:p>
        </p:txBody>
      </p:sp>
      <p:sp>
        <p:nvSpPr>
          <p:cNvPr id="12" name="Shape 10"/>
          <p:cNvSpPr/>
          <p:nvPr/>
        </p:nvSpPr>
        <p:spPr>
          <a:xfrm>
            <a:off x="812800" y="3595688"/>
            <a:ext cx="10566400" cy="0"/>
          </a:xfrm>
          <a:prstGeom prst="line">
            <a:avLst/>
          </a:prstGeom>
          <a:noFill/>
          <a:ln w="6350">
            <a:solidFill>
              <a:srgbClr val="DDD8CC"/>
            </a:solidFill>
            <a:prstDash val="solid"/>
          </a:ln>
        </p:spPr>
        <p:txBody>
          <a:bodyPr/>
          <a:lstStyle/>
          <a:p>
            <a:endParaRPr lang="en-US"/>
          </a:p>
        </p:txBody>
      </p:sp>
      <p:sp>
        <p:nvSpPr>
          <p:cNvPr id="13" name="Text 11"/>
          <p:cNvSpPr/>
          <p:nvPr/>
        </p:nvSpPr>
        <p:spPr>
          <a:xfrm>
            <a:off x="812800" y="3751263"/>
            <a:ext cx="260648" cy="398760"/>
          </a:xfrm>
          <a:prstGeom prst="rect">
            <a:avLst/>
          </a:prstGeom>
          <a:noFill/>
          <a:ln/>
        </p:spPr>
        <p:txBody>
          <a:bodyPr wrap="square" lIns="0" tIns="0" rIns="0" bIns="0" rtlCol="0" anchor="t">
            <a:normAutofit/>
          </a:bodyPr>
          <a:lstStyle/>
          <a:p>
            <a:pPr marL="0" indent="0" algn="l">
              <a:lnSpc>
                <a:spcPts val="2940"/>
              </a:lnSpc>
              <a:buNone/>
            </a:pPr>
            <a:r>
              <a:rPr lang="en-US" sz="2800" b="1" dirty="0">
                <a:solidFill>
                  <a:srgbClr val="A9561A"/>
                </a:solidFill>
                <a:latin typeface="Domine" pitchFamily="18" charset="0"/>
                <a:ea typeface="Domine" pitchFamily="18" charset="-122"/>
                <a:cs typeface="Domine" pitchFamily="18" charset="-120"/>
              </a:rPr>
              <a:t>3</a:t>
            </a:r>
            <a:endParaRPr lang="en-US" sz="2800" dirty="0"/>
          </a:p>
        </p:txBody>
      </p:sp>
      <p:sp>
        <p:nvSpPr>
          <p:cNvPr id="14" name="Text 12"/>
          <p:cNvSpPr/>
          <p:nvPr/>
        </p:nvSpPr>
        <p:spPr>
          <a:xfrm>
            <a:off x="1200448" y="3751263"/>
            <a:ext cx="6020753"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F3B4D"/>
                </a:solidFill>
                <a:latin typeface="Nunito Sans" pitchFamily="34" charset="0"/>
                <a:ea typeface="Nunito Sans" pitchFamily="34" charset="-122"/>
                <a:cs typeface="Nunito Sans" pitchFamily="34" charset="-120"/>
              </a:rPr>
              <a:t>Don't choose sources on water conditions alone.</a:t>
            </a:r>
            <a:endParaRPr lang="en-US" sz="1700" dirty="0"/>
          </a:p>
        </p:txBody>
      </p:sp>
      <p:sp>
        <p:nvSpPr>
          <p:cNvPr id="15" name="Text 13"/>
          <p:cNvSpPr/>
          <p:nvPr/>
        </p:nvSpPr>
        <p:spPr>
          <a:xfrm>
            <a:off x="1200448" y="4091583"/>
            <a:ext cx="602075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A63"/>
                </a:solidFill>
                <a:latin typeface="Nunito Sans" pitchFamily="34" charset="0"/>
                <a:ea typeface="Nunito Sans" pitchFamily="34" charset="-122"/>
                <a:cs typeface="Nunito Sans" pitchFamily="34" charset="-120"/>
              </a:rPr>
              <a:t>Current evidence doesn't show environment-matched genetics.</a:t>
            </a:r>
            <a:endParaRPr lang="en-US" sz="1400" dirty="0"/>
          </a:p>
        </p:txBody>
      </p:sp>
      <p:sp>
        <p:nvSpPr>
          <p:cNvPr id="16" name="Shape 14"/>
          <p:cNvSpPr/>
          <p:nvPr/>
        </p:nvSpPr>
        <p:spPr>
          <a:xfrm>
            <a:off x="812800" y="4495998"/>
            <a:ext cx="10566400" cy="0"/>
          </a:xfrm>
          <a:prstGeom prst="line">
            <a:avLst/>
          </a:prstGeom>
          <a:noFill/>
          <a:ln w="6350">
            <a:solidFill>
              <a:srgbClr val="DDD8CC"/>
            </a:solidFill>
            <a:prstDash val="solid"/>
          </a:ln>
        </p:spPr>
        <p:txBody>
          <a:bodyPr/>
          <a:lstStyle/>
          <a:p>
            <a:endParaRPr lang="en-US"/>
          </a:p>
        </p:txBody>
      </p:sp>
      <p:sp>
        <p:nvSpPr>
          <p:cNvPr id="17" name="Text 15"/>
          <p:cNvSpPr/>
          <p:nvPr/>
        </p:nvSpPr>
        <p:spPr>
          <a:xfrm>
            <a:off x="812800" y="4651573"/>
            <a:ext cx="254595" cy="398760"/>
          </a:xfrm>
          <a:prstGeom prst="rect">
            <a:avLst/>
          </a:prstGeom>
          <a:noFill/>
          <a:ln/>
        </p:spPr>
        <p:txBody>
          <a:bodyPr wrap="square" lIns="0" tIns="0" rIns="0" bIns="0" rtlCol="0" anchor="t">
            <a:normAutofit/>
          </a:bodyPr>
          <a:lstStyle/>
          <a:p>
            <a:pPr marL="0" indent="0" algn="l">
              <a:lnSpc>
                <a:spcPts val="2940"/>
              </a:lnSpc>
              <a:buNone/>
            </a:pPr>
            <a:r>
              <a:rPr lang="en-US" sz="2800" b="1" dirty="0">
                <a:solidFill>
                  <a:srgbClr val="A9561A"/>
                </a:solidFill>
                <a:latin typeface="Domine" pitchFamily="18" charset="0"/>
                <a:ea typeface="Domine" pitchFamily="18" charset="-122"/>
                <a:cs typeface="Domine" pitchFamily="18" charset="-120"/>
              </a:rPr>
              <a:t>4</a:t>
            </a:r>
            <a:endParaRPr lang="en-US" sz="2800" dirty="0"/>
          </a:p>
        </p:txBody>
      </p:sp>
      <p:sp>
        <p:nvSpPr>
          <p:cNvPr id="18" name="Text 16"/>
          <p:cNvSpPr/>
          <p:nvPr/>
        </p:nvSpPr>
        <p:spPr>
          <a:xfrm>
            <a:off x="1194395" y="4651573"/>
            <a:ext cx="8948618"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F3B4D"/>
                </a:solidFill>
                <a:latin typeface="Nunito Sans" pitchFamily="34" charset="0"/>
                <a:ea typeface="Nunito Sans" pitchFamily="34" charset="-122"/>
                <a:cs typeface="Nunito Sans" pitchFamily="34" charset="-120"/>
              </a:rPr>
              <a:t>Check transfer history before treating Mud Bay as a South Sound source.</a:t>
            </a:r>
            <a:endParaRPr lang="en-US" sz="1700" dirty="0"/>
          </a:p>
        </p:txBody>
      </p:sp>
      <p:sp>
        <p:nvSpPr>
          <p:cNvPr id="19" name="Text 17"/>
          <p:cNvSpPr/>
          <p:nvPr/>
        </p:nvSpPr>
        <p:spPr>
          <a:xfrm>
            <a:off x="1194395" y="4991894"/>
            <a:ext cx="768089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A63"/>
                </a:solidFill>
                <a:latin typeface="Nunito Sans" pitchFamily="34" charset="0"/>
                <a:ea typeface="Nunito Sans" pitchFamily="34" charset="-122"/>
                <a:cs typeface="Nunito Sans" pitchFamily="34" charset="-120"/>
              </a:rPr>
              <a:t>Its genetics match Hood Canal.</a:t>
            </a:r>
            <a:endParaRPr lang="en-US" sz="14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0"/>
                </a:solidFill>
                <a:latin typeface="Nunito Sans" pitchFamily="34" charset="0"/>
                <a:ea typeface="Nunito Sans" pitchFamily="34" charset="-122"/>
                <a:cs typeface="Nunito Sans" pitchFamily="34" charset="-120"/>
              </a:rPr>
              <a:t>Olympia oyster genetics · Bengtsson, Martinelli &amp; Roberts</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70"/>
                </a:solidFill>
                <a:latin typeface="Nunito Sans" pitchFamily="34" charset="0"/>
                <a:ea typeface="Nunito Sans" pitchFamily="34" charset="-122"/>
                <a:cs typeface="Nunito Sans" pitchFamily="34" charset="-120"/>
              </a:rPr>
              <a:t>9</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C4661F"/>
        </a:solidFill>
        <a:effectLst/>
      </p:bgPr>
    </p:bg>
    <p:spTree>
      <p:nvGrpSpPr>
        <p:cNvPr id="1" name=""/>
        <p:cNvGrpSpPr/>
        <p:nvPr/>
      </p:nvGrpSpPr>
      <p:grpSpPr>
        <a:xfrm>
          <a:off x="0" y="0"/>
          <a:ext cx="0" cy="0"/>
          <a:chOff x="0" y="0"/>
          <a:chExt cx="0" cy="0"/>
        </a:xfrm>
      </p:grpSpPr>
      <p:sp>
        <p:nvSpPr>
          <p:cNvPr id="2" name="Text 0"/>
          <p:cNvSpPr/>
          <p:nvPr/>
        </p:nvSpPr>
        <p:spPr>
          <a:xfrm>
            <a:off x="812800" y="1853009"/>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FFF8F0"/>
                </a:solidFill>
                <a:latin typeface="IBM Plex Sans" pitchFamily="34" charset="0"/>
                <a:ea typeface="IBM Plex Sans" pitchFamily="34" charset="-122"/>
                <a:cs typeface="IBM Plex Sans" pitchFamily="34" charset="-120"/>
              </a:rPr>
              <a:t>THE TAKE-HOME</a:t>
            </a:r>
            <a:endParaRPr lang="en-US" sz="1300" dirty="0"/>
          </a:p>
        </p:txBody>
      </p:sp>
      <p:sp>
        <p:nvSpPr>
          <p:cNvPr id="3" name="Text 1"/>
          <p:cNvSpPr>
            <a:spLocks noGrp="1"/>
          </p:cNvSpPr>
          <p:nvPr>
            <p:ph type="title"/>
          </p:nvPr>
        </p:nvSpPr>
        <p:spPr>
          <a:xfrm>
            <a:off x="812800" y="2338090"/>
            <a:ext cx="10203180" cy="186938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FF8F0"/>
                </a:solidFill>
                <a:latin typeface="Source Serif 4" pitchFamily="18" charset="0"/>
                <a:ea typeface="Source Serif 4" pitchFamily="18" charset="-122"/>
                <a:cs typeface="Source Serif 4" pitchFamily="18" charset="-120"/>
              </a:rPr>
              <a:t>Across Puget Sound, shared history, not today's water, explains most genomic differentiation.</a:t>
            </a:r>
            <a:endParaRPr lang="en-US" sz="4400" dirty="0"/>
          </a:p>
        </p:txBody>
      </p:sp>
      <p:sp>
        <p:nvSpPr>
          <p:cNvPr id="4" name="Text 2"/>
          <p:cNvSpPr/>
          <p:nvPr/>
        </p:nvSpPr>
        <p:spPr>
          <a:xfrm>
            <a:off x="812800" y="4436070"/>
            <a:ext cx="91567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8F0"/>
                </a:solidFill>
                <a:latin typeface="IBM Plex Sans" pitchFamily="34" charset="0"/>
                <a:ea typeface="IBM Plex Sans" pitchFamily="34" charset="-122"/>
                <a:cs typeface="IBM Plex Sans" pitchFamily="34" charset="-120"/>
              </a:rPr>
              <a:t>At the scale of 14 sites and 2015–2018 surface climatologies, with or without collection year in the model.</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35A17"/>
                </a:solidFill>
                <a:latin typeface="IBM Plex Sans" pitchFamily="34" charset="0"/>
                <a:ea typeface="IBM Plex Sans" pitchFamily="34" charset="-122"/>
                <a:cs typeface="IBM Plex Sans" pitchFamily="34" charset="-120"/>
              </a:rPr>
              <a:t>CONCLUSIONS</a:t>
            </a:r>
            <a:endParaRPr lang="en-US" sz="1200" dirty="0"/>
          </a:p>
        </p:txBody>
      </p:sp>
      <p:sp>
        <p:nvSpPr>
          <p:cNvPr id="3" name="Text 1"/>
          <p:cNvSpPr>
            <a:spLocks noGrp="1"/>
          </p:cNvSpPr>
          <p:nvPr>
            <p:ph type="title"/>
          </p:nvPr>
        </p:nvSpPr>
        <p:spPr>
          <a:xfrm>
            <a:off x="812800" y="10769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303A"/>
                </a:solidFill>
                <a:latin typeface="Source Serif 4" pitchFamily="18" charset="0"/>
                <a:ea typeface="Source Serif 4" pitchFamily="18" charset="-122"/>
                <a:cs typeface="Source Serif 4" pitchFamily="18" charset="-120"/>
              </a:rPr>
              <a:t>What this means for restoration, and what comes next</a:t>
            </a:r>
            <a:endParaRPr lang="en-US" sz="2800" dirty="0"/>
          </a:p>
        </p:txBody>
      </p:sp>
      <p:sp>
        <p:nvSpPr>
          <p:cNvPr id="4" name="Shape 2"/>
          <p:cNvSpPr/>
          <p:nvPr/>
        </p:nvSpPr>
        <p:spPr>
          <a:xfrm>
            <a:off x="815975" y="1725216"/>
            <a:ext cx="5175250" cy="2510234"/>
          </a:xfrm>
          <a:prstGeom prst="roundRect">
            <a:avLst>
              <a:gd name="adj" fmla="val 2909"/>
            </a:avLst>
          </a:prstGeom>
          <a:solidFill>
            <a:srgbClr val="FBFAF6"/>
          </a:solidFill>
          <a:ln w="6350">
            <a:solidFill>
              <a:srgbClr val="E2DED3"/>
            </a:solidFill>
            <a:prstDash val="solid"/>
          </a:ln>
        </p:spPr>
        <p:txBody>
          <a:bodyPr/>
          <a:lstStyle/>
          <a:p>
            <a:endParaRPr lang="en-US"/>
          </a:p>
        </p:txBody>
      </p:sp>
      <p:sp>
        <p:nvSpPr>
          <p:cNvPr id="5" name="Text 3"/>
          <p:cNvSpPr/>
          <p:nvPr/>
        </p:nvSpPr>
        <p:spPr>
          <a:xfrm>
            <a:off x="1047750" y="1931591"/>
            <a:ext cx="48530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E6E7E"/>
                </a:solidFill>
                <a:latin typeface="IBM Plex Sans" pitchFamily="34" charset="0"/>
                <a:ea typeface="IBM Plex Sans" pitchFamily="34" charset="-122"/>
                <a:cs typeface="IBM Plex Sans" pitchFamily="34" charset="-120"/>
              </a:rPr>
              <a:t>For restoration</a:t>
            </a:r>
            <a:endParaRPr lang="en-US" sz="1500" dirty="0"/>
          </a:p>
        </p:txBody>
      </p:sp>
      <p:sp>
        <p:nvSpPr>
          <p:cNvPr id="6" name="Text 4"/>
          <p:cNvSpPr/>
          <p:nvPr/>
        </p:nvSpPr>
        <p:spPr>
          <a:xfrm>
            <a:off x="1125982" y="2287191"/>
            <a:ext cx="4767199" cy="1269603"/>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14303A"/>
                </a:solidFill>
                <a:latin typeface="IBM Plex Sans" pitchFamily="34" charset="0"/>
                <a:ea typeface="IBM Plex Sans" pitchFamily="34" charset="-122"/>
                <a:cs typeface="IBM Plex Sans" pitchFamily="34" charset="-120"/>
              </a:rPr>
              <a:t>Keep outer-coast and Salish Sea stocks distinct</a:t>
            </a:r>
            <a:endParaRPr lang="en-US" sz="1400" dirty="0"/>
          </a:p>
          <a:p>
            <a:pPr marL="175768" indent="-175768" algn="l">
              <a:lnSpc>
                <a:spcPts val="1960"/>
              </a:lnSpc>
              <a:buSzPct val="100000"/>
              <a:buChar char="•"/>
            </a:pPr>
            <a:r>
              <a:rPr lang="en-US" sz="1400" dirty="0">
                <a:solidFill>
                  <a:srgbClr val="14303A"/>
                </a:solidFill>
                <a:latin typeface="IBM Plex Sans" pitchFamily="34" charset="0"/>
                <a:ea typeface="IBM Plex Sans" pitchFamily="34" charset="-122"/>
                <a:cs typeface="IBM Plex Sans" pitchFamily="34" charset="-120"/>
              </a:rPr>
              <a:t>Use Central–South and Hood Canal–Strait groups as a first frame for seed transfer</a:t>
            </a:r>
            <a:endParaRPr lang="en-US" sz="1400" dirty="0"/>
          </a:p>
          <a:p>
            <a:pPr marL="175768" indent="-175768" algn="l">
              <a:lnSpc>
                <a:spcPts val="1960"/>
              </a:lnSpc>
              <a:buSzPct val="100000"/>
              <a:buChar char="•"/>
            </a:pPr>
            <a:r>
              <a:rPr lang="en-US" sz="1400" dirty="0">
                <a:solidFill>
                  <a:srgbClr val="14303A"/>
                </a:solidFill>
                <a:latin typeface="IBM Plex Sans" pitchFamily="34" charset="0"/>
                <a:ea typeface="IBM Plex Sans" pitchFamily="34" charset="-122"/>
                <a:cs typeface="IBM Plex Sans" pitchFamily="34" charset="-120"/>
              </a:rPr>
              <a:t>Any environmental adaptation is subtle; don't rely on it alone to match sources</a:t>
            </a:r>
            <a:endParaRPr lang="en-US" sz="1400" dirty="0"/>
          </a:p>
        </p:txBody>
      </p:sp>
      <p:sp>
        <p:nvSpPr>
          <p:cNvPr id="7" name="Shape 5"/>
          <p:cNvSpPr/>
          <p:nvPr/>
        </p:nvSpPr>
        <p:spPr>
          <a:xfrm>
            <a:off x="6200775" y="1725216"/>
            <a:ext cx="5175250" cy="2510234"/>
          </a:xfrm>
          <a:prstGeom prst="roundRect">
            <a:avLst>
              <a:gd name="adj" fmla="val 2909"/>
            </a:avLst>
          </a:prstGeom>
          <a:solidFill>
            <a:srgbClr val="FBFAF6"/>
          </a:solidFill>
          <a:ln w="6350">
            <a:solidFill>
              <a:srgbClr val="E2DED3"/>
            </a:solidFill>
            <a:prstDash val="solid"/>
          </a:ln>
        </p:spPr>
        <p:txBody>
          <a:bodyPr/>
          <a:lstStyle/>
          <a:p>
            <a:endParaRPr lang="en-US"/>
          </a:p>
        </p:txBody>
      </p:sp>
      <p:sp>
        <p:nvSpPr>
          <p:cNvPr id="8" name="Text 6"/>
          <p:cNvSpPr/>
          <p:nvPr/>
        </p:nvSpPr>
        <p:spPr>
          <a:xfrm>
            <a:off x="6432550" y="1931591"/>
            <a:ext cx="48530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35A17"/>
                </a:solidFill>
                <a:latin typeface="IBM Plex Sans" pitchFamily="34" charset="0"/>
                <a:ea typeface="IBM Plex Sans" pitchFamily="34" charset="-122"/>
                <a:cs typeface="IBM Plex Sans" pitchFamily="34" charset="-120"/>
              </a:rPr>
              <a:t>Next steps</a:t>
            </a:r>
            <a:endParaRPr lang="en-US" sz="1500" dirty="0"/>
          </a:p>
        </p:txBody>
      </p:sp>
      <p:sp>
        <p:nvSpPr>
          <p:cNvPr id="9" name="Text 7"/>
          <p:cNvSpPr/>
          <p:nvPr/>
        </p:nvSpPr>
        <p:spPr>
          <a:xfrm>
            <a:off x="6510782" y="2287191"/>
            <a:ext cx="4767199" cy="1767284"/>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dirty="0">
                <a:solidFill>
                  <a:srgbClr val="14303A"/>
                </a:solidFill>
                <a:latin typeface="IBM Plex Sans" pitchFamily="34" charset="0"/>
                <a:ea typeface="IBM Plex Sans" pitchFamily="34" charset="-122"/>
                <a:cs typeface="IBM Plex Sans" pitchFamily="34" charset="-120"/>
              </a:rPr>
              <a:t>Model collection batch (year, library duplication) explicitly</a:t>
            </a:r>
            <a:endParaRPr lang="en-US" sz="1400" dirty="0"/>
          </a:p>
          <a:p>
            <a:pPr marL="175768" indent="-175768" algn="l">
              <a:lnSpc>
                <a:spcPts val="1960"/>
              </a:lnSpc>
              <a:buSzPct val="100000"/>
              <a:buChar char="•"/>
            </a:pPr>
            <a:r>
              <a:rPr lang="en-US" sz="1400" dirty="0">
                <a:solidFill>
                  <a:srgbClr val="14303A"/>
                </a:solidFill>
                <a:latin typeface="IBM Plex Sans" pitchFamily="34" charset="0"/>
                <a:ea typeface="IBM Plex Sans" pitchFamily="34" charset="-122"/>
                <a:cs typeface="IBM Plex Sans" pitchFamily="34" charset="-120"/>
              </a:rPr>
              <a:t>Add sites and in-situ loggers to break shared-station confounding</a:t>
            </a:r>
            <a:endParaRPr lang="en-US" sz="1400" dirty="0"/>
          </a:p>
          <a:p>
            <a:pPr marL="175768" indent="-175768" algn="l">
              <a:lnSpc>
                <a:spcPts val="1960"/>
              </a:lnSpc>
              <a:buSzPct val="100000"/>
              <a:buChar char="•"/>
            </a:pPr>
            <a:r>
              <a:rPr lang="en-US" sz="1400" dirty="0">
                <a:solidFill>
                  <a:srgbClr val="14303A"/>
                </a:solidFill>
                <a:latin typeface="IBM Plex Sans" pitchFamily="34" charset="0"/>
                <a:ea typeface="IBM Plex Sans" pitchFamily="34" charset="-122"/>
                <a:cs typeface="IBM Plex Sans" pitchFamily="34" charset="-120"/>
              </a:rPr>
              <a:t>Trace the Mud Bay–Hood Canal link through transfer records</a:t>
            </a:r>
            <a:endParaRPr lang="en-US" sz="1400" dirty="0"/>
          </a:p>
          <a:p>
            <a:pPr marL="175768" indent="-175768" algn="l">
              <a:lnSpc>
                <a:spcPts val="1960"/>
              </a:lnSpc>
              <a:buSzPct val="100000"/>
              <a:buChar char="•"/>
            </a:pPr>
            <a:r>
              <a:rPr lang="en-US" sz="1400" dirty="0">
                <a:solidFill>
                  <a:srgbClr val="14303A"/>
                </a:solidFill>
                <a:latin typeface="IBM Plex Sans" pitchFamily="34" charset="0"/>
                <a:ea typeface="IBM Plex Sans" pitchFamily="34" charset="-122"/>
                <a:cs typeface="IBM Plex Sans" pitchFamily="34" charset="-120"/>
              </a:rPr>
              <a:t>More oysters per site for polygenic GEA</a:t>
            </a:r>
            <a:endParaRPr lang="en-US" sz="1400" dirty="0"/>
          </a:p>
        </p:txBody>
      </p:sp>
      <p:sp>
        <p:nvSpPr>
          <p:cNvPr id="10" name="Text 8"/>
          <p:cNvSpPr/>
          <p:nvPr/>
        </p:nvSpPr>
        <p:spPr>
          <a:xfrm>
            <a:off x="812800" y="56286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Thank you · WDFW · Code and results: </a:t>
            </a:r>
            <a:r>
              <a:rPr lang="en-US" sz="1200" dirty="0" err="1">
                <a:solidFill>
                  <a:srgbClr val="5B6B70"/>
                </a:solidFill>
                <a:latin typeface="IBM Plex Sans" pitchFamily="34" charset="0"/>
                <a:ea typeface="IBM Plex Sans" pitchFamily="34" charset="-122"/>
                <a:cs typeface="IBM Plex Sans" pitchFamily="34" charset="-120"/>
              </a:rPr>
              <a:t>github.com</a:t>
            </a:r>
            <a:r>
              <a:rPr lang="en-US" sz="1200" dirty="0">
                <a:solidFill>
                  <a:srgbClr val="5B6B70"/>
                </a:solidFill>
                <a:latin typeface="IBM Plex Sans" pitchFamily="34" charset="0"/>
                <a:ea typeface="IBM Plex Sans" pitchFamily="34" charset="-122"/>
                <a:cs typeface="IBM Plex Sans" pitchFamily="34" charset="-120"/>
              </a:rPr>
              <a:t>/</a:t>
            </a:r>
            <a:r>
              <a:rPr lang="en-US" sz="1200" dirty="0" err="1">
                <a:solidFill>
                  <a:srgbClr val="5B6B70"/>
                </a:solidFill>
                <a:latin typeface="IBM Plex Sans" pitchFamily="34" charset="0"/>
                <a:ea typeface="IBM Plex Sans" pitchFamily="34" charset="-122"/>
                <a:cs typeface="IBM Plex Sans" pitchFamily="34" charset="-120"/>
              </a:rPr>
              <a:t>zbengt</a:t>
            </a:r>
            <a:r>
              <a:rPr lang="en-US" sz="1200" dirty="0">
                <a:solidFill>
                  <a:srgbClr val="5B6B70"/>
                </a:solidFill>
                <a:latin typeface="IBM Plex Sans" pitchFamily="34" charset="0"/>
                <a:ea typeface="IBM Plex Sans" pitchFamily="34" charset="-122"/>
                <a:cs typeface="IBM Plex Sans" pitchFamily="34" charset="-120"/>
              </a:rPr>
              <a:t>/</a:t>
            </a:r>
            <a:r>
              <a:rPr lang="en-US" sz="1200" dirty="0" err="1">
                <a:solidFill>
                  <a:srgbClr val="5B6B70"/>
                </a:solidFill>
                <a:latin typeface="IBM Plex Sans" pitchFamily="34" charset="0"/>
                <a:ea typeface="IBM Plex Sans" pitchFamily="34" charset="-122"/>
                <a:cs typeface="IBM Plex Sans" pitchFamily="34" charset="-120"/>
              </a:rPr>
              <a:t>oly</a:t>
            </a:r>
            <a:r>
              <a:rPr lang="en-US" sz="1200" dirty="0">
                <a:solidFill>
                  <a:srgbClr val="5B6B70"/>
                </a:solidFill>
                <a:latin typeface="IBM Plex Sans" pitchFamily="34" charset="0"/>
                <a:ea typeface="IBM Plex Sans" pitchFamily="34" charset="-122"/>
                <a:cs typeface="IBM Plex Sans" pitchFamily="34" charset="-120"/>
              </a:rPr>
              <a:t>-lc-WGS</a:t>
            </a:r>
            <a:endParaRPr lang="en-US" sz="12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0"/>
                </a:solidFill>
                <a:latin typeface="IBM Plex Sans" pitchFamily="34" charset="0"/>
                <a:ea typeface="IBM Plex Sans" pitchFamily="34" charset="-122"/>
                <a:cs typeface="IBM Plex Sans" pitchFamily="34" charset="-120"/>
              </a:rPr>
              <a:t>Bengtsson, Martinelli &amp; Roberts · Olympia oyster lc-WGS</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endParaRPr lang="en-US" sz="1200" dirty="0"/>
          </a:p>
        </p:txBody>
      </p:sp>
    </p:spTree>
  </p:cSld>
  <p:clrMapOvr>
    <a:masterClrMapping/>
  </p:clrMapOvr>
</p:sld>
</file>

<file path=ppt/theme/theme1.xml><?xml version="1.0" encoding="utf-8"?>
<a:theme xmlns:a="http://schemas.openxmlformats.org/drawingml/2006/main" name="Environmental drivers of Olympia oyster genetic diversity">
  <a:themeElements>
    <a:clrScheme name="Environmental drivers of Olympia oyster genetic diversity">
      <a:dk1>
        <a:srgbClr val="14303A"/>
      </a:dk1>
      <a:lt1>
        <a:srgbClr val="F6F4EE"/>
      </a:lt1>
      <a:dk2>
        <a:srgbClr val="4D6167"/>
      </a:dk2>
      <a:lt2>
        <a:srgbClr val="DFE0DC"/>
      </a:lt2>
      <a:accent1>
        <a:srgbClr val="B35A17"/>
      </a:accent1>
      <a:accent2>
        <a:srgbClr val="2E6E7E"/>
      </a:accent2>
      <a:accent3>
        <a:srgbClr val="C4661F"/>
      </a:accent3>
      <a:accent4>
        <a:srgbClr val="E3B48C"/>
      </a:accent4>
      <a:accent5>
        <a:srgbClr val="E9A36A"/>
      </a:accent5>
      <a:accent6>
        <a:srgbClr val="4A5A60"/>
      </a:accent6>
      <a:hlink>
        <a:srgbClr val="0563C1"/>
      </a:hlink>
      <a:folHlink>
        <a:srgbClr val="954F72"/>
      </a:folHlink>
    </a:clrScheme>
    <a:fontScheme name="Environmental drivers of Olympia oyster genetic diversity">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3810</Words>
  <Application>Microsoft Macintosh PowerPoint</Application>
  <PresentationFormat>Widescreen</PresentationFormat>
  <Paragraphs>355</Paragraphs>
  <Slides>23</Slides>
  <Notes>23</Notes>
  <HiddenSlides>9</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Domine</vt:lpstr>
      <vt:lpstr>IBM Plex Sans</vt:lpstr>
      <vt:lpstr>Nunito Sans</vt:lpstr>
      <vt:lpstr>Source Serif 4</vt:lpstr>
      <vt:lpstr>Environmental drivers of Olympia oyster genetic diversity</vt:lpstr>
      <vt:lpstr>Assessing environmental drivers of Olympia oyster population genetic diversity in Puget Sound, WA</vt:lpstr>
      <vt:lpstr>Restoration needs to know where seed should come from</vt:lpstr>
      <vt:lpstr>Where should restoration seed come from?</vt:lpstr>
      <vt:lpstr>15 collections span the Salish Sea and outer coast</vt:lpstr>
      <vt:lpstr>A chromosome-level genome raises depth and resolution</vt:lpstr>
      <vt:lpstr>Genotype likelihoods carry low-depth data to the RDA</vt:lpstr>
      <vt:lpstr>Genomes split the outer coast from the Salish Sea</vt:lpstr>
      <vt:lpstr>Admixture resolves three groups; Mud Bay joins Hood Canal</vt:lpstr>
      <vt:lpstr>Oysters fall into three genetic groups</vt:lpstr>
      <vt:lpstr>The outer coast is a different stock</vt:lpstr>
      <vt:lpstr>Fst is modest within the Sound and high to the coast</vt:lpstr>
      <vt:lpstr>Diversity tracks collection set as much as geography</vt:lpstr>
      <vt:lpstr>History and geography outweigh water conditions</vt:lpstr>
      <vt:lpstr>Sites span 8 °C of summer temperature</vt:lpstr>
      <vt:lpstr>Structure and geography outweigh environment</vt:lpstr>
      <vt:lpstr>No clear “local adaptation” genes yet</vt:lpstr>
      <vt:lpstr>Salinity range carries the only environmental signal</vt:lpstr>
      <vt:lpstr>Individual and SNP-level tests agree: the signal is weak</vt:lpstr>
      <vt:lpstr>What the results do and don't tell us</vt:lpstr>
      <vt:lpstr>Accounting for collection year leaves the result unchanged</vt:lpstr>
      <vt:lpstr>Considerations for seed and broodstock sourcing</vt:lpstr>
      <vt:lpstr>Across Puget Sound, shared history, not today's water, explains most genomic differentiation.</vt:lpstr>
      <vt:lpstr>What this means for restoration, and what comes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Environmental drivers of Olympia oyster genetic diversity</dc:title>
  <dc:subject/>
  <dc:creator/>
  <cp:lastModifiedBy>Steven Roberts</cp:lastModifiedBy>
  <cp:revision>5</cp:revision>
  <dcterms:created xsi:type="dcterms:W3CDTF">2026-10-03T19:26:40Z</dcterms:created>
  <dcterms:modified xsi:type="dcterms:W3CDTF">2026-10-06T11:06:45Z</dcterms:modified>
</cp:coreProperties>
</file>