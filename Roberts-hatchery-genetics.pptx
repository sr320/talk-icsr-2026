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9"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9530"/>
    <p:restoredTop sz="94610"/>
  </p:normalViewPr>
  <p:slideViewPr>
    <p:cSldViewPr snapToGrid="0" snapToObjects="1">
      <p:cViewPr varScale="1">
        <p:scale>
          <a:sx n="120" d="100"/>
          <a:sy n="120" d="100"/>
        </p:scale>
        <p:origin x="200" y="6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3623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Introduce the work as a collaboration between Puget Sound Restoration Fund, UW and NOAA. Frame the question in one sentence: when we use a hatchery to rebuild a native oyster, do we change its genetics? Preview the answer: under the current protocol, very little.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Olympia oysters built biogenic beds that filtered water and provided habitat, and were a food source for thousands of years. Collapse came in the early 1900s. By the early 21st century only about 4 percent of dense core populations remained in Puget Sound. Restoration now combines habitat enhancement with outplanting hatchery seed, produced at the Chew Center since 2014. That hatchery step is where genetic risk enters.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Despite a planktonic larval stage, gene flow among Puget Sound basins is limited. Four lines of evidence: microsatellites partition most variation among sub-basins, genome-wide SNPs confirm structure, and experiments show populations respond differently to stress and acidification. Whether that structure reflects drift or local adaptation is still debated, but either way restoration should not disrupt it. The two hatchery risks are loss of diversity and domestication selection.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These practices were refined over two decades with WDFW and are now mandated for restoration seed. Olympia oysters are brooding, alternating hermaphrodites that spawn asynchronously, so larvae come out over weeks. Collecting for at least four weeks captures diversity tied to spawn timing. Large, wild, local, annually refreshed broodstock and volitional spawning limit both inbreeding and unintentional selection. The question for this study: does it actually work at the genomic level?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Wild adults and hatchery seed came from the three genetically distinct basins: North, Central and South Sound. Hatchery seed was produced from those same source populations using the protocol. RAD-seq yielded 2,342 filtered SNPs across 561 oysters. One wrinkle: the North hatchery library was prepped separately during the COVID lockdown. Loci showing linkage only in that group were flagged as batch artifacts and removed, so the North comparisons are conservative.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PCA and DAPC both recover three genetic clusters that line up with the three source basins. Hatchery and wild oysters from the same basin fall in the same cluster in nearly equal numbers. Only nine individuals had under 70 percent membership probability to any single cluster. The variance explained is small, as expected for neutral SNPs in a high gene flow invertebrate, but the pattern is clear.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55 seconds. Fst is low overall, which is typical. The key result is the ordering: the smallest values in the whole matrix are each hatchery group paired with its own wild source. Central and South are relatively similar to each other, and North wild is the most distinct from everything else. So the hatchery step is a much smaller genetic signal than the natural structure among basins.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C3C58-11C4-7A69-8BA9-FD8B9E4E60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010C0-FB27-3442-2FCA-4645E1CA31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D95DC7-978B-460B-DC7C-FCE553600295}"/>
              </a:ext>
            </a:extLst>
          </p:cNvPr>
          <p:cNvSpPr>
            <a:spLocks noGrp="1"/>
          </p:cNvSpPr>
          <p:nvPr>
            <p:ph type="body" idx="1"/>
          </p:nvPr>
        </p:nvSpPr>
        <p:spPr/>
        <p:txBody>
          <a:bodyPr/>
          <a:lstStyle/>
          <a:p>
            <a:r>
              <a:rPr lang="en-US" dirty="0"/>
              <a:t>About 55 seconds. Across individuals, hatchery and wild means are essentially identical for heterozygosity and inbreeding, and no within-source pair differed significantly. Just as important, the ranking among sites is preserved: North wild is the most diverse wild group and North hatchery is the most diverse hatchery group. South is lowest in both. The hatchery seed mirrors its source population, not a generic hatchery profile.</a:t>
            </a:r>
          </a:p>
        </p:txBody>
      </p:sp>
      <p:sp>
        <p:nvSpPr>
          <p:cNvPr id="4" name="Slide Number Placeholder 3">
            <a:extLst>
              <a:ext uri="{FF2B5EF4-FFF2-40B4-BE49-F238E27FC236}">
                <a16:creationId xmlns:a16="http://schemas.microsoft.com/office/drawing/2014/main" id="{4A876341-3555-ADE3-4DCE-A2ED87DC758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0204750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This is the one place hatchery and wild clearly differ, and it is expected: a hatchery has far fewer contributing parents. Hatchery Ne is still in the hundreds, below thresholds for long-term adaptive potential but enough to limit short-term inbreeding in a single outplanted cohort. For context, it is similar to or above estimates for natural and restored eastern oyster reefs in Chesapeake Bay. These are also the first Ne baselines reported for Puget Sound Olympia oysters.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Relatedness was the other metric where groups diverged. Only hatchery groups had full siblings, and they had more half siblings. But siblings were still only about 1 percent of hatchery pairs. Other oyster hatcheries have seen family sweeps where a few parents dominate. That did not happen here. And the direction is not strictly hatchery versus wild: Central wild had higher mean relatedness than North and Central hatchery groups. The spread in group means was tiny, about 0.007.</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We cannot rule out domestication selection entirely, because RAD-seq at this density is not suited to scanning for selected loci. Whole-genome data would address that. Genetics is also a precursor to field experiments that measure relative fitness. Finally, the large broodstock requirement is probably a big reason Ne is as high as it is, and that may not be feasible elsewhere, so programs should think about how broodstock number scales.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Three points to remember. Hatchery seed looks like its own wild source and Puget Sound structure is intact. Heterozygosity and inbreeding did not change; the shifts in Ne and kinship were expected and small. And the practices most likely responsible are very large wild broodstock, local sourcing and collecting larvae for at least four weeks. Developed collaboratively with managers, this is a model other conservation aquaculture programs can adapt to their species.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Thank the hatchery staff and reviewers, point to the GitHub repository, and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1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14262B"/>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11"/>
            <a:ext cx="10566400" cy="4109789"/>
          </a:xfrm>
          <a:prstGeom prst="rect">
            <a:avLst/>
          </a:prstGeom>
          <a:noFill/>
          <a:ln/>
        </p:spPr>
        <p:txBody>
          <a:bodyPr wrap="square" lIns="0" tIns="0" rIns="0" bIns="0" rtlCol="0" anchor="t"/>
          <a:lstStyle>
            <a:lvl1pPr marL="0" indent="0" algn="l">
              <a:lnSpc>
                <a:spcPct val="140000"/>
              </a:lnSpc>
              <a:buNone/>
              <a:defRPr lang="en-US" sz="1600" dirty="0">
                <a:solidFill>
                  <a:srgbClr val="14262B"/>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14262B"/>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11"/>
            <a:ext cx="10566400" cy="4109789"/>
          </a:xfrm>
          <a:prstGeom prst="rect">
            <a:avLst/>
          </a:prstGeom>
          <a:noFill/>
          <a:ln/>
        </p:spPr>
        <p:txBody>
          <a:bodyPr wrap="square" lIns="0" tIns="0" rIns="0" bIns="0" rtlCol="0" anchor="t"/>
          <a:lstStyle>
            <a:lvl1pPr marL="0" indent="0" algn="l">
              <a:lnSpc>
                <a:spcPct val="140000"/>
              </a:lnSpc>
              <a:buNone/>
              <a:defRPr lang="en-US" sz="1600" dirty="0">
                <a:solidFill>
                  <a:srgbClr val="14262B"/>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62B"/>
        </a:solidFill>
        <a:effectLst/>
      </p:bgPr>
    </p:bg>
    <p:spTree>
      <p:nvGrpSpPr>
        <p:cNvPr id="1" name=""/>
        <p:cNvGrpSpPr/>
        <p:nvPr/>
      </p:nvGrpSpPr>
      <p:grpSpPr>
        <a:xfrm>
          <a:off x="0" y="0"/>
          <a:ext cx="0" cy="0"/>
          <a:chOff x="0" y="0"/>
          <a:chExt cx="0" cy="0"/>
        </a:xfrm>
      </p:grpSpPr>
      <p:sp>
        <p:nvSpPr>
          <p:cNvPr id="2" name="Text 0"/>
          <p:cNvSpPr/>
          <p:nvPr/>
        </p:nvSpPr>
        <p:spPr>
          <a:xfrm>
            <a:off x="812800" y="812800"/>
            <a:ext cx="6278880" cy="452041"/>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3A46F"/>
                </a:solidFill>
                <a:latin typeface="Inter" pitchFamily="34" charset="0"/>
                <a:ea typeface="Inter" pitchFamily="34" charset="-122"/>
                <a:cs typeface="Inter" pitchFamily="34" charset="-120"/>
              </a:rPr>
              <a:t>PUGET SOUND RESTORATION FUND · UNIVERSITY OF WASHINGTON · NOAA NWFSC</a:t>
            </a:r>
            <a:endParaRPr lang="en-US" sz="1200" dirty="0"/>
          </a:p>
        </p:txBody>
      </p:sp>
      <p:sp>
        <p:nvSpPr>
          <p:cNvPr id="3" name="Text 1"/>
          <p:cNvSpPr>
            <a:spLocks noGrp="1"/>
          </p:cNvSpPr>
          <p:nvPr>
            <p:ph type="title"/>
          </p:nvPr>
        </p:nvSpPr>
        <p:spPr>
          <a:xfrm>
            <a:off x="812800" y="1783060"/>
            <a:ext cx="6278880" cy="28194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F4F1EA"/>
                </a:solidFill>
                <a:latin typeface="Source Serif 4" pitchFamily="18" charset="0"/>
                <a:ea typeface="Source Serif 4" pitchFamily="18" charset="-122"/>
                <a:cs typeface="Source Serif 4" pitchFamily="18" charset="-120"/>
              </a:rPr>
              <a:t>Conservation aquaculture maintains genetic composition in hatchery-produced Olympia oysters</a:t>
            </a:r>
            <a:endParaRPr lang="en-US" sz="4000" dirty="0"/>
          </a:p>
        </p:txBody>
      </p:sp>
      <p:sp>
        <p:nvSpPr>
          <p:cNvPr id="4" name="Text 2"/>
          <p:cNvSpPr/>
          <p:nvPr/>
        </p:nvSpPr>
        <p:spPr>
          <a:xfrm>
            <a:off x="812800" y="4831060"/>
            <a:ext cx="6278880"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C9D3D1"/>
                </a:solidFill>
                <a:latin typeface="Inter" pitchFamily="34" charset="0"/>
                <a:ea typeface="Inter" pitchFamily="34" charset="-122"/>
                <a:cs typeface="Inter" pitchFamily="34" charset="-120"/>
              </a:rPr>
              <a:t>Evelyn Abbott, Zachary Bengtsson, Ryan N. Crim, Crystal Simchick, Giles Goetz, Frederick W. Goetz, Steven Roberts, Mackenzie Gavery</a:t>
            </a:r>
            <a:endParaRPr lang="en-US" sz="1200" dirty="0"/>
          </a:p>
        </p:txBody>
      </p:sp>
      <p:sp>
        <p:nvSpPr>
          <p:cNvPr id="5" name="Text 3"/>
          <p:cNvSpPr/>
          <p:nvPr/>
        </p:nvSpPr>
        <p:spPr>
          <a:xfrm>
            <a:off x="812800" y="5831880"/>
            <a:ext cx="62788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D1"/>
                </a:solidFill>
                <a:latin typeface="Inter" pitchFamily="34" charset="0"/>
                <a:ea typeface="Inter" pitchFamily="34" charset="-122"/>
                <a:cs typeface="Inter" pitchFamily="34" charset="-120"/>
              </a:rPr>
              <a:t>International Conference on Shellfish Restoration</a:t>
            </a:r>
            <a:endParaRPr lang="en-US" sz="1200" dirty="0"/>
          </a:p>
        </p:txBody>
      </p:sp>
      <p:pic>
        <p:nvPicPr>
          <p:cNvPr id="6" name="Image 0" descr="A cluster of Olympia oysters held in a gloved hand above shallow water"/>
          <p:cNvPicPr>
            <a:picLocks noChangeAspect="1"/>
          </p:cNvPicPr>
          <p:nvPr/>
        </p:nvPicPr>
        <p:blipFill>
          <a:blip r:embed="rId3"/>
          <a:srcRect l="25334" r="25334"/>
          <a:stretch/>
        </p:blipFill>
        <p:spPr>
          <a:xfrm>
            <a:off x="7366000" y="0"/>
            <a:ext cx="4826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561F"/>
                </a:solidFill>
                <a:latin typeface="Inter" pitchFamily="34" charset="0"/>
                <a:ea typeface="Inter" pitchFamily="34" charset="-122"/>
                <a:cs typeface="Inter" pitchFamily="34" charset="-120"/>
              </a:rPr>
              <a:t>BACKGROUND</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4262B"/>
                </a:solidFill>
                <a:latin typeface="Source Serif 4" pitchFamily="18" charset="0"/>
                <a:ea typeface="Source Serif 4" pitchFamily="18" charset="-122"/>
                <a:cs typeface="Source Serif 4" pitchFamily="18" charset="-120"/>
              </a:rPr>
              <a:t>A native oyster reduced to remnants</a:t>
            </a:r>
            <a:endParaRPr lang="en-US" sz="3600" dirty="0"/>
          </a:p>
        </p:txBody>
      </p:sp>
      <p:sp>
        <p:nvSpPr>
          <p:cNvPr id="4" name="Text 2"/>
          <p:cNvSpPr/>
          <p:nvPr/>
        </p:nvSpPr>
        <p:spPr>
          <a:xfrm>
            <a:off x="812800" y="2801590"/>
            <a:ext cx="4185920" cy="1295400"/>
          </a:xfrm>
          <a:prstGeom prst="rect">
            <a:avLst/>
          </a:prstGeom>
          <a:noFill/>
          <a:ln/>
        </p:spPr>
        <p:txBody>
          <a:bodyPr wrap="square" lIns="0" tIns="0" rIns="0" bIns="0" rtlCol="0" anchor="t">
            <a:normAutofit/>
          </a:bodyPr>
          <a:lstStyle/>
          <a:p>
            <a:pPr marL="0" indent="0" algn="l">
              <a:lnSpc>
                <a:spcPts val="10000"/>
              </a:lnSpc>
              <a:buNone/>
            </a:pPr>
            <a:r>
              <a:rPr lang="en-US" sz="10000" dirty="0">
                <a:solidFill>
                  <a:srgbClr val="A3561F"/>
                </a:solidFill>
                <a:latin typeface="Source Serif 4" pitchFamily="18" charset="0"/>
                <a:ea typeface="Source Serif 4" pitchFamily="18" charset="-122"/>
                <a:cs typeface="Source Serif 4" pitchFamily="18" charset="-120"/>
              </a:rPr>
              <a:t>~4%</a:t>
            </a:r>
            <a:endParaRPr lang="en-US" sz="10000" dirty="0"/>
          </a:p>
        </p:txBody>
      </p:sp>
      <p:sp>
        <p:nvSpPr>
          <p:cNvPr id="5" name="Text 3"/>
          <p:cNvSpPr/>
          <p:nvPr/>
        </p:nvSpPr>
        <p:spPr>
          <a:xfrm>
            <a:off x="812800" y="4173190"/>
            <a:ext cx="4185920"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A2E"/>
                </a:solidFill>
                <a:latin typeface="Inter" pitchFamily="34" charset="0"/>
                <a:ea typeface="Inter" pitchFamily="34" charset="-122"/>
                <a:cs typeface="Inter" pitchFamily="34" charset="-120"/>
              </a:rPr>
              <a:t>of historic dense core Olympia oyster populations remained in Puget Sound by the early 2000s</a:t>
            </a:r>
            <a:endParaRPr lang="en-US" sz="1600" dirty="0"/>
          </a:p>
        </p:txBody>
      </p:sp>
      <p:sp>
        <p:nvSpPr>
          <p:cNvPr id="6" name="Text 4"/>
          <p:cNvSpPr/>
          <p:nvPr/>
        </p:nvSpPr>
        <p:spPr>
          <a:xfrm>
            <a:off x="5486400" y="2857500"/>
            <a:ext cx="6069584" cy="59432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B2A2E"/>
                </a:solidFill>
                <a:latin typeface="Inter" pitchFamily="34" charset="0"/>
                <a:ea typeface="Inter" pitchFamily="34" charset="-122"/>
                <a:cs typeface="Inter" pitchFamily="34" charset="-120"/>
              </a:rPr>
              <a:t>Ostrea lurida</a:t>
            </a:r>
            <a:r>
              <a:rPr lang="en-US" sz="1600" dirty="0">
                <a:solidFill>
                  <a:srgbClr val="1B2A2E"/>
                </a:solidFill>
                <a:latin typeface="Inter" pitchFamily="34" charset="0"/>
                <a:ea typeface="Inter" pitchFamily="34" charset="-122"/>
                <a:cs typeface="Inter" pitchFamily="34" charset="-120"/>
              </a:rPr>
              <a:t> is the only oyster native to the US west coast, once forming beds from Southeast Alaska to Baja California.</a:t>
            </a:r>
            <a:endParaRPr lang="en-US" sz="1600" dirty="0"/>
          </a:p>
        </p:txBody>
      </p:sp>
      <p:sp>
        <p:nvSpPr>
          <p:cNvPr id="7" name="Text 5"/>
          <p:cNvSpPr/>
          <p:nvPr/>
        </p:nvSpPr>
        <p:spPr>
          <a:xfrm>
            <a:off x="5486400" y="3629620"/>
            <a:ext cx="6069584"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A2E"/>
                </a:solidFill>
                <a:latin typeface="Inter" pitchFamily="34" charset="0"/>
                <a:ea typeface="Inter" pitchFamily="34" charset="-122"/>
                <a:cs typeface="Inter" pitchFamily="34" charset="-120"/>
              </a:rPr>
              <a:t>Overharvest, sedimentation and pollution drove a range-wide collapse by the early 1900s.</a:t>
            </a:r>
            <a:endParaRPr lang="en-US" sz="1600" dirty="0"/>
          </a:p>
        </p:txBody>
      </p:sp>
      <p:sp>
        <p:nvSpPr>
          <p:cNvPr id="8" name="Text 6"/>
          <p:cNvSpPr/>
          <p:nvPr/>
        </p:nvSpPr>
        <p:spPr>
          <a:xfrm>
            <a:off x="5486400" y="4401741"/>
            <a:ext cx="6069584"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A2E"/>
                </a:solidFill>
                <a:latin typeface="Inter" pitchFamily="34" charset="0"/>
                <a:ea typeface="Inter" pitchFamily="34" charset="-122"/>
                <a:cs typeface="Inter" pitchFamily="34" charset="-120"/>
              </a:rPr>
              <a:t>Since 2014, PSRF, NOAA and WDFW have produced restoration seed at the Kenneth K. Chew Center.</a:t>
            </a:r>
            <a:endParaRPr lang="en-US" sz="1600" dirty="0"/>
          </a:p>
        </p:txBody>
      </p:sp>
      <p:sp>
        <p:nvSpPr>
          <p:cNvPr id="9" name="Text 7"/>
          <p:cNvSpPr/>
          <p:nvPr/>
        </p:nvSpPr>
        <p:spPr>
          <a:xfrm>
            <a:off x="812800" y="6238280"/>
            <a:ext cx="480964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A6C"/>
                </a:solidFill>
                <a:latin typeface="Inter" pitchFamily="34" charset="0"/>
                <a:ea typeface="Inter" pitchFamily="34" charset="-122"/>
                <a:cs typeface="Inter" pitchFamily="34" charset="-120"/>
              </a:rPr>
              <a:t>Olympia oyster hatchery genetics · Abbott et al., in prep</a:t>
            </a:r>
            <a:endParaRPr lang="en-US" sz="1200" dirty="0"/>
          </a:p>
        </p:txBody>
      </p:sp>
      <p:sp>
        <p:nvSpPr>
          <p:cNvPr id="10" name="Text 8"/>
          <p:cNvSpPr/>
          <p:nvPr/>
        </p:nvSpPr>
        <p:spPr>
          <a:xfrm>
            <a:off x="11235432" y="6238280"/>
            <a:ext cx="143768"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A6C"/>
                </a:solidFill>
                <a:latin typeface="Inter" pitchFamily="34" charset="0"/>
                <a:ea typeface="Inter" pitchFamily="34" charset="-122"/>
                <a:cs typeface="Inter"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561F"/>
                </a:solidFill>
                <a:latin typeface="Inter" pitchFamily="34" charset="0"/>
                <a:ea typeface="Inter" pitchFamily="34" charset="-122"/>
                <a:cs typeface="Inter" pitchFamily="34" charset="-120"/>
              </a:rPr>
              <a:t>WHY GENETICS MATTERS HERE</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4262B"/>
                </a:solidFill>
                <a:latin typeface="Source Serif 4" pitchFamily="18" charset="0"/>
                <a:ea typeface="Source Serif 4" pitchFamily="18" charset="-122"/>
                <a:cs typeface="Source Serif 4" pitchFamily="18" charset="-120"/>
              </a:rPr>
              <a:t>Puget Sound oysters are not one population</a:t>
            </a:r>
            <a:endParaRPr lang="en-US" sz="3600" dirty="0"/>
          </a:p>
        </p:txBody>
      </p:sp>
      <p:sp>
        <p:nvSpPr>
          <p:cNvPr id="4" name="Shape 2"/>
          <p:cNvSpPr/>
          <p:nvPr/>
        </p:nvSpPr>
        <p:spPr>
          <a:xfrm>
            <a:off x="815975" y="1989386"/>
            <a:ext cx="5200650" cy="1210221"/>
          </a:xfrm>
          <a:prstGeom prst="roundRect">
            <a:avLst>
              <a:gd name="adj" fmla="val 8133"/>
            </a:avLst>
          </a:prstGeom>
          <a:solidFill>
            <a:srgbClr val="FBFAF6"/>
          </a:solidFill>
          <a:ln w="6350">
            <a:solidFill>
              <a:srgbClr val="DDD8CC"/>
            </a:solidFill>
            <a:prstDash val="solid"/>
          </a:ln>
        </p:spPr>
        <p:txBody>
          <a:bodyPr/>
          <a:lstStyle/>
          <a:p>
            <a:endParaRPr lang="en-US"/>
          </a:p>
        </p:txBody>
      </p:sp>
      <p:sp>
        <p:nvSpPr>
          <p:cNvPr id="5" name="Text 3"/>
          <p:cNvSpPr/>
          <p:nvPr/>
        </p:nvSpPr>
        <p:spPr>
          <a:xfrm>
            <a:off x="1047750" y="2221161"/>
            <a:ext cx="4879213"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62B"/>
                </a:solidFill>
                <a:latin typeface="Inter" pitchFamily="34" charset="0"/>
                <a:ea typeface="Inter" pitchFamily="34" charset="-122"/>
                <a:cs typeface="Inter" pitchFamily="34" charset="-120"/>
              </a:rPr>
              <a:t>Microsatellites (Stick 2012)</a:t>
            </a:r>
            <a:endParaRPr lang="en-US" sz="1600" dirty="0"/>
          </a:p>
        </p:txBody>
      </p:sp>
      <p:sp>
        <p:nvSpPr>
          <p:cNvPr id="6" name="Text 4"/>
          <p:cNvSpPr/>
          <p:nvPr/>
        </p:nvSpPr>
        <p:spPr>
          <a:xfrm>
            <a:off x="1047750" y="2541191"/>
            <a:ext cx="487921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75% of genetic variation partitioned among four sub-basins: North, Central, South Sound and Hood Canal</a:t>
            </a:r>
            <a:endParaRPr lang="en-US" sz="1200" dirty="0"/>
          </a:p>
        </p:txBody>
      </p:sp>
      <p:sp>
        <p:nvSpPr>
          <p:cNvPr id="7" name="Shape 5"/>
          <p:cNvSpPr/>
          <p:nvPr/>
        </p:nvSpPr>
        <p:spPr>
          <a:xfrm>
            <a:off x="6175375" y="1989386"/>
            <a:ext cx="5200650" cy="1210221"/>
          </a:xfrm>
          <a:prstGeom prst="roundRect">
            <a:avLst>
              <a:gd name="adj" fmla="val 8133"/>
            </a:avLst>
          </a:prstGeom>
          <a:solidFill>
            <a:srgbClr val="FBFAF6"/>
          </a:solidFill>
          <a:ln w="6350">
            <a:solidFill>
              <a:srgbClr val="DDD8CC"/>
            </a:solidFill>
            <a:prstDash val="solid"/>
          </a:ln>
        </p:spPr>
        <p:txBody>
          <a:bodyPr/>
          <a:lstStyle/>
          <a:p>
            <a:endParaRPr lang="en-US"/>
          </a:p>
        </p:txBody>
      </p:sp>
      <p:sp>
        <p:nvSpPr>
          <p:cNvPr id="8" name="Text 6"/>
          <p:cNvSpPr/>
          <p:nvPr/>
        </p:nvSpPr>
        <p:spPr>
          <a:xfrm>
            <a:off x="6407150" y="2221161"/>
            <a:ext cx="4879213"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62B"/>
                </a:solidFill>
                <a:latin typeface="Inter" pitchFamily="34" charset="0"/>
                <a:ea typeface="Inter" pitchFamily="34" charset="-122"/>
                <a:cs typeface="Inter" pitchFamily="34" charset="-120"/>
              </a:rPr>
              <a:t>Genome-wide SNPs (Silliman 2019)</a:t>
            </a:r>
            <a:endParaRPr lang="en-US" sz="1600" dirty="0"/>
          </a:p>
        </p:txBody>
      </p:sp>
      <p:sp>
        <p:nvSpPr>
          <p:cNvPr id="9" name="Text 7"/>
          <p:cNvSpPr/>
          <p:nvPr/>
        </p:nvSpPr>
        <p:spPr>
          <a:xfrm>
            <a:off x="6407150" y="2541191"/>
            <a:ext cx="487921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Strong neutral structure across the range, with putatively adaptive genes for development, metabolism and immunity</a:t>
            </a:r>
            <a:endParaRPr lang="en-US" sz="1200" dirty="0"/>
          </a:p>
        </p:txBody>
      </p:sp>
      <p:sp>
        <p:nvSpPr>
          <p:cNvPr id="10" name="Shape 8"/>
          <p:cNvSpPr/>
          <p:nvPr/>
        </p:nvSpPr>
        <p:spPr>
          <a:xfrm>
            <a:off x="815975" y="3358356"/>
            <a:ext cx="5200650" cy="1454051"/>
          </a:xfrm>
          <a:prstGeom prst="roundRect">
            <a:avLst>
              <a:gd name="adj" fmla="val 6769"/>
            </a:avLst>
          </a:prstGeom>
          <a:solidFill>
            <a:srgbClr val="FBFAF6"/>
          </a:solidFill>
          <a:ln w="6350">
            <a:solidFill>
              <a:srgbClr val="DDD8CC"/>
            </a:solidFill>
            <a:prstDash val="solid"/>
          </a:ln>
        </p:spPr>
        <p:txBody>
          <a:bodyPr/>
          <a:lstStyle/>
          <a:p>
            <a:endParaRPr lang="en-US"/>
          </a:p>
        </p:txBody>
      </p:sp>
      <p:sp>
        <p:nvSpPr>
          <p:cNvPr id="11" name="Text 9"/>
          <p:cNvSpPr/>
          <p:nvPr/>
        </p:nvSpPr>
        <p:spPr>
          <a:xfrm>
            <a:off x="1047750" y="3590131"/>
            <a:ext cx="496570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62B"/>
                </a:solidFill>
                <a:latin typeface="Inter" pitchFamily="34" charset="0"/>
                <a:ea typeface="Inter" pitchFamily="34" charset="-122"/>
                <a:cs typeface="Inter" pitchFamily="34" charset="-120"/>
              </a:rPr>
              <a:t>Ocean acidification (Spencer et al. 2020, 2023)</a:t>
            </a:r>
            <a:endParaRPr lang="en-US" sz="1600" dirty="0"/>
          </a:p>
        </p:txBody>
      </p:sp>
      <p:sp>
        <p:nvSpPr>
          <p:cNvPr id="12" name="Text 10"/>
          <p:cNvSpPr/>
          <p:nvPr/>
        </p:nvSpPr>
        <p:spPr>
          <a:xfrm>
            <a:off x="1047750" y="3910161"/>
            <a:ext cx="487921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Populations differ in transcriptional and phenotypic responses, with evidence of transgenerational plasticity</a:t>
            </a:r>
            <a:endParaRPr lang="en-US" sz="1200" dirty="0"/>
          </a:p>
        </p:txBody>
      </p:sp>
      <p:sp>
        <p:nvSpPr>
          <p:cNvPr id="13" name="Shape 11"/>
          <p:cNvSpPr/>
          <p:nvPr/>
        </p:nvSpPr>
        <p:spPr>
          <a:xfrm>
            <a:off x="6175375" y="3358356"/>
            <a:ext cx="5200650" cy="1454051"/>
          </a:xfrm>
          <a:prstGeom prst="roundRect">
            <a:avLst>
              <a:gd name="adj" fmla="val 6769"/>
            </a:avLst>
          </a:prstGeom>
          <a:solidFill>
            <a:srgbClr val="FBFAF6"/>
          </a:solidFill>
          <a:ln w="6350">
            <a:solidFill>
              <a:srgbClr val="DDD8CC"/>
            </a:solidFill>
            <a:prstDash val="solid"/>
          </a:ln>
        </p:spPr>
        <p:txBody>
          <a:bodyPr/>
          <a:lstStyle/>
          <a:p>
            <a:endParaRPr lang="en-US"/>
          </a:p>
        </p:txBody>
      </p:sp>
      <p:sp>
        <p:nvSpPr>
          <p:cNvPr id="14" name="Text 12"/>
          <p:cNvSpPr/>
          <p:nvPr/>
        </p:nvSpPr>
        <p:spPr>
          <a:xfrm>
            <a:off x="6407150" y="3590131"/>
            <a:ext cx="4879213" cy="51306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62B"/>
                </a:solidFill>
                <a:latin typeface="Inter" pitchFamily="34" charset="0"/>
                <a:ea typeface="Inter" pitchFamily="34" charset="-122"/>
                <a:cs typeface="Inter" pitchFamily="34" charset="-120"/>
              </a:rPr>
              <a:t>Transplants and expression (Heare et al. 2017, 2018)</a:t>
            </a:r>
            <a:endParaRPr lang="en-US" sz="1600" dirty="0"/>
          </a:p>
        </p:txBody>
      </p:sp>
      <p:sp>
        <p:nvSpPr>
          <p:cNvPr id="15" name="Text 13"/>
          <p:cNvSpPr/>
          <p:nvPr/>
        </p:nvSpPr>
        <p:spPr>
          <a:xfrm>
            <a:off x="6407150" y="4153991"/>
            <a:ext cx="487921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Basin-level differences in growth, survival, reproduction and stress response</a:t>
            </a:r>
            <a:endParaRPr lang="en-US" sz="1200" dirty="0"/>
          </a:p>
        </p:txBody>
      </p:sp>
      <p:sp>
        <p:nvSpPr>
          <p:cNvPr id="16" name="Text 14"/>
          <p:cNvSpPr/>
          <p:nvPr/>
        </p:nvSpPr>
        <p:spPr>
          <a:xfrm>
            <a:off x="812800" y="5171182"/>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A2E"/>
                </a:solidFill>
                <a:latin typeface="Inter" pitchFamily="34" charset="0"/>
                <a:ea typeface="Inter" pitchFamily="34" charset="-122"/>
                <a:cs typeface="Inter" pitchFamily="34" charset="-120"/>
              </a:rPr>
              <a:t>Risk: hatchery seed could erode diversity or blur these distinct gene pools.</a:t>
            </a:r>
            <a:endParaRPr lang="en-US" sz="1600" dirty="0"/>
          </a:p>
        </p:txBody>
      </p:sp>
      <p:sp>
        <p:nvSpPr>
          <p:cNvPr id="17" name="Text 15"/>
          <p:cNvSpPr/>
          <p:nvPr/>
        </p:nvSpPr>
        <p:spPr>
          <a:xfrm>
            <a:off x="812800" y="6238280"/>
            <a:ext cx="480964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A6C"/>
                </a:solidFill>
                <a:latin typeface="Inter" pitchFamily="34" charset="0"/>
                <a:ea typeface="Inter" pitchFamily="34" charset="-122"/>
                <a:cs typeface="Inter" pitchFamily="34" charset="-120"/>
              </a:rPr>
              <a:t>Olympia oyster hatchery genetics · Abbott et al., in prep</a:t>
            </a:r>
            <a:endParaRPr lang="en-US" sz="1200" dirty="0"/>
          </a:p>
        </p:txBody>
      </p:sp>
      <p:sp>
        <p:nvSpPr>
          <p:cNvPr id="18" name="Text 16"/>
          <p:cNvSpPr/>
          <p:nvPr/>
        </p:nvSpPr>
        <p:spPr>
          <a:xfrm>
            <a:off x="11234241" y="6238280"/>
            <a:ext cx="144959"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A6C"/>
                </a:solidFill>
                <a:latin typeface="Inter" pitchFamily="34" charset="0"/>
                <a:ea typeface="Inter" pitchFamily="34" charset="-122"/>
                <a:cs typeface="Inter"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561F"/>
                </a:solidFill>
                <a:latin typeface="Inter" pitchFamily="34" charset="0"/>
                <a:ea typeface="Inter" pitchFamily="34" charset="-122"/>
                <a:cs typeface="Inter" pitchFamily="34" charset="-120"/>
              </a:rPr>
              <a:t>THE HATCHERY PROTOCOL</a:t>
            </a:r>
            <a:endParaRPr lang="en-US" sz="1200" dirty="0"/>
          </a:p>
        </p:txBody>
      </p:sp>
      <p:sp>
        <p:nvSpPr>
          <p:cNvPr id="3" name="Text 1"/>
          <p:cNvSpPr>
            <a:spLocks noGrp="1"/>
          </p:cNvSpPr>
          <p:nvPr>
            <p:ph type="title"/>
          </p:nvPr>
        </p:nvSpPr>
        <p:spPr>
          <a:xfrm>
            <a:off x="812800" y="11277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4262B"/>
                </a:solidFill>
                <a:latin typeface="Source Serif 4" pitchFamily="18" charset="0"/>
                <a:ea typeface="Source Serif 4" pitchFamily="18" charset="-122"/>
                <a:cs typeface="Source Serif 4" pitchFamily="18" charset="-120"/>
              </a:rPr>
              <a:t>Seven practices designed to protect wild diversity</a:t>
            </a:r>
            <a:endParaRPr lang="en-US" sz="3600" dirty="0"/>
          </a:p>
        </p:txBody>
      </p:sp>
      <p:sp>
        <p:nvSpPr>
          <p:cNvPr id="4" name="Shape 2"/>
          <p:cNvSpPr/>
          <p:nvPr/>
        </p:nvSpPr>
        <p:spPr>
          <a:xfrm>
            <a:off x="815975" y="2441476"/>
            <a:ext cx="2520950" cy="1542951"/>
          </a:xfrm>
          <a:prstGeom prst="roundRect">
            <a:avLst>
              <a:gd name="adj" fmla="val 6379"/>
            </a:avLst>
          </a:prstGeom>
          <a:solidFill>
            <a:srgbClr val="FBFAF6"/>
          </a:solidFill>
          <a:ln w="6350">
            <a:solidFill>
              <a:srgbClr val="DDD8CC"/>
            </a:solidFill>
            <a:prstDash val="solid"/>
          </a:ln>
        </p:spPr>
        <p:txBody>
          <a:bodyPr/>
          <a:lstStyle/>
          <a:p>
            <a:endParaRPr lang="en-US"/>
          </a:p>
        </p:txBody>
      </p:sp>
      <p:sp>
        <p:nvSpPr>
          <p:cNvPr id="5" name="Text 3"/>
          <p:cNvSpPr/>
          <p:nvPr/>
        </p:nvSpPr>
        <p:spPr>
          <a:xfrm>
            <a:off x="1022350" y="2647851"/>
            <a:ext cx="2171446" cy="33273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A3561F"/>
                </a:solidFill>
                <a:latin typeface="Source Serif 4" pitchFamily="18" charset="0"/>
                <a:ea typeface="Source Serif 4" pitchFamily="18" charset="-122"/>
                <a:cs typeface="Source Serif 4" pitchFamily="18" charset="-120"/>
              </a:rPr>
              <a:t>1</a:t>
            </a:r>
            <a:endParaRPr lang="en-US" sz="2200" dirty="0"/>
          </a:p>
        </p:txBody>
      </p:sp>
      <p:sp>
        <p:nvSpPr>
          <p:cNvPr id="6" name="Text 4"/>
          <p:cNvSpPr/>
          <p:nvPr/>
        </p:nvSpPr>
        <p:spPr>
          <a:xfrm>
            <a:off x="1022350" y="3031381"/>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62B"/>
                </a:solidFill>
                <a:latin typeface="Inter" pitchFamily="34" charset="0"/>
                <a:ea typeface="Inter" pitchFamily="34" charset="-122"/>
                <a:cs typeface="Inter" pitchFamily="34" charset="-120"/>
              </a:rPr>
              <a:t>Large broodstock</a:t>
            </a:r>
            <a:endParaRPr lang="en-US" sz="1600" dirty="0"/>
          </a:p>
        </p:txBody>
      </p:sp>
      <p:sp>
        <p:nvSpPr>
          <p:cNvPr id="7" name="Text 5"/>
          <p:cNvSpPr/>
          <p:nvPr/>
        </p:nvSpPr>
        <p:spPr>
          <a:xfrm>
            <a:off x="1022350" y="3351411"/>
            <a:ext cx="21714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Minimum of 1,200 adults</a:t>
            </a:r>
            <a:endParaRPr lang="en-US" sz="1200" dirty="0"/>
          </a:p>
        </p:txBody>
      </p:sp>
      <p:sp>
        <p:nvSpPr>
          <p:cNvPr id="8" name="Shape 6"/>
          <p:cNvSpPr/>
          <p:nvPr/>
        </p:nvSpPr>
        <p:spPr>
          <a:xfrm>
            <a:off x="3495675" y="2441476"/>
            <a:ext cx="2520950" cy="1542951"/>
          </a:xfrm>
          <a:prstGeom prst="roundRect">
            <a:avLst>
              <a:gd name="adj" fmla="val 6379"/>
            </a:avLst>
          </a:prstGeom>
          <a:solidFill>
            <a:srgbClr val="FBFAF6"/>
          </a:solidFill>
          <a:ln w="6350">
            <a:solidFill>
              <a:srgbClr val="DDD8CC"/>
            </a:solidFill>
            <a:prstDash val="solid"/>
          </a:ln>
        </p:spPr>
        <p:txBody>
          <a:bodyPr/>
          <a:lstStyle/>
          <a:p>
            <a:endParaRPr lang="en-US"/>
          </a:p>
        </p:txBody>
      </p:sp>
      <p:sp>
        <p:nvSpPr>
          <p:cNvPr id="9" name="Text 7"/>
          <p:cNvSpPr/>
          <p:nvPr/>
        </p:nvSpPr>
        <p:spPr>
          <a:xfrm>
            <a:off x="3702050" y="2647851"/>
            <a:ext cx="2171446" cy="33273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A3561F"/>
                </a:solidFill>
                <a:latin typeface="Source Serif 4" pitchFamily="18" charset="0"/>
                <a:ea typeface="Source Serif 4" pitchFamily="18" charset="-122"/>
                <a:cs typeface="Source Serif 4" pitchFamily="18" charset="-120"/>
              </a:rPr>
              <a:t>2</a:t>
            </a:r>
            <a:endParaRPr lang="en-US" sz="2200" dirty="0"/>
          </a:p>
        </p:txBody>
      </p:sp>
      <p:sp>
        <p:nvSpPr>
          <p:cNvPr id="10" name="Text 8"/>
          <p:cNvSpPr/>
          <p:nvPr/>
        </p:nvSpPr>
        <p:spPr>
          <a:xfrm>
            <a:off x="3702050" y="3031381"/>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62B"/>
                </a:solidFill>
                <a:latin typeface="Inter" pitchFamily="34" charset="0"/>
                <a:ea typeface="Inter" pitchFamily="34" charset="-122"/>
                <a:cs typeface="Inter" pitchFamily="34" charset="-120"/>
              </a:rPr>
              <a:t>Local source</a:t>
            </a:r>
            <a:endParaRPr lang="en-US" sz="1600" dirty="0"/>
          </a:p>
        </p:txBody>
      </p:sp>
      <p:sp>
        <p:nvSpPr>
          <p:cNvPr id="11" name="Text 9"/>
          <p:cNvSpPr/>
          <p:nvPr/>
        </p:nvSpPr>
        <p:spPr>
          <a:xfrm>
            <a:off x="3702050" y="3351411"/>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Matched to the restoration site's genetic stock</a:t>
            </a:r>
            <a:endParaRPr lang="en-US" sz="1200" dirty="0"/>
          </a:p>
        </p:txBody>
      </p:sp>
      <p:sp>
        <p:nvSpPr>
          <p:cNvPr id="12" name="Shape 10"/>
          <p:cNvSpPr/>
          <p:nvPr/>
        </p:nvSpPr>
        <p:spPr>
          <a:xfrm>
            <a:off x="6175375" y="2441476"/>
            <a:ext cx="2520950" cy="1542951"/>
          </a:xfrm>
          <a:prstGeom prst="roundRect">
            <a:avLst>
              <a:gd name="adj" fmla="val 6379"/>
            </a:avLst>
          </a:prstGeom>
          <a:solidFill>
            <a:srgbClr val="FBFAF6"/>
          </a:solidFill>
          <a:ln w="6350">
            <a:solidFill>
              <a:srgbClr val="DDD8CC"/>
            </a:solidFill>
            <a:prstDash val="solid"/>
          </a:ln>
        </p:spPr>
        <p:txBody>
          <a:bodyPr/>
          <a:lstStyle/>
          <a:p>
            <a:endParaRPr lang="en-US"/>
          </a:p>
        </p:txBody>
      </p:sp>
      <p:sp>
        <p:nvSpPr>
          <p:cNvPr id="13" name="Text 11"/>
          <p:cNvSpPr/>
          <p:nvPr/>
        </p:nvSpPr>
        <p:spPr>
          <a:xfrm>
            <a:off x="6381750" y="2647851"/>
            <a:ext cx="2171446" cy="33273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A3561F"/>
                </a:solidFill>
                <a:latin typeface="Source Serif 4" pitchFamily="18" charset="0"/>
                <a:ea typeface="Source Serif 4" pitchFamily="18" charset="-122"/>
                <a:cs typeface="Source Serif 4" pitchFamily="18" charset="-120"/>
              </a:rPr>
              <a:t>3</a:t>
            </a:r>
            <a:endParaRPr lang="en-US" sz="2200" dirty="0"/>
          </a:p>
        </p:txBody>
      </p:sp>
      <p:sp>
        <p:nvSpPr>
          <p:cNvPr id="14" name="Text 12"/>
          <p:cNvSpPr/>
          <p:nvPr/>
        </p:nvSpPr>
        <p:spPr>
          <a:xfrm>
            <a:off x="6381750" y="3031381"/>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62B"/>
                </a:solidFill>
                <a:latin typeface="Inter" pitchFamily="34" charset="0"/>
                <a:ea typeface="Inter" pitchFamily="34" charset="-122"/>
                <a:cs typeface="Inter" pitchFamily="34" charset="-120"/>
              </a:rPr>
              <a:t>Wild origin</a:t>
            </a:r>
            <a:endParaRPr lang="en-US" sz="1600" dirty="0"/>
          </a:p>
        </p:txBody>
      </p:sp>
      <p:sp>
        <p:nvSpPr>
          <p:cNvPr id="15" name="Text 13"/>
          <p:cNvSpPr/>
          <p:nvPr/>
        </p:nvSpPr>
        <p:spPr>
          <a:xfrm>
            <a:off x="6381750" y="3351411"/>
            <a:ext cx="21714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No hatchery-born parents</a:t>
            </a:r>
            <a:endParaRPr lang="en-US" sz="1200" dirty="0"/>
          </a:p>
        </p:txBody>
      </p:sp>
      <p:sp>
        <p:nvSpPr>
          <p:cNvPr id="16" name="Shape 14"/>
          <p:cNvSpPr/>
          <p:nvPr/>
        </p:nvSpPr>
        <p:spPr>
          <a:xfrm>
            <a:off x="8855075" y="2441476"/>
            <a:ext cx="2520950" cy="1542951"/>
          </a:xfrm>
          <a:prstGeom prst="roundRect">
            <a:avLst>
              <a:gd name="adj" fmla="val 6379"/>
            </a:avLst>
          </a:prstGeom>
          <a:solidFill>
            <a:srgbClr val="FBFAF6"/>
          </a:solidFill>
          <a:ln w="6350">
            <a:solidFill>
              <a:srgbClr val="DDD8CC"/>
            </a:solidFill>
            <a:prstDash val="solid"/>
          </a:ln>
        </p:spPr>
        <p:txBody>
          <a:bodyPr/>
          <a:lstStyle/>
          <a:p>
            <a:endParaRPr lang="en-US"/>
          </a:p>
        </p:txBody>
      </p:sp>
      <p:sp>
        <p:nvSpPr>
          <p:cNvPr id="17" name="Text 15"/>
          <p:cNvSpPr/>
          <p:nvPr/>
        </p:nvSpPr>
        <p:spPr>
          <a:xfrm>
            <a:off x="9061450" y="2647851"/>
            <a:ext cx="2171446" cy="33273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A3561F"/>
                </a:solidFill>
                <a:latin typeface="Source Serif 4" pitchFamily="18" charset="0"/>
                <a:ea typeface="Source Serif 4" pitchFamily="18" charset="-122"/>
                <a:cs typeface="Source Serif 4" pitchFamily="18" charset="-120"/>
              </a:rPr>
              <a:t>4</a:t>
            </a:r>
            <a:endParaRPr lang="en-US" sz="2200" dirty="0"/>
          </a:p>
        </p:txBody>
      </p:sp>
      <p:sp>
        <p:nvSpPr>
          <p:cNvPr id="18" name="Text 16"/>
          <p:cNvSpPr/>
          <p:nvPr/>
        </p:nvSpPr>
        <p:spPr>
          <a:xfrm>
            <a:off x="9061450" y="3031381"/>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62B"/>
                </a:solidFill>
                <a:latin typeface="Inter" pitchFamily="34" charset="0"/>
                <a:ea typeface="Inter" pitchFamily="34" charset="-122"/>
                <a:cs typeface="Inter" pitchFamily="34" charset="-120"/>
              </a:rPr>
              <a:t>Annual refresh</a:t>
            </a:r>
            <a:endParaRPr lang="en-US" sz="1600" dirty="0"/>
          </a:p>
        </p:txBody>
      </p:sp>
      <p:sp>
        <p:nvSpPr>
          <p:cNvPr id="19" name="Text 17"/>
          <p:cNvSpPr/>
          <p:nvPr/>
        </p:nvSpPr>
        <p:spPr>
          <a:xfrm>
            <a:off x="9061450" y="3351411"/>
            <a:ext cx="21714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New broodstock every year</a:t>
            </a:r>
            <a:endParaRPr lang="en-US" sz="1200" dirty="0"/>
          </a:p>
        </p:txBody>
      </p:sp>
      <p:sp>
        <p:nvSpPr>
          <p:cNvPr id="20" name="Shape 18"/>
          <p:cNvSpPr/>
          <p:nvPr/>
        </p:nvSpPr>
        <p:spPr>
          <a:xfrm>
            <a:off x="815975" y="4143177"/>
            <a:ext cx="2520950" cy="1542951"/>
          </a:xfrm>
          <a:prstGeom prst="roundRect">
            <a:avLst>
              <a:gd name="adj" fmla="val 6379"/>
            </a:avLst>
          </a:prstGeom>
          <a:solidFill>
            <a:srgbClr val="FBFAF6"/>
          </a:solidFill>
          <a:ln w="6350">
            <a:solidFill>
              <a:srgbClr val="DDD8CC"/>
            </a:solidFill>
            <a:prstDash val="solid"/>
          </a:ln>
        </p:spPr>
        <p:txBody>
          <a:bodyPr/>
          <a:lstStyle/>
          <a:p>
            <a:endParaRPr lang="en-US"/>
          </a:p>
        </p:txBody>
      </p:sp>
      <p:sp>
        <p:nvSpPr>
          <p:cNvPr id="21" name="Text 19"/>
          <p:cNvSpPr/>
          <p:nvPr/>
        </p:nvSpPr>
        <p:spPr>
          <a:xfrm>
            <a:off x="1022350" y="4349552"/>
            <a:ext cx="2171446" cy="33273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A3561F"/>
                </a:solidFill>
                <a:latin typeface="Source Serif 4" pitchFamily="18" charset="0"/>
                <a:ea typeface="Source Serif 4" pitchFamily="18" charset="-122"/>
                <a:cs typeface="Source Serif 4" pitchFamily="18" charset="-120"/>
              </a:rPr>
              <a:t>5</a:t>
            </a:r>
            <a:endParaRPr lang="en-US" sz="2200" dirty="0"/>
          </a:p>
        </p:txBody>
      </p:sp>
      <p:sp>
        <p:nvSpPr>
          <p:cNvPr id="22" name="Text 20"/>
          <p:cNvSpPr/>
          <p:nvPr/>
        </p:nvSpPr>
        <p:spPr>
          <a:xfrm>
            <a:off x="1022350" y="4733082"/>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62B"/>
                </a:solidFill>
                <a:latin typeface="Inter" pitchFamily="34" charset="0"/>
                <a:ea typeface="Inter" pitchFamily="34" charset="-122"/>
                <a:cs typeface="Inter" pitchFamily="34" charset="-120"/>
              </a:rPr>
              <a:t>Mass spawning</a:t>
            </a:r>
            <a:endParaRPr lang="en-US" sz="1600" dirty="0"/>
          </a:p>
        </p:txBody>
      </p:sp>
      <p:sp>
        <p:nvSpPr>
          <p:cNvPr id="23" name="Text 21"/>
          <p:cNvSpPr/>
          <p:nvPr/>
        </p:nvSpPr>
        <p:spPr>
          <a:xfrm>
            <a:off x="1022350" y="5053112"/>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Volitional, no controlled crosses</a:t>
            </a:r>
            <a:endParaRPr lang="en-US" sz="1200" dirty="0"/>
          </a:p>
        </p:txBody>
      </p:sp>
      <p:sp>
        <p:nvSpPr>
          <p:cNvPr id="24" name="Shape 22"/>
          <p:cNvSpPr/>
          <p:nvPr/>
        </p:nvSpPr>
        <p:spPr>
          <a:xfrm>
            <a:off x="3495675" y="4143177"/>
            <a:ext cx="2520950" cy="1542951"/>
          </a:xfrm>
          <a:prstGeom prst="roundRect">
            <a:avLst>
              <a:gd name="adj" fmla="val 6379"/>
            </a:avLst>
          </a:prstGeom>
          <a:solidFill>
            <a:srgbClr val="FBFAF6"/>
          </a:solidFill>
          <a:ln w="6350">
            <a:solidFill>
              <a:srgbClr val="DDD8CC"/>
            </a:solidFill>
            <a:prstDash val="solid"/>
          </a:ln>
        </p:spPr>
        <p:txBody>
          <a:bodyPr/>
          <a:lstStyle/>
          <a:p>
            <a:endParaRPr lang="en-US"/>
          </a:p>
        </p:txBody>
      </p:sp>
      <p:sp>
        <p:nvSpPr>
          <p:cNvPr id="25" name="Text 23"/>
          <p:cNvSpPr/>
          <p:nvPr/>
        </p:nvSpPr>
        <p:spPr>
          <a:xfrm>
            <a:off x="3702050" y="4349552"/>
            <a:ext cx="2171446" cy="33273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A3561F"/>
                </a:solidFill>
                <a:latin typeface="Source Serif 4" pitchFamily="18" charset="0"/>
                <a:ea typeface="Source Serif 4" pitchFamily="18" charset="-122"/>
                <a:cs typeface="Source Serif 4" pitchFamily="18" charset="-120"/>
              </a:rPr>
              <a:t>6</a:t>
            </a:r>
            <a:endParaRPr lang="en-US" sz="2200" dirty="0"/>
          </a:p>
        </p:txBody>
      </p:sp>
      <p:sp>
        <p:nvSpPr>
          <p:cNvPr id="26" name="Text 24"/>
          <p:cNvSpPr/>
          <p:nvPr/>
        </p:nvSpPr>
        <p:spPr>
          <a:xfrm>
            <a:off x="3702050" y="4733082"/>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62B"/>
                </a:solidFill>
                <a:latin typeface="Inter" pitchFamily="34" charset="0"/>
                <a:ea typeface="Inter" pitchFamily="34" charset="-122"/>
                <a:cs typeface="Inter" pitchFamily="34" charset="-120"/>
              </a:rPr>
              <a:t>Long collection</a:t>
            </a:r>
            <a:endParaRPr lang="en-US" sz="1600" dirty="0"/>
          </a:p>
        </p:txBody>
      </p:sp>
      <p:sp>
        <p:nvSpPr>
          <p:cNvPr id="27" name="Text 25"/>
          <p:cNvSpPr/>
          <p:nvPr/>
        </p:nvSpPr>
        <p:spPr>
          <a:xfrm>
            <a:off x="3702050" y="5053112"/>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Larvae collected for at least 4 weeks</a:t>
            </a:r>
            <a:endParaRPr lang="en-US" sz="1200" dirty="0"/>
          </a:p>
        </p:txBody>
      </p:sp>
      <p:sp>
        <p:nvSpPr>
          <p:cNvPr id="28" name="Shape 26"/>
          <p:cNvSpPr/>
          <p:nvPr/>
        </p:nvSpPr>
        <p:spPr>
          <a:xfrm>
            <a:off x="6175375" y="4143177"/>
            <a:ext cx="2520950" cy="1542951"/>
          </a:xfrm>
          <a:prstGeom prst="roundRect">
            <a:avLst>
              <a:gd name="adj" fmla="val 6379"/>
            </a:avLst>
          </a:prstGeom>
          <a:solidFill>
            <a:srgbClr val="FBFAF6"/>
          </a:solidFill>
          <a:ln w="6350">
            <a:solidFill>
              <a:srgbClr val="DDD8CC"/>
            </a:solidFill>
            <a:prstDash val="solid"/>
          </a:ln>
        </p:spPr>
        <p:txBody>
          <a:bodyPr/>
          <a:lstStyle/>
          <a:p>
            <a:endParaRPr lang="en-US"/>
          </a:p>
        </p:txBody>
      </p:sp>
      <p:sp>
        <p:nvSpPr>
          <p:cNvPr id="29" name="Text 27"/>
          <p:cNvSpPr/>
          <p:nvPr/>
        </p:nvSpPr>
        <p:spPr>
          <a:xfrm>
            <a:off x="6381750" y="4349552"/>
            <a:ext cx="2171446" cy="33273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A3561F"/>
                </a:solidFill>
                <a:latin typeface="Source Serif 4" pitchFamily="18" charset="0"/>
                <a:ea typeface="Source Serif 4" pitchFamily="18" charset="-122"/>
                <a:cs typeface="Source Serif 4" pitchFamily="18" charset="-120"/>
              </a:rPr>
              <a:t>7</a:t>
            </a:r>
            <a:endParaRPr lang="en-US" sz="2200" dirty="0"/>
          </a:p>
        </p:txBody>
      </p:sp>
      <p:sp>
        <p:nvSpPr>
          <p:cNvPr id="30" name="Text 28"/>
          <p:cNvSpPr/>
          <p:nvPr/>
        </p:nvSpPr>
        <p:spPr>
          <a:xfrm>
            <a:off x="6381750" y="4733082"/>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62B"/>
                </a:solidFill>
                <a:latin typeface="Inter" pitchFamily="34" charset="0"/>
                <a:ea typeface="Inter" pitchFamily="34" charset="-122"/>
                <a:cs typeface="Inter" pitchFamily="34" charset="-120"/>
              </a:rPr>
              <a:t>Even culling</a:t>
            </a:r>
            <a:endParaRPr lang="en-US" sz="1600" dirty="0"/>
          </a:p>
        </p:txBody>
      </p:sp>
      <p:sp>
        <p:nvSpPr>
          <p:cNvPr id="31" name="Text 29"/>
          <p:cNvSpPr/>
          <p:nvPr/>
        </p:nvSpPr>
        <p:spPr>
          <a:xfrm>
            <a:off x="6381750" y="5053112"/>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Spread across the whole spawning period</a:t>
            </a:r>
            <a:endParaRPr lang="en-US" sz="1200" dirty="0"/>
          </a:p>
        </p:txBody>
      </p:sp>
      <p:sp>
        <p:nvSpPr>
          <p:cNvPr id="32" name="Text 30"/>
          <p:cNvSpPr/>
          <p:nvPr/>
        </p:nvSpPr>
        <p:spPr>
          <a:xfrm>
            <a:off x="812800" y="6238280"/>
            <a:ext cx="4136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A6C"/>
                </a:solidFill>
                <a:latin typeface="Inter" pitchFamily="34" charset="0"/>
                <a:ea typeface="Inter" pitchFamily="34" charset="-122"/>
                <a:cs typeface="Inter" pitchFamily="34" charset="-120"/>
              </a:rPr>
              <a:t>Olympia oyster hatchery genetics · Abbott et al., in prep</a:t>
            </a:r>
            <a:endParaRPr lang="en-US" sz="1200" dirty="0"/>
          </a:p>
        </p:txBody>
      </p:sp>
      <p:sp>
        <p:nvSpPr>
          <p:cNvPr id="33" name="Text 31"/>
          <p:cNvSpPr/>
          <p:nvPr/>
        </p:nvSpPr>
        <p:spPr>
          <a:xfrm>
            <a:off x="4949480" y="6238280"/>
            <a:ext cx="642972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A6C"/>
                </a:solidFill>
                <a:latin typeface="Inter" pitchFamily="34" charset="0"/>
                <a:ea typeface="Inter" pitchFamily="34" charset="-122"/>
                <a:cs typeface="Inter" pitchFamily="34" charset="-120"/>
              </a:rPr>
              <a:t>Codified in WDFW protocols for Olympia oyster restoration seed (Blake et al., 2025)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561F"/>
                </a:solidFill>
                <a:latin typeface="Inter" pitchFamily="34" charset="0"/>
                <a:ea typeface="Inter" pitchFamily="34" charset="-122"/>
                <a:cs typeface="Inter" pitchFamily="34" charset="-120"/>
              </a:rPr>
              <a:t>STUDY DESIGN</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4262B"/>
                </a:solidFill>
                <a:latin typeface="Source Serif 4" pitchFamily="18" charset="0"/>
                <a:ea typeface="Source Serif 4" pitchFamily="18" charset="-122"/>
                <a:cs typeface="Source Serif 4" pitchFamily="18" charset="-120"/>
              </a:rPr>
              <a:t>Three source populations, hatchery vs wild</a:t>
            </a:r>
            <a:endParaRPr lang="en-US" sz="3600" dirty="0"/>
          </a:p>
        </p:txBody>
      </p:sp>
      <p:sp>
        <p:nvSpPr>
          <p:cNvPr id="4" name="Shape 2"/>
          <p:cNvSpPr/>
          <p:nvPr/>
        </p:nvSpPr>
        <p:spPr>
          <a:xfrm>
            <a:off x="812800" y="1935411"/>
            <a:ext cx="3048000" cy="3784600"/>
          </a:xfrm>
          <a:prstGeom prst="roundRect">
            <a:avLst>
              <a:gd name="adj" fmla="val 2500"/>
            </a:avLst>
          </a:prstGeom>
          <a:solidFill>
            <a:srgbClr val="FFFFFF"/>
          </a:solidFill>
          <a:ln/>
        </p:spPr>
        <p:txBody>
          <a:bodyPr/>
          <a:lstStyle/>
          <a:p>
            <a:endParaRPr lang="en-US"/>
          </a:p>
        </p:txBody>
      </p:sp>
      <p:pic>
        <p:nvPicPr>
          <p:cNvPr id="5" name="Image 0" descr="Map of Puget Sound sub-basins with sampling sites at Fidalgo Bay, Mud Bay and North Bay"/>
          <p:cNvPicPr>
            <a:picLocks noChangeAspect="1"/>
          </p:cNvPicPr>
          <p:nvPr/>
        </p:nvPicPr>
        <p:blipFill>
          <a:blip r:embed="rId3"/>
          <a:srcRect l="-45" r="-45"/>
          <a:stretch/>
        </p:blipFill>
        <p:spPr>
          <a:xfrm>
            <a:off x="812800" y="1935411"/>
            <a:ext cx="3048000" cy="3784600"/>
          </a:xfrm>
          <a:prstGeom prst="roundRect">
            <a:avLst>
              <a:gd name="adj" fmla="val 2500"/>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279900" y="1948111"/>
          <a:ext cx="7099300" cy="1757364"/>
        </p:xfrm>
        <a:graphic>
          <a:graphicData uri="http://schemas.openxmlformats.org/drawingml/2006/table">
            <a:tbl>
              <a:tblPr/>
              <a:tblGrid>
                <a:gridCol w="3549650">
                  <a:extLst>
                    <a:ext uri="{9D8B030D-6E8A-4147-A177-3AD203B41FA5}">
                      <a16:colId xmlns:a16="http://schemas.microsoft.com/office/drawing/2014/main" val="20000"/>
                    </a:ext>
                  </a:extLst>
                </a:gridCol>
                <a:gridCol w="1774825">
                  <a:extLst>
                    <a:ext uri="{9D8B030D-6E8A-4147-A177-3AD203B41FA5}">
                      <a16:colId xmlns:a16="http://schemas.microsoft.com/office/drawing/2014/main" val="20001"/>
                    </a:ext>
                  </a:extLst>
                </a:gridCol>
                <a:gridCol w="1774825">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1B2A2E"/>
                          </a:solidFill>
                          <a:latin typeface="Inter" pitchFamily="34" charset="0"/>
                          <a:ea typeface="Inter" pitchFamily="34" charset="-122"/>
                          <a:cs typeface="Inter" pitchFamily="34" charset="-120"/>
                        </a:rPr>
                        <a:t>Source</a:t>
                      </a:r>
                      <a:endParaRPr lang="en-US" sz="1600" dirty="0">
                        <a:latin typeface="Inter" charset="0"/>
                        <a:ea typeface="Inter" charset="0"/>
                        <a:cs typeface="Inter" charset="0"/>
                      </a:endParaRPr>
                    </a:p>
                  </a:txBody>
                  <a:tcPr marL="71120" marR="71120" marT="71120" marB="71120">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marL="0" indent="0">
                        <a:lnSpc>
                          <a:spcPts val="2240"/>
                        </a:lnSpc>
                        <a:buNone/>
                      </a:pPr>
                      <a:r>
                        <a:rPr lang="en-US" sz="1600" b="1" dirty="0">
                          <a:solidFill>
                            <a:srgbClr val="1B2A2E"/>
                          </a:solidFill>
                          <a:latin typeface="Inter" pitchFamily="34" charset="0"/>
                          <a:ea typeface="Inter" pitchFamily="34" charset="-122"/>
                          <a:cs typeface="Inter" pitchFamily="34" charset="-120"/>
                        </a:rPr>
                        <a:t>Wild adults</a:t>
                      </a:r>
                      <a:endParaRPr lang="en-US" sz="1600" dirty="0">
                        <a:latin typeface="Inter" charset="0"/>
                        <a:ea typeface="Inter" charset="0"/>
                        <a:cs typeface="Inter" charset="0"/>
                      </a:endParaRPr>
                    </a:p>
                  </a:txBody>
                  <a:tcPr marL="71120" marR="71120" marT="71120" marB="7112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marL="0" indent="0">
                        <a:lnSpc>
                          <a:spcPts val="2240"/>
                        </a:lnSpc>
                        <a:buNone/>
                      </a:pPr>
                      <a:r>
                        <a:rPr lang="en-US" sz="1600" b="1" dirty="0">
                          <a:solidFill>
                            <a:srgbClr val="1B2A2E"/>
                          </a:solidFill>
                          <a:latin typeface="Inter" pitchFamily="34" charset="0"/>
                          <a:ea typeface="Inter" pitchFamily="34" charset="-122"/>
                          <a:cs typeface="Inter" pitchFamily="34" charset="-120"/>
                        </a:rPr>
                        <a:t>Hatchery seed</a:t>
                      </a:r>
                      <a:endParaRPr lang="en-US" sz="1600" dirty="0">
                        <a:latin typeface="Inter" charset="0"/>
                        <a:ea typeface="Inter" charset="0"/>
                        <a:cs typeface="Inter" charset="0"/>
                      </a:endParaRPr>
                    </a:p>
                  </a:txBody>
                  <a:tcPr marL="71120" marR="71120" marT="71120" marB="7112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1B2A2E"/>
                          </a:solidFill>
                          <a:latin typeface="Inter" pitchFamily="34" charset="0"/>
                          <a:ea typeface="Inter" pitchFamily="34" charset="-122"/>
                          <a:cs typeface="Inter" pitchFamily="34" charset="-120"/>
                        </a:rPr>
                        <a:t>North · Fidalgo Bay</a:t>
                      </a:r>
                      <a:endParaRPr lang="en-US" sz="1600" dirty="0">
                        <a:latin typeface="Inter" charset="0"/>
                        <a:ea typeface="Inter" charset="0"/>
                        <a:cs typeface="Inter" charset="0"/>
                      </a:endParaRPr>
                    </a:p>
                  </a:txBody>
                  <a:tcPr marL="71120" marR="71120" marT="71120" marB="7112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2240"/>
                        </a:lnSpc>
                        <a:buNone/>
                      </a:pPr>
                      <a:r>
                        <a:rPr lang="en-US" sz="1600" dirty="0">
                          <a:solidFill>
                            <a:srgbClr val="1B2A2E"/>
                          </a:solidFill>
                          <a:latin typeface="Inter" pitchFamily="34" charset="0"/>
                          <a:ea typeface="Inter" pitchFamily="34" charset="-122"/>
                          <a:cs typeface="Inter" pitchFamily="34" charset="-120"/>
                        </a:rPr>
                        <a:t>2018</a:t>
                      </a:r>
                      <a:endParaRPr lang="en-US" sz="1600" dirty="0">
                        <a:latin typeface="Inter" charset="0"/>
                        <a:ea typeface="Inter" charset="0"/>
                        <a:cs typeface="Inter" charset="0"/>
                      </a:endParaRPr>
                    </a:p>
                  </a:txBody>
                  <a:tcPr marL="71120" marR="71120" marT="71120" marB="7112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2240"/>
                        </a:lnSpc>
                        <a:buNone/>
                      </a:pPr>
                      <a:r>
                        <a:rPr lang="en-US" sz="1600" dirty="0">
                          <a:solidFill>
                            <a:srgbClr val="1B2A2E"/>
                          </a:solidFill>
                          <a:latin typeface="Inter" pitchFamily="34" charset="0"/>
                          <a:ea typeface="Inter" pitchFamily="34" charset="-122"/>
                          <a:cs typeface="Inter" pitchFamily="34" charset="-120"/>
                        </a:rPr>
                        <a:t>2017</a:t>
                      </a:r>
                      <a:endParaRPr lang="en-US" sz="1600" dirty="0">
                        <a:latin typeface="Inter" charset="0"/>
                        <a:ea typeface="Inter" charset="0"/>
                        <a:cs typeface="Inter" charset="0"/>
                      </a:endParaRPr>
                    </a:p>
                  </a:txBody>
                  <a:tcPr marL="71120" marR="71120" marT="71120" marB="7112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1B2A2E"/>
                          </a:solidFill>
                          <a:latin typeface="Inter" pitchFamily="34" charset="0"/>
                          <a:ea typeface="Inter" pitchFamily="34" charset="-122"/>
                          <a:cs typeface="Inter" pitchFamily="34" charset="-120"/>
                        </a:rPr>
                        <a:t>Central · Mud Bay</a:t>
                      </a:r>
                      <a:endParaRPr lang="en-US" sz="1600" dirty="0">
                        <a:latin typeface="Inter" charset="0"/>
                        <a:ea typeface="Inter" charset="0"/>
                        <a:cs typeface="Inter" charset="0"/>
                      </a:endParaRPr>
                    </a:p>
                  </a:txBody>
                  <a:tcPr marL="71120" marR="71120" marT="71120" marB="7112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2240"/>
                        </a:lnSpc>
                        <a:buNone/>
                      </a:pPr>
                      <a:r>
                        <a:rPr lang="en-US" sz="1600" dirty="0">
                          <a:solidFill>
                            <a:srgbClr val="1B2A2E"/>
                          </a:solidFill>
                          <a:latin typeface="Inter" pitchFamily="34" charset="0"/>
                          <a:ea typeface="Inter" pitchFamily="34" charset="-122"/>
                          <a:cs typeface="Inter" pitchFamily="34" charset="-120"/>
                        </a:rPr>
                        <a:t>2017</a:t>
                      </a:r>
                      <a:endParaRPr lang="en-US" sz="1600" dirty="0">
                        <a:latin typeface="Inter" charset="0"/>
                        <a:ea typeface="Inter" charset="0"/>
                        <a:cs typeface="Inter" charset="0"/>
                      </a:endParaRPr>
                    </a:p>
                  </a:txBody>
                  <a:tcPr marL="71120" marR="71120" marT="71120" marB="7112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2240"/>
                        </a:lnSpc>
                        <a:buNone/>
                      </a:pPr>
                      <a:r>
                        <a:rPr lang="en-US" sz="1600" dirty="0">
                          <a:solidFill>
                            <a:srgbClr val="1B2A2E"/>
                          </a:solidFill>
                          <a:latin typeface="Inter" pitchFamily="34" charset="0"/>
                          <a:ea typeface="Inter" pitchFamily="34" charset="-122"/>
                          <a:cs typeface="Inter" pitchFamily="34" charset="-120"/>
                        </a:rPr>
                        <a:t>2018</a:t>
                      </a:r>
                      <a:endParaRPr lang="en-US" sz="1600" dirty="0">
                        <a:latin typeface="Inter" charset="0"/>
                        <a:ea typeface="Inter" charset="0"/>
                        <a:cs typeface="Inter" charset="0"/>
                      </a:endParaRPr>
                    </a:p>
                  </a:txBody>
                  <a:tcPr marL="71120" marR="71120" marT="71120" marB="7112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2"/>
                  </a:ext>
                </a:extLst>
              </a:tr>
              <a:tr h="439341">
                <a:tc>
                  <a:txBody>
                    <a:bodyPr/>
                    <a:lstStyle/>
                    <a:p>
                      <a:pPr marL="0" indent="0">
                        <a:lnSpc>
                          <a:spcPts val="2240"/>
                        </a:lnSpc>
                        <a:buNone/>
                      </a:pPr>
                      <a:r>
                        <a:rPr lang="en-US" sz="1600" dirty="0">
                          <a:solidFill>
                            <a:srgbClr val="1B2A2E"/>
                          </a:solidFill>
                          <a:latin typeface="Inter" pitchFamily="34" charset="0"/>
                          <a:ea typeface="Inter" pitchFamily="34" charset="-122"/>
                          <a:cs typeface="Inter" pitchFamily="34" charset="-120"/>
                        </a:rPr>
                        <a:t>South · North Bay</a:t>
                      </a:r>
                      <a:endParaRPr lang="en-US" sz="1600" dirty="0">
                        <a:latin typeface="Inter" charset="0"/>
                        <a:ea typeface="Inter" charset="0"/>
                        <a:cs typeface="Inter" charset="0"/>
                      </a:endParaRPr>
                    </a:p>
                  </a:txBody>
                  <a:tcPr marL="71120" marR="71120" marT="71120" marB="7112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2240"/>
                        </a:lnSpc>
                        <a:buNone/>
                      </a:pPr>
                      <a:r>
                        <a:rPr lang="en-US" sz="1600" dirty="0">
                          <a:solidFill>
                            <a:srgbClr val="1B2A2E"/>
                          </a:solidFill>
                          <a:latin typeface="Inter" pitchFamily="34" charset="0"/>
                          <a:ea typeface="Inter" pitchFamily="34" charset="-122"/>
                          <a:cs typeface="Inter" pitchFamily="34" charset="-120"/>
                        </a:rPr>
                        <a:t>2018</a:t>
                      </a:r>
                      <a:endParaRPr lang="en-US" sz="1600" dirty="0">
                        <a:latin typeface="Inter" charset="0"/>
                        <a:ea typeface="Inter" charset="0"/>
                        <a:cs typeface="Inter" charset="0"/>
                      </a:endParaRPr>
                    </a:p>
                  </a:txBody>
                  <a:tcPr marL="71120" marR="71120" marT="71120" marB="7112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2240"/>
                        </a:lnSpc>
                        <a:buNone/>
                      </a:pPr>
                      <a:r>
                        <a:rPr lang="en-US" sz="1600" dirty="0">
                          <a:solidFill>
                            <a:srgbClr val="1B2A2E"/>
                          </a:solidFill>
                          <a:latin typeface="Inter" pitchFamily="34" charset="0"/>
                          <a:ea typeface="Inter" pitchFamily="34" charset="-122"/>
                          <a:cs typeface="Inter" pitchFamily="34" charset="-120"/>
                        </a:rPr>
                        <a:t>2018</a:t>
                      </a:r>
                      <a:endParaRPr lang="en-US" sz="1600" dirty="0">
                        <a:latin typeface="Inter" charset="0"/>
                        <a:ea typeface="Inter" charset="0"/>
                        <a:cs typeface="Inter" charset="0"/>
                      </a:endParaRPr>
                    </a:p>
                  </a:txBody>
                  <a:tcPr marL="71120" marR="71120" marT="71120" marB="7112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3"/>
          <p:cNvSpPr/>
          <p:nvPr/>
        </p:nvSpPr>
        <p:spPr>
          <a:xfrm>
            <a:off x="4267200" y="3908673"/>
            <a:ext cx="73253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96 oysters per group (NW, NH, CW, CH, SW, SH); seed sampled at 5 to 10 mm before outplant. 23 batch-linked loci removed (NH library prepared separately during COVID-19).</a:t>
            </a:r>
            <a:endParaRPr lang="en-US" sz="1200" dirty="0"/>
          </a:p>
        </p:txBody>
      </p:sp>
      <p:sp>
        <p:nvSpPr>
          <p:cNvPr id="8" name="Shape 4"/>
          <p:cNvSpPr/>
          <p:nvPr/>
        </p:nvSpPr>
        <p:spPr>
          <a:xfrm>
            <a:off x="4267200" y="4541689"/>
            <a:ext cx="2235200" cy="0"/>
          </a:xfrm>
          <a:prstGeom prst="line">
            <a:avLst/>
          </a:prstGeom>
          <a:noFill/>
          <a:ln w="6350">
            <a:solidFill>
              <a:srgbClr val="C9C2B2"/>
            </a:solidFill>
            <a:prstDash val="solid"/>
          </a:ln>
        </p:spPr>
        <p:txBody>
          <a:bodyPr/>
          <a:lstStyle/>
          <a:p>
            <a:endParaRPr lang="en-US"/>
          </a:p>
        </p:txBody>
      </p:sp>
      <p:sp>
        <p:nvSpPr>
          <p:cNvPr id="9" name="Text 5"/>
          <p:cNvSpPr/>
          <p:nvPr/>
        </p:nvSpPr>
        <p:spPr>
          <a:xfrm>
            <a:off x="4267200" y="4671864"/>
            <a:ext cx="2302256"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A3561F"/>
                </a:solidFill>
                <a:latin typeface="Source Serif 4" pitchFamily="18" charset="0"/>
                <a:ea typeface="Source Serif 4" pitchFamily="18" charset="-122"/>
                <a:cs typeface="Source Serif 4" pitchFamily="18" charset="-120"/>
              </a:rPr>
              <a:t>561</a:t>
            </a:r>
            <a:endParaRPr lang="en-US" sz="3600" dirty="0"/>
          </a:p>
        </p:txBody>
      </p:sp>
      <p:sp>
        <p:nvSpPr>
          <p:cNvPr id="10" name="Text 6"/>
          <p:cNvSpPr/>
          <p:nvPr/>
        </p:nvSpPr>
        <p:spPr>
          <a:xfrm>
            <a:off x="4267200" y="5200154"/>
            <a:ext cx="230225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oysters retained of 576</a:t>
            </a:r>
            <a:endParaRPr lang="en-US" sz="1200" dirty="0"/>
          </a:p>
        </p:txBody>
      </p:sp>
      <p:sp>
        <p:nvSpPr>
          <p:cNvPr id="11" name="Shape 7"/>
          <p:cNvSpPr/>
          <p:nvPr/>
        </p:nvSpPr>
        <p:spPr>
          <a:xfrm>
            <a:off x="6705600" y="4541689"/>
            <a:ext cx="2235200" cy="0"/>
          </a:xfrm>
          <a:prstGeom prst="line">
            <a:avLst/>
          </a:prstGeom>
          <a:noFill/>
          <a:ln w="6350">
            <a:solidFill>
              <a:srgbClr val="C9C2B2"/>
            </a:solidFill>
            <a:prstDash val="solid"/>
          </a:ln>
        </p:spPr>
        <p:txBody>
          <a:bodyPr/>
          <a:lstStyle/>
          <a:p>
            <a:endParaRPr lang="en-US"/>
          </a:p>
        </p:txBody>
      </p:sp>
      <p:sp>
        <p:nvSpPr>
          <p:cNvPr id="12" name="Text 8"/>
          <p:cNvSpPr/>
          <p:nvPr/>
        </p:nvSpPr>
        <p:spPr>
          <a:xfrm>
            <a:off x="6705600" y="4671864"/>
            <a:ext cx="2302256"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A3561F"/>
                </a:solidFill>
                <a:latin typeface="Source Serif 4" pitchFamily="18" charset="0"/>
                <a:ea typeface="Source Serif 4" pitchFamily="18" charset="-122"/>
                <a:cs typeface="Source Serif 4" pitchFamily="18" charset="-120"/>
              </a:rPr>
              <a:t>2,342</a:t>
            </a:r>
            <a:endParaRPr lang="en-US" sz="3600" dirty="0"/>
          </a:p>
        </p:txBody>
      </p:sp>
      <p:sp>
        <p:nvSpPr>
          <p:cNvPr id="13" name="Text 9"/>
          <p:cNvSpPr/>
          <p:nvPr/>
        </p:nvSpPr>
        <p:spPr>
          <a:xfrm>
            <a:off x="6705600" y="5200154"/>
            <a:ext cx="230225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filtered SNPs</a:t>
            </a:r>
            <a:endParaRPr lang="en-US" sz="1200" dirty="0"/>
          </a:p>
        </p:txBody>
      </p:sp>
      <p:sp>
        <p:nvSpPr>
          <p:cNvPr id="14" name="Shape 10"/>
          <p:cNvSpPr/>
          <p:nvPr/>
        </p:nvSpPr>
        <p:spPr>
          <a:xfrm>
            <a:off x="9144000" y="4541689"/>
            <a:ext cx="2235200" cy="0"/>
          </a:xfrm>
          <a:prstGeom prst="line">
            <a:avLst/>
          </a:prstGeom>
          <a:noFill/>
          <a:ln w="6350">
            <a:solidFill>
              <a:srgbClr val="C9C2B2"/>
            </a:solidFill>
            <a:prstDash val="solid"/>
          </a:ln>
        </p:spPr>
        <p:txBody>
          <a:bodyPr/>
          <a:lstStyle/>
          <a:p>
            <a:endParaRPr lang="en-US"/>
          </a:p>
        </p:txBody>
      </p:sp>
      <p:sp>
        <p:nvSpPr>
          <p:cNvPr id="15" name="Text 11"/>
          <p:cNvSpPr/>
          <p:nvPr/>
        </p:nvSpPr>
        <p:spPr>
          <a:xfrm>
            <a:off x="9144000" y="4671864"/>
            <a:ext cx="2302256"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A3561F"/>
                </a:solidFill>
                <a:latin typeface="Source Serif 4" pitchFamily="18" charset="0"/>
                <a:ea typeface="Source Serif 4" pitchFamily="18" charset="-122"/>
                <a:cs typeface="Source Serif 4" pitchFamily="18" charset="-120"/>
              </a:rPr>
              <a:t>RAD</a:t>
            </a:r>
            <a:endParaRPr lang="en-US" sz="3600" dirty="0"/>
          </a:p>
        </p:txBody>
      </p:sp>
      <p:sp>
        <p:nvSpPr>
          <p:cNvPr id="16" name="Text 12"/>
          <p:cNvSpPr/>
          <p:nvPr/>
        </p:nvSpPr>
        <p:spPr>
          <a:xfrm>
            <a:off x="9144000" y="5200154"/>
            <a:ext cx="230225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BestRAD, SbfI, NovaSeq 150 PE</a:t>
            </a:r>
            <a:endParaRPr lang="en-US" sz="1200" dirty="0"/>
          </a:p>
        </p:txBody>
      </p:sp>
      <p:sp>
        <p:nvSpPr>
          <p:cNvPr id="17" name="Text 13"/>
          <p:cNvSpPr/>
          <p:nvPr/>
        </p:nvSpPr>
        <p:spPr>
          <a:xfrm>
            <a:off x="812800" y="6238280"/>
            <a:ext cx="480964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A6C"/>
                </a:solidFill>
                <a:latin typeface="Inter" pitchFamily="34" charset="0"/>
                <a:ea typeface="Inter" pitchFamily="34" charset="-122"/>
                <a:cs typeface="Inter" pitchFamily="34" charset="-120"/>
              </a:rPr>
              <a:t>Olympia oyster hatchery genetics · Abbott et al., in prep</a:t>
            </a:r>
            <a:endParaRPr lang="en-US" sz="1200" dirty="0"/>
          </a:p>
        </p:txBody>
      </p:sp>
      <p:sp>
        <p:nvSpPr>
          <p:cNvPr id="18" name="Text 14"/>
          <p:cNvSpPr/>
          <p:nvPr/>
        </p:nvSpPr>
        <p:spPr>
          <a:xfrm>
            <a:off x="11237962" y="6238280"/>
            <a:ext cx="141238"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A6C"/>
                </a:solidFill>
                <a:latin typeface="Inter" pitchFamily="34" charset="0"/>
                <a:ea typeface="Inter" pitchFamily="34" charset="-122"/>
                <a:cs typeface="Inter"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561F"/>
                </a:solidFill>
                <a:latin typeface="Inter" pitchFamily="34" charset="0"/>
                <a:ea typeface="Inter" pitchFamily="34" charset="-122"/>
                <a:cs typeface="Inter" pitchFamily="34" charset="-120"/>
              </a:rPr>
              <a:t>RESULT 1 · POPULATION STRUCTURE</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4262B"/>
                </a:solidFill>
                <a:latin typeface="Source Serif 4" pitchFamily="18" charset="0"/>
                <a:ea typeface="Source Serif 4" pitchFamily="18" charset="-122"/>
                <a:cs typeface="Source Serif 4" pitchFamily="18" charset="-120"/>
              </a:rPr>
              <a:t>Oysters cluster by source, not by rearing</a:t>
            </a:r>
            <a:endParaRPr lang="en-US" sz="3600" dirty="0"/>
          </a:p>
        </p:txBody>
      </p:sp>
      <p:sp>
        <p:nvSpPr>
          <p:cNvPr id="4" name="Shape 2"/>
          <p:cNvSpPr/>
          <p:nvPr/>
        </p:nvSpPr>
        <p:spPr>
          <a:xfrm>
            <a:off x="812800" y="1935411"/>
            <a:ext cx="4864100" cy="3835400"/>
          </a:xfrm>
          <a:prstGeom prst="roundRect">
            <a:avLst>
              <a:gd name="adj" fmla="val 1987"/>
            </a:avLst>
          </a:prstGeom>
          <a:solidFill>
            <a:srgbClr val="FFFFFF"/>
          </a:solidFill>
          <a:ln/>
        </p:spPr>
        <p:txBody>
          <a:bodyPr/>
          <a:lstStyle/>
          <a:p>
            <a:endParaRPr lang="en-US"/>
          </a:p>
        </p:txBody>
      </p:sp>
      <p:pic>
        <p:nvPicPr>
          <p:cNvPr id="5" name="Image 0" descr="PCA of all samples showing three clusters by source, and DAPC membership bars by group"/>
          <p:cNvPicPr>
            <a:picLocks noChangeAspect="1"/>
          </p:cNvPicPr>
          <p:nvPr/>
        </p:nvPicPr>
        <p:blipFill>
          <a:blip r:embed="rId3"/>
          <a:srcRect t="-89" b="-89"/>
          <a:stretch/>
        </p:blipFill>
        <p:spPr>
          <a:xfrm>
            <a:off x="812800" y="1935411"/>
            <a:ext cx="4864100" cy="3835400"/>
          </a:xfrm>
          <a:prstGeom prst="roundRect">
            <a:avLst>
              <a:gd name="adj" fmla="val 1987"/>
            </a:avLst>
          </a:prstGeom>
        </p:spPr>
      </p:pic>
      <p:sp>
        <p:nvSpPr>
          <p:cNvPr id="6" name="Shape 3"/>
          <p:cNvSpPr/>
          <p:nvPr/>
        </p:nvSpPr>
        <p:spPr>
          <a:xfrm>
            <a:off x="6086475" y="1938586"/>
            <a:ext cx="5289550" cy="819100"/>
          </a:xfrm>
          <a:prstGeom prst="roundRect">
            <a:avLst>
              <a:gd name="adj" fmla="val 8915"/>
            </a:avLst>
          </a:prstGeom>
          <a:solidFill>
            <a:srgbClr val="FBFAF6"/>
          </a:solidFill>
          <a:ln w="6350">
            <a:solidFill>
              <a:srgbClr val="DDD8CC"/>
            </a:solidFill>
            <a:prstDash val="solid"/>
          </a:ln>
        </p:spPr>
        <p:txBody>
          <a:bodyPr/>
          <a:lstStyle/>
          <a:p>
            <a:endParaRPr lang="en-US"/>
          </a:p>
        </p:txBody>
      </p:sp>
      <p:sp>
        <p:nvSpPr>
          <p:cNvPr id="7" name="Text 4"/>
          <p:cNvSpPr/>
          <p:nvPr/>
        </p:nvSpPr>
        <p:spPr>
          <a:xfrm>
            <a:off x="6292850" y="2094161"/>
            <a:ext cx="502310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62B"/>
                </a:solidFill>
                <a:latin typeface="Inter" pitchFamily="34" charset="0"/>
                <a:ea typeface="Inter" pitchFamily="34" charset="-122"/>
                <a:cs typeface="Inter" pitchFamily="34" charset="-120"/>
              </a:rPr>
              <a:t>Cluster 1: 185 of 190 Central</a:t>
            </a:r>
            <a:endParaRPr lang="en-US" sz="1600" dirty="0"/>
          </a:p>
        </p:txBody>
      </p:sp>
      <p:sp>
        <p:nvSpPr>
          <p:cNvPr id="8" name="Text 5"/>
          <p:cNvSpPr/>
          <p:nvPr/>
        </p:nvSpPr>
        <p:spPr>
          <a:xfrm>
            <a:off x="6292850" y="2388791"/>
            <a:ext cx="50231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93 hatchery · 92 wild</a:t>
            </a:r>
            <a:endParaRPr lang="en-US" sz="1200" dirty="0"/>
          </a:p>
        </p:txBody>
      </p:sp>
      <p:sp>
        <p:nvSpPr>
          <p:cNvPr id="9" name="Shape 6"/>
          <p:cNvSpPr/>
          <p:nvPr/>
        </p:nvSpPr>
        <p:spPr>
          <a:xfrm>
            <a:off x="6086475" y="2891036"/>
            <a:ext cx="5289550" cy="819100"/>
          </a:xfrm>
          <a:prstGeom prst="roundRect">
            <a:avLst>
              <a:gd name="adj" fmla="val 8915"/>
            </a:avLst>
          </a:prstGeom>
          <a:solidFill>
            <a:srgbClr val="FBFAF6"/>
          </a:solidFill>
          <a:ln w="6350">
            <a:solidFill>
              <a:srgbClr val="DDD8CC"/>
            </a:solidFill>
            <a:prstDash val="solid"/>
          </a:ln>
        </p:spPr>
        <p:txBody>
          <a:bodyPr/>
          <a:lstStyle/>
          <a:p>
            <a:endParaRPr lang="en-US"/>
          </a:p>
        </p:txBody>
      </p:sp>
      <p:sp>
        <p:nvSpPr>
          <p:cNvPr id="10" name="Text 7"/>
          <p:cNvSpPr/>
          <p:nvPr/>
        </p:nvSpPr>
        <p:spPr>
          <a:xfrm>
            <a:off x="6292850" y="3046611"/>
            <a:ext cx="502310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62B"/>
                </a:solidFill>
                <a:latin typeface="Inter" pitchFamily="34" charset="0"/>
                <a:ea typeface="Inter" pitchFamily="34" charset="-122"/>
                <a:cs typeface="Inter" pitchFamily="34" charset="-120"/>
              </a:rPr>
              <a:t>Cluster 2: 168 of 184 North</a:t>
            </a:r>
            <a:endParaRPr lang="en-US" sz="1600" dirty="0"/>
          </a:p>
        </p:txBody>
      </p:sp>
      <p:sp>
        <p:nvSpPr>
          <p:cNvPr id="11" name="Text 8"/>
          <p:cNvSpPr/>
          <p:nvPr/>
        </p:nvSpPr>
        <p:spPr>
          <a:xfrm>
            <a:off x="6292850" y="3341241"/>
            <a:ext cx="50231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79 hatchery · 89 wild</a:t>
            </a:r>
            <a:endParaRPr lang="en-US" sz="1200" dirty="0"/>
          </a:p>
        </p:txBody>
      </p:sp>
      <p:sp>
        <p:nvSpPr>
          <p:cNvPr id="12" name="Shape 9"/>
          <p:cNvSpPr/>
          <p:nvPr/>
        </p:nvSpPr>
        <p:spPr>
          <a:xfrm>
            <a:off x="6086475" y="3843486"/>
            <a:ext cx="5289550" cy="819100"/>
          </a:xfrm>
          <a:prstGeom prst="roundRect">
            <a:avLst>
              <a:gd name="adj" fmla="val 8915"/>
            </a:avLst>
          </a:prstGeom>
          <a:solidFill>
            <a:srgbClr val="FBFAF6"/>
          </a:solidFill>
          <a:ln w="6350">
            <a:solidFill>
              <a:srgbClr val="DDD8CC"/>
            </a:solidFill>
            <a:prstDash val="solid"/>
          </a:ln>
        </p:spPr>
        <p:txBody>
          <a:bodyPr/>
          <a:lstStyle/>
          <a:p>
            <a:endParaRPr lang="en-US"/>
          </a:p>
        </p:txBody>
      </p:sp>
      <p:sp>
        <p:nvSpPr>
          <p:cNvPr id="13" name="Text 10"/>
          <p:cNvSpPr/>
          <p:nvPr/>
        </p:nvSpPr>
        <p:spPr>
          <a:xfrm>
            <a:off x="6292850" y="3999061"/>
            <a:ext cx="502310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62B"/>
                </a:solidFill>
                <a:latin typeface="Inter" pitchFamily="34" charset="0"/>
                <a:ea typeface="Inter" pitchFamily="34" charset="-122"/>
                <a:cs typeface="Inter" pitchFamily="34" charset="-120"/>
              </a:rPr>
              <a:t>Cluster 3: all 187 South</a:t>
            </a:r>
            <a:endParaRPr lang="en-US" sz="1600" dirty="0"/>
          </a:p>
        </p:txBody>
      </p:sp>
      <p:sp>
        <p:nvSpPr>
          <p:cNvPr id="14" name="Text 11"/>
          <p:cNvSpPr/>
          <p:nvPr/>
        </p:nvSpPr>
        <p:spPr>
          <a:xfrm>
            <a:off x="6292850" y="4293691"/>
            <a:ext cx="50231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Plus 21 North and Central individuals</a:t>
            </a:r>
            <a:endParaRPr lang="en-US" sz="1200" dirty="0"/>
          </a:p>
        </p:txBody>
      </p:sp>
      <p:sp>
        <p:nvSpPr>
          <p:cNvPr id="15" name="Text 12"/>
          <p:cNvSpPr/>
          <p:nvPr/>
        </p:nvSpPr>
        <p:spPr>
          <a:xfrm>
            <a:off x="6083300" y="4792762"/>
            <a:ext cx="5454777"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A2E"/>
                </a:solidFill>
                <a:latin typeface="Inter" pitchFamily="34" charset="0"/>
                <a:ea typeface="Inter" pitchFamily="34" charset="-122"/>
                <a:cs typeface="Inter" pitchFamily="34" charset="-120"/>
              </a:rPr>
              <a:t>No hatchery cluster: hatchery and wild intermix within every source.</a:t>
            </a:r>
            <a:endParaRPr lang="en-US" sz="1600" dirty="0"/>
          </a:p>
        </p:txBody>
      </p:sp>
      <p:sp>
        <p:nvSpPr>
          <p:cNvPr id="16" name="Text 13"/>
          <p:cNvSpPr/>
          <p:nvPr/>
        </p:nvSpPr>
        <p:spPr>
          <a:xfrm>
            <a:off x="812800" y="6238280"/>
            <a:ext cx="480964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A6C"/>
                </a:solidFill>
                <a:latin typeface="Inter" pitchFamily="34" charset="0"/>
                <a:ea typeface="Inter" pitchFamily="34" charset="-122"/>
                <a:cs typeface="Inter" pitchFamily="34" charset="-120"/>
              </a:rPr>
              <a:t>Olympia oyster hatchery genetics · Abbott et al., in prep</a:t>
            </a:r>
            <a:endParaRPr lang="en-US" sz="1200" dirty="0"/>
          </a:p>
        </p:txBody>
      </p:sp>
      <p:sp>
        <p:nvSpPr>
          <p:cNvPr id="17" name="Text 14"/>
          <p:cNvSpPr/>
          <p:nvPr/>
        </p:nvSpPr>
        <p:spPr>
          <a:xfrm>
            <a:off x="6580029" y="6238280"/>
            <a:ext cx="4799171"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A6C"/>
                </a:solidFill>
                <a:latin typeface="Inter" pitchFamily="34" charset="0"/>
                <a:ea typeface="Inter" pitchFamily="34" charset="-122"/>
                <a:cs typeface="Inter" pitchFamily="34" charset="-120"/>
              </a:rPr>
              <a:t>PCA and DAPC, 561 individuals; BIC supported K = 3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156"/>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A3561F"/>
                </a:solidFill>
                <a:latin typeface="Inter" pitchFamily="34" charset="0"/>
                <a:ea typeface="Inter" pitchFamily="34" charset="-122"/>
                <a:cs typeface="Inter" pitchFamily="34" charset="-120"/>
              </a:rPr>
              <a:t>RESULT 2 · DIFFERENTIATION</a:t>
            </a:r>
            <a:endParaRPr lang="en-US" sz="1196" dirty="0"/>
          </a:p>
        </p:txBody>
      </p:sp>
      <p:sp>
        <p:nvSpPr>
          <p:cNvPr id="3" name="Text 1"/>
          <p:cNvSpPr>
            <a:spLocks noGrp="1"/>
          </p:cNvSpPr>
          <p:nvPr>
            <p:ph type="title"/>
          </p:nvPr>
        </p:nvSpPr>
        <p:spPr>
          <a:xfrm>
            <a:off x="812800" y="1123156"/>
            <a:ext cx="10883392" cy="1009650"/>
          </a:xfrm>
          <a:prstGeom prst="rect">
            <a:avLst/>
          </a:prstGeom>
          <a:noFill/>
          <a:ln/>
        </p:spPr>
        <p:txBody>
          <a:bodyPr wrap="square" lIns="0" tIns="0" rIns="0" bIns="0" rtlCol="0" anchor="t">
            <a:normAutofit/>
          </a:bodyPr>
          <a:lstStyle/>
          <a:p>
            <a:pPr marL="0" indent="0" algn="l">
              <a:lnSpc>
                <a:spcPts val="3886"/>
              </a:lnSpc>
              <a:buNone/>
            </a:pPr>
            <a:r>
              <a:rPr lang="en-US" sz="3532" b="0" i="0" dirty="0">
                <a:solidFill>
                  <a:srgbClr val="14262B"/>
                </a:solidFill>
                <a:latin typeface="Source Serif 4" pitchFamily="18" charset="0"/>
                <a:ea typeface="Source Serif 4" pitchFamily="18" charset="-122"/>
                <a:cs typeface="Source Serif 4" pitchFamily="18" charset="-120"/>
              </a:rPr>
              <a:t>Each hatchery group is closest to its own wild source</a:t>
            </a:r>
            <a:endParaRPr lang="en-US" sz="3532" dirty="0"/>
          </a:p>
        </p:txBody>
      </p:sp>
      <p:sp>
        <p:nvSpPr>
          <p:cNvPr id="4" name="Shape 2"/>
          <p:cNvSpPr/>
          <p:nvPr/>
        </p:nvSpPr>
        <p:spPr>
          <a:xfrm>
            <a:off x="812800" y="2412206"/>
            <a:ext cx="4699000" cy="3498850"/>
          </a:xfrm>
          <a:prstGeom prst="roundRect">
            <a:avLst>
              <a:gd name="adj" fmla="val 2178"/>
            </a:avLst>
          </a:prstGeom>
          <a:solidFill>
            <a:srgbClr val="FFFFFF"/>
          </a:solidFill>
          <a:ln/>
        </p:spPr>
        <p:txBody>
          <a:bodyPr/>
          <a:lstStyle/>
          <a:p>
            <a:endParaRPr lang="en-US"/>
          </a:p>
        </p:txBody>
      </p:sp>
      <p:pic>
        <p:nvPicPr>
          <p:cNvPr id="5" name="Image 0" descr="Pairwise Fst heatmap among the six groups; lowest values on hatchery and wild pairs from the same source"/>
          <p:cNvPicPr>
            <a:picLocks noChangeAspect="1"/>
          </p:cNvPicPr>
          <p:nvPr/>
        </p:nvPicPr>
        <p:blipFill>
          <a:blip r:embed="rId3"/>
          <a:srcRect t="-31" b="-31"/>
          <a:stretch/>
        </p:blipFill>
        <p:spPr>
          <a:xfrm>
            <a:off x="812800" y="2412206"/>
            <a:ext cx="4699000" cy="3498850"/>
          </a:xfrm>
          <a:prstGeom prst="roundRect">
            <a:avLst>
              <a:gd name="adj" fmla="val 2178"/>
            </a:avLst>
          </a:prstGeom>
        </p:spPr>
      </p:pic>
      <p:sp>
        <p:nvSpPr>
          <p:cNvPr id="6" name="Shape 3"/>
          <p:cNvSpPr/>
          <p:nvPr/>
        </p:nvSpPr>
        <p:spPr>
          <a:xfrm>
            <a:off x="5918200" y="2415381"/>
            <a:ext cx="5461000" cy="0"/>
          </a:xfrm>
          <a:prstGeom prst="line">
            <a:avLst/>
          </a:prstGeom>
          <a:noFill/>
          <a:ln w="6350">
            <a:solidFill>
              <a:srgbClr val="C9C2B2"/>
            </a:solidFill>
            <a:prstDash val="solid"/>
          </a:ln>
        </p:spPr>
        <p:txBody>
          <a:bodyPr/>
          <a:lstStyle/>
          <a:p>
            <a:endParaRPr lang="en-US"/>
          </a:p>
        </p:txBody>
      </p:sp>
      <p:sp>
        <p:nvSpPr>
          <p:cNvPr id="7" name="Text 4"/>
          <p:cNvSpPr/>
          <p:nvPr/>
        </p:nvSpPr>
        <p:spPr>
          <a:xfrm>
            <a:off x="5918200" y="2545556"/>
            <a:ext cx="5624830"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A3561F"/>
                </a:solidFill>
                <a:latin typeface="Source Serif 4" pitchFamily="18" charset="0"/>
                <a:ea typeface="Source Serif 4" pitchFamily="18" charset="-122"/>
                <a:cs typeface="Source Serif 4" pitchFamily="18" charset="-120"/>
              </a:rPr>
              <a:t>0.0009 to 0.0028</a:t>
            </a:r>
            <a:endParaRPr lang="en-US" sz="3600" dirty="0"/>
          </a:p>
        </p:txBody>
      </p:sp>
      <p:sp>
        <p:nvSpPr>
          <p:cNvPr id="8" name="Text 5"/>
          <p:cNvSpPr/>
          <p:nvPr/>
        </p:nvSpPr>
        <p:spPr>
          <a:xfrm>
            <a:off x="5918200" y="3073846"/>
            <a:ext cx="56248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Each hatchery group vs its own wild source: the three lowest values</a:t>
            </a:r>
            <a:endParaRPr lang="en-US" sz="1200" dirty="0"/>
          </a:p>
        </p:txBody>
      </p:sp>
      <p:sp>
        <p:nvSpPr>
          <p:cNvPr id="9" name="Shape 6"/>
          <p:cNvSpPr/>
          <p:nvPr/>
        </p:nvSpPr>
        <p:spPr>
          <a:xfrm>
            <a:off x="5918200" y="3468142"/>
            <a:ext cx="5461000" cy="0"/>
          </a:xfrm>
          <a:prstGeom prst="line">
            <a:avLst/>
          </a:prstGeom>
          <a:noFill/>
          <a:ln w="6350">
            <a:solidFill>
              <a:srgbClr val="C9C2B2"/>
            </a:solidFill>
            <a:prstDash val="solid"/>
          </a:ln>
        </p:spPr>
        <p:txBody>
          <a:bodyPr/>
          <a:lstStyle/>
          <a:p>
            <a:endParaRPr lang="en-US"/>
          </a:p>
        </p:txBody>
      </p:sp>
      <p:sp>
        <p:nvSpPr>
          <p:cNvPr id="10" name="Text 7"/>
          <p:cNvSpPr/>
          <p:nvPr/>
        </p:nvSpPr>
        <p:spPr>
          <a:xfrm>
            <a:off x="5918200" y="3598317"/>
            <a:ext cx="5624830"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3D4B4E"/>
                </a:solidFill>
                <a:latin typeface="Source Serif 4" pitchFamily="18" charset="0"/>
                <a:ea typeface="Source Serif 4" pitchFamily="18" charset="-122"/>
                <a:cs typeface="Source Serif 4" pitchFamily="18" charset="-120"/>
              </a:rPr>
              <a:t>~0.01</a:t>
            </a:r>
            <a:endParaRPr lang="en-US" sz="3600" dirty="0"/>
          </a:p>
        </p:txBody>
      </p:sp>
      <p:sp>
        <p:nvSpPr>
          <p:cNvPr id="11" name="Text 8"/>
          <p:cNvSpPr/>
          <p:nvPr/>
        </p:nvSpPr>
        <p:spPr>
          <a:xfrm>
            <a:off x="5918200" y="4126607"/>
            <a:ext cx="56248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Central vs South, regardless of rearing</a:t>
            </a:r>
            <a:endParaRPr lang="en-US" sz="1200" dirty="0"/>
          </a:p>
        </p:txBody>
      </p:sp>
      <p:sp>
        <p:nvSpPr>
          <p:cNvPr id="12" name="Shape 9"/>
          <p:cNvSpPr/>
          <p:nvPr/>
        </p:nvSpPr>
        <p:spPr>
          <a:xfrm>
            <a:off x="5918200" y="4520902"/>
            <a:ext cx="5461000" cy="0"/>
          </a:xfrm>
          <a:prstGeom prst="line">
            <a:avLst/>
          </a:prstGeom>
          <a:noFill/>
          <a:ln w="6350">
            <a:solidFill>
              <a:srgbClr val="C9C2B2"/>
            </a:solidFill>
            <a:prstDash val="solid"/>
          </a:ln>
        </p:spPr>
        <p:txBody>
          <a:bodyPr/>
          <a:lstStyle/>
          <a:p>
            <a:endParaRPr lang="en-US"/>
          </a:p>
        </p:txBody>
      </p:sp>
      <p:sp>
        <p:nvSpPr>
          <p:cNvPr id="13" name="Text 10"/>
          <p:cNvSpPr/>
          <p:nvPr/>
        </p:nvSpPr>
        <p:spPr>
          <a:xfrm>
            <a:off x="5918200" y="4651077"/>
            <a:ext cx="5624830"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2F5F8A"/>
                </a:solidFill>
                <a:latin typeface="Source Serif 4" pitchFamily="18" charset="0"/>
                <a:ea typeface="Source Serif 4" pitchFamily="18" charset="-122"/>
                <a:cs typeface="Source Serif 4" pitchFamily="18" charset="-120"/>
              </a:rPr>
              <a:t>0.0158 to 0.0201</a:t>
            </a:r>
            <a:endParaRPr lang="en-US" sz="3600" dirty="0"/>
          </a:p>
        </p:txBody>
      </p:sp>
      <p:sp>
        <p:nvSpPr>
          <p:cNvPr id="14" name="Text 11"/>
          <p:cNvSpPr/>
          <p:nvPr/>
        </p:nvSpPr>
        <p:spPr>
          <a:xfrm>
            <a:off x="5918200" y="5179368"/>
            <a:ext cx="56248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North vs the other sources</a:t>
            </a:r>
            <a:endParaRPr lang="en-US" sz="1200" dirty="0"/>
          </a:p>
        </p:txBody>
      </p:sp>
      <p:sp>
        <p:nvSpPr>
          <p:cNvPr id="15" name="Text 12"/>
          <p:cNvSpPr/>
          <p:nvPr/>
        </p:nvSpPr>
        <p:spPr>
          <a:xfrm>
            <a:off x="812800" y="6238280"/>
            <a:ext cx="480964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A6C"/>
                </a:solidFill>
                <a:latin typeface="Inter" pitchFamily="34" charset="0"/>
                <a:ea typeface="Inter" pitchFamily="34" charset="-122"/>
                <a:cs typeface="Inter" pitchFamily="34" charset="-120"/>
              </a:rPr>
              <a:t>Olympia oyster hatchery genetics · Abbott et al., in prep</a:t>
            </a:r>
            <a:endParaRPr lang="en-US" sz="1200" dirty="0"/>
          </a:p>
        </p:txBody>
      </p:sp>
      <p:sp>
        <p:nvSpPr>
          <p:cNvPr id="16" name="Text 13"/>
          <p:cNvSpPr/>
          <p:nvPr/>
        </p:nvSpPr>
        <p:spPr>
          <a:xfrm>
            <a:off x="7863582" y="6238280"/>
            <a:ext cx="3515618"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A6C"/>
                </a:solidFill>
                <a:latin typeface="Inter" pitchFamily="34" charset="0"/>
                <a:ea typeface="Inter" pitchFamily="34" charset="-122"/>
                <a:cs typeface="Inter" pitchFamily="34" charset="-120"/>
              </a:rPr>
              <a:t>StAMPP, 100 bootstraps; all p &lt; 2e-16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a:extLst>
            <a:ext uri="{FF2B5EF4-FFF2-40B4-BE49-F238E27FC236}">
              <a16:creationId xmlns:a16="http://schemas.microsoft.com/office/drawing/2014/main" id="{58DC65E6-53D8-5DCA-1C0D-3AAC68ED309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D1905A1-FC03-B8C3-AA7F-C39222955D09}"/>
              </a:ext>
            </a:extLst>
          </p:cNvPr>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561F"/>
                </a:solidFill>
                <a:latin typeface="Inter" pitchFamily="34" charset="0"/>
                <a:ea typeface="Inter" pitchFamily="34" charset="-122"/>
                <a:cs typeface="Inter" pitchFamily="34" charset="-120"/>
              </a:rPr>
              <a:t>RESULT 3 · GENETIC DIVERSITY</a:t>
            </a:r>
            <a:endParaRPr lang="en-US" sz="1200" dirty="0"/>
          </a:p>
        </p:txBody>
      </p:sp>
      <p:sp>
        <p:nvSpPr>
          <p:cNvPr id="3" name="Text 1">
            <a:extLst>
              <a:ext uri="{FF2B5EF4-FFF2-40B4-BE49-F238E27FC236}">
                <a16:creationId xmlns:a16="http://schemas.microsoft.com/office/drawing/2014/main" id="{F169B888-51B1-E094-24E7-59F688BB71F8}"/>
              </a:ext>
            </a:extLst>
          </p:cNvPr>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4262B"/>
                </a:solidFill>
                <a:latin typeface="Source Serif 4" pitchFamily="18" charset="0"/>
                <a:ea typeface="Source Serif 4" pitchFamily="18" charset="-122"/>
                <a:cs typeface="Source Serif 4" pitchFamily="18" charset="-120"/>
              </a:rPr>
              <a:t>No loss of heterozygosity, no rise in inbreeding</a:t>
            </a:r>
            <a:endParaRPr lang="en-US" sz="3600" dirty="0"/>
          </a:p>
        </p:txBody>
      </p:sp>
      <p:pic>
        <p:nvPicPr>
          <p:cNvPr id="5" name="Image 0" descr="Boxplots of individual heterozygosity and Fis by group; no hatchery vs wild differences within sources">
            <a:extLst>
              <a:ext uri="{FF2B5EF4-FFF2-40B4-BE49-F238E27FC236}">
                <a16:creationId xmlns:a16="http://schemas.microsoft.com/office/drawing/2014/main" id="{8643490F-9CFC-C26E-55B7-A267EAF79415}"/>
              </a:ext>
            </a:extLst>
          </p:cNvPr>
          <p:cNvPicPr>
            <a:picLocks noChangeAspect="1"/>
          </p:cNvPicPr>
          <p:nvPr/>
        </p:nvPicPr>
        <p:blipFill>
          <a:blip r:embed="rId3"/>
          <a:srcRect l="-48" r="52897" b="48254"/>
          <a:stretch>
            <a:fillRect/>
          </a:stretch>
        </p:blipFill>
        <p:spPr>
          <a:xfrm>
            <a:off x="1032328" y="1882932"/>
            <a:ext cx="4270829" cy="3590812"/>
          </a:xfrm>
          <a:prstGeom prst="roundRect">
            <a:avLst>
              <a:gd name="adj" fmla="val 2010"/>
            </a:avLst>
          </a:prstGeom>
        </p:spPr>
      </p:pic>
      <p:sp>
        <p:nvSpPr>
          <p:cNvPr id="6" name="Text 3">
            <a:extLst>
              <a:ext uri="{FF2B5EF4-FFF2-40B4-BE49-F238E27FC236}">
                <a16:creationId xmlns:a16="http://schemas.microsoft.com/office/drawing/2014/main" id="{5B523E0A-7798-AC44-AC9F-91D5E147F67E}"/>
              </a:ext>
            </a:extLst>
          </p:cNvPr>
          <p:cNvSpPr/>
          <p:nvPr/>
        </p:nvSpPr>
        <p:spPr>
          <a:xfrm>
            <a:off x="6172200" y="1935411"/>
            <a:ext cx="536321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62B"/>
                </a:solidFill>
                <a:latin typeface="Inter" pitchFamily="34" charset="0"/>
                <a:ea typeface="Inter" pitchFamily="34" charset="-122"/>
                <a:cs typeface="Inter" pitchFamily="34" charset="-120"/>
              </a:rPr>
              <a:t>Heterozygosity (Ho)</a:t>
            </a:r>
            <a:endParaRPr lang="en-US" sz="1600" dirty="0"/>
          </a:p>
        </p:txBody>
      </p:sp>
      <p:sp>
        <p:nvSpPr>
          <p:cNvPr id="7" name="Text 4">
            <a:extLst>
              <a:ext uri="{FF2B5EF4-FFF2-40B4-BE49-F238E27FC236}">
                <a16:creationId xmlns:a16="http://schemas.microsoft.com/office/drawing/2014/main" id="{4FBBAB50-AE73-8887-3708-D662C2E21272}"/>
              </a:ext>
            </a:extLst>
          </p:cNvPr>
          <p:cNvSpPr/>
          <p:nvPr/>
        </p:nvSpPr>
        <p:spPr>
          <a:xfrm>
            <a:off x="6172200" y="2255441"/>
            <a:ext cx="142036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Wild</a:t>
            </a:r>
            <a:endParaRPr lang="en-US" sz="1200" dirty="0"/>
          </a:p>
        </p:txBody>
      </p:sp>
      <p:sp>
        <p:nvSpPr>
          <p:cNvPr id="8" name="Text 5">
            <a:extLst>
              <a:ext uri="{FF2B5EF4-FFF2-40B4-BE49-F238E27FC236}">
                <a16:creationId xmlns:a16="http://schemas.microsoft.com/office/drawing/2014/main" id="{7B4DA2DC-0740-6679-14B5-649107D51121}"/>
              </a:ext>
            </a:extLst>
          </p:cNvPr>
          <p:cNvSpPr/>
          <p:nvPr/>
        </p:nvSpPr>
        <p:spPr>
          <a:xfrm>
            <a:off x="6172200" y="2494161"/>
            <a:ext cx="1643479"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2F5F8A"/>
                </a:solidFill>
                <a:latin typeface="Source Serif 4" pitchFamily="18" charset="0"/>
                <a:ea typeface="Source Serif 4" pitchFamily="18" charset="-122"/>
                <a:cs typeface="Source Serif 4" pitchFamily="18" charset="-120"/>
              </a:rPr>
              <a:t>0.2514</a:t>
            </a:r>
            <a:endParaRPr lang="en-US" sz="3600" dirty="0"/>
          </a:p>
        </p:txBody>
      </p:sp>
      <p:sp>
        <p:nvSpPr>
          <p:cNvPr id="9" name="Text 6">
            <a:extLst>
              <a:ext uri="{FF2B5EF4-FFF2-40B4-BE49-F238E27FC236}">
                <a16:creationId xmlns:a16="http://schemas.microsoft.com/office/drawing/2014/main" id="{26AD597F-4852-204E-3366-531B52682FE8}"/>
              </a:ext>
            </a:extLst>
          </p:cNvPr>
          <p:cNvSpPr/>
          <p:nvPr/>
        </p:nvSpPr>
        <p:spPr>
          <a:xfrm>
            <a:off x="7846566" y="2255441"/>
            <a:ext cx="142036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Hatchery</a:t>
            </a:r>
            <a:endParaRPr lang="en-US" sz="1200" dirty="0"/>
          </a:p>
        </p:txBody>
      </p:sp>
      <p:sp>
        <p:nvSpPr>
          <p:cNvPr id="10" name="Text 7">
            <a:extLst>
              <a:ext uri="{FF2B5EF4-FFF2-40B4-BE49-F238E27FC236}">
                <a16:creationId xmlns:a16="http://schemas.microsoft.com/office/drawing/2014/main" id="{9055C475-8517-1D7B-8788-ABF079C4E481}"/>
              </a:ext>
            </a:extLst>
          </p:cNvPr>
          <p:cNvSpPr/>
          <p:nvPr/>
        </p:nvSpPr>
        <p:spPr>
          <a:xfrm>
            <a:off x="7846566" y="2494161"/>
            <a:ext cx="1643479"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A3561F"/>
                </a:solidFill>
                <a:latin typeface="Source Serif 4" pitchFamily="18" charset="0"/>
                <a:ea typeface="Source Serif 4" pitchFamily="18" charset="-122"/>
                <a:cs typeface="Source Serif 4" pitchFamily="18" charset="-120"/>
              </a:rPr>
              <a:t>0.2509</a:t>
            </a:r>
            <a:endParaRPr lang="en-US" sz="3600" dirty="0"/>
          </a:p>
        </p:txBody>
      </p:sp>
      <p:sp>
        <p:nvSpPr>
          <p:cNvPr id="11" name="Text 8">
            <a:extLst>
              <a:ext uri="{FF2B5EF4-FFF2-40B4-BE49-F238E27FC236}">
                <a16:creationId xmlns:a16="http://schemas.microsoft.com/office/drawing/2014/main" id="{B52C516E-9F23-B032-2A04-9DBB02C6511B}"/>
              </a:ext>
            </a:extLst>
          </p:cNvPr>
          <p:cNvSpPr/>
          <p:nvPr/>
        </p:nvSpPr>
        <p:spPr>
          <a:xfrm>
            <a:off x="6172200" y="3200251"/>
            <a:ext cx="536321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62B"/>
                </a:solidFill>
                <a:latin typeface="Inter" pitchFamily="34" charset="0"/>
                <a:ea typeface="Inter" pitchFamily="34" charset="-122"/>
                <a:cs typeface="Inter" pitchFamily="34" charset="-120"/>
              </a:rPr>
              <a:t>Inbreeding (Fis)</a:t>
            </a:r>
            <a:endParaRPr lang="en-US" sz="1600" dirty="0"/>
          </a:p>
        </p:txBody>
      </p:sp>
      <p:sp>
        <p:nvSpPr>
          <p:cNvPr id="12" name="Text 9">
            <a:extLst>
              <a:ext uri="{FF2B5EF4-FFF2-40B4-BE49-F238E27FC236}">
                <a16:creationId xmlns:a16="http://schemas.microsoft.com/office/drawing/2014/main" id="{F761BBBC-0906-243B-7D88-3410E601F7B4}"/>
              </a:ext>
            </a:extLst>
          </p:cNvPr>
          <p:cNvSpPr/>
          <p:nvPr/>
        </p:nvSpPr>
        <p:spPr>
          <a:xfrm>
            <a:off x="6172200" y="3520281"/>
            <a:ext cx="142036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Wild</a:t>
            </a:r>
            <a:endParaRPr lang="en-US" sz="1200" dirty="0"/>
          </a:p>
        </p:txBody>
      </p:sp>
      <p:sp>
        <p:nvSpPr>
          <p:cNvPr id="13" name="Text 10">
            <a:extLst>
              <a:ext uri="{FF2B5EF4-FFF2-40B4-BE49-F238E27FC236}">
                <a16:creationId xmlns:a16="http://schemas.microsoft.com/office/drawing/2014/main" id="{6E13F6E4-760A-969E-6195-6C35D447B322}"/>
              </a:ext>
            </a:extLst>
          </p:cNvPr>
          <p:cNvSpPr/>
          <p:nvPr/>
        </p:nvSpPr>
        <p:spPr>
          <a:xfrm>
            <a:off x="6172200" y="3759002"/>
            <a:ext cx="1643479"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2F5F8A"/>
                </a:solidFill>
                <a:latin typeface="Source Serif 4" pitchFamily="18" charset="0"/>
                <a:ea typeface="Source Serif 4" pitchFamily="18" charset="-122"/>
                <a:cs typeface="Source Serif 4" pitchFamily="18" charset="-120"/>
              </a:rPr>
              <a:t>0.2361</a:t>
            </a:r>
            <a:endParaRPr lang="en-US" sz="3600" dirty="0"/>
          </a:p>
        </p:txBody>
      </p:sp>
      <p:sp>
        <p:nvSpPr>
          <p:cNvPr id="14" name="Text 11">
            <a:extLst>
              <a:ext uri="{FF2B5EF4-FFF2-40B4-BE49-F238E27FC236}">
                <a16:creationId xmlns:a16="http://schemas.microsoft.com/office/drawing/2014/main" id="{D028307F-BCB3-CCFC-9995-276FAA4684EE}"/>
              </a:ext>
            </a:extLst>
          </p:cNvPr>
          <p:cNvSpPr/>
          <p:nvPr/>
        </p:nvSpPr>
        <p:spPr>
          <a:xfrm>
            <a:off x="7846566" y="3520281"/>
            <a:ext cx="142036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Hatchery</a:t>
            </a:r>
            <a:endParaRPr lang="en-US" sz="1200" dirty="0"/>
          </a:p>
        </p:txBody>
      </p:sp>
      <p:sp>
        <p:nvSpPr>
          <p:cNvPr id="15" name="Text 12">
            <a:extLst>
              <a:ext uri="{FF2B5EF4-FFF2-40B4-BE49-F238E27FC236}">
                <a16:creationId xmlns:a16="http://schemas.microsoft.com/office/drawing/2014/main" id="{86CDC7D5-0E58-2572-E2D1-C3F4C2B89A13}"/>
              </a:ext>
            </a:extLst>
          </p:cNvPr>
          <p:cNvSpPr/>
          <p:nvPr/>
        </p:nvSpPr>
        <p:spPr>
          <a:xfrm>
            <a:off x="7846566" y="3759002"/>
            <a:ext cx="1643479"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A3561F"/>
                </a:solidFill>
                <a:latin typeface="Source Serif 4" pitchFamily="18" charset="0"/>
                <a:ea typeface="Source Serif 4" pitchFamily="18" charset="-122"/>
                <a:cs typeface="Source Serif 4" pitchFamily="18" charset="-120"/>
              </a:rPr>
              <a:t>0.2365</a:t>
            </a:r>
            <a:endParaRPr lang="en-US" sz="3600" dirty="0"/>
          </a:p>
        </p:txBody>
      </p:sp>
      <p:sp>
        <p:nvSpPr>
          <p:cNvPr id="16" name="Text 13">
            <a:extLst>
              <a:ext uri="{FF2B5EF4-FFF2-40B4-BE49-F238E27FC236}">
                <a16:creationId xmlns:a16="http://schemas.microsoft.com/office/drawing/2014/main" id="{6D78D5AE-EBA8-D99E-7CC8-A749F47505A2}"/>
              </a:ext>
            </a:extLst>
          </p:cNvPr>
          <p:cNvSpPr/>
          <p:nvPr/>
        </p:nvSpPr>
        <p:spPr>
          <a:xfrm>
            <a:off x="6172200" y="4465092"/>
            <a:ext cx="536321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Neither difference significant (panels a, d). North is highest in Ho and lowest in Fis in both wild and hatchery groups (b, c, e, f).</a:t>
            </a:r>
            <a:endParaRPr lang="en-US" sz="1200" dirty="0"/>
          </a:p>
        </p:txBody>
      </p:sp>
      <p:sp>
        <p:nvSpPr>
          <p:cNvPr id="17" name="Text 14">
            <a:extLst>
              <a:ext uri="{FF2B5EF4-FFF2-40B4-BE49-F238E27FC236}">
                <a16:creationId xmlns:a16="http://schemas.microsoft.com/office/drawing/2014/main" id="{25B08E0C-D755-6591-F8C2-15E424258614}"/>
              </a:ext>
            </a:extLst>
          </p:cNvPr>
          <p:cNvSpPr/>
          <p:nvPr/>
        </p:nvSpPr>
        <p:spPr>
          <a:xfrm>
            <a:off x="812800" y="6238280"/>
            <a:ext cx="480964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A6C"/>
                </a:solidFill>
                <a:latin typeface="Inter" pitchFamily="34" charset="0"/>
                <a:ea typeface="Inter" pitchFamily="34" charset="-122"/>
                <a:cs typeface="Inter" pitchFamily="34" charset="-120"/>
              </a:rPr>
              <a:t>Olympia oyster hatchery genetics · Abbott et al., in prep</a:t>
            </a:r>
            <a:endParaRPr lang="en-US" sz="1200" dirty="0"/>
          </a:p>
        </p:txBody>
      </p:sp>
      <p:sp>
        <p:nvSpPr>
          <p:cNvPr id="18" name="Text 15">
            <a:extLst>
              <a:ext uri="{FF2B5EF4-FFF2-40B4-BE49-F238E27FC236}">
                <a16:creationId xmlns:a16="http://schemas.microsoft.com/office/drawing/2014/main" id="{5A44E026-EB9B-B4C0-1CF6-824F4CC3C092}"/>
              </a:ext>
            </a:extLst>
          </p:cNvPr>
          <p:cNvSpPr/>
          <p:nvPr/>
        </p:nvSpPr>
        <p:spPr>
          <a:xfrm>
            <a:off x="11234093" y="6238280"/>
            <a:ext cx="14510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A6C"/>
                </a:solidFill>
                <a:latin typeface="Inter" pitchFamily="34" charset="0"/>
                <a:ea typeface="Inter" pitchFamily="34" charset="-122"/>
                <a:cs typeface="Inter" pitchFamily="34" charset="-120"/>
              </a:rPr>
              <a:t>8</a:t>
            </a:r>
            <a:endParaRPr lang="en-US" sz="1200" dirty="0"/>
          </a:p>
        </p:txBody>
      </p:sp>
      <p:pic>
        <p:nvPicPr>
          <p:cNvPr id="19" name="Image 0" descr="Boxplots of individual heterozygosity and Fis by group; no hatchery vs wild differences within sources">
            <a:extLst>
              <a:ext uri="{FF2B5EF4-FFF2-40B4-BE49-F238E27FC236}">
                <a16:creationId xmlns:a16="http://schemas.microsoft.com/office/drawing/2014/main" id="{93F94C24-5973-9E3F-B23F-D9CE5D8A65C5}"/>
              </a:ext>
            </a:extLst>
          </p:cNvPr>
          <p:cNvPicPr>
            <a:picLocks noChangeAspect="1"/>
          </p:cNvPicPr>
          <p:nvPr/>
        </p:nvPicPr>
        <p:blipFill>
          <a:blip r:embed="rId3"/>
          <a:srcRect l="3193" t="95528" r="55494" b="-580"/>
          <a:stretch>
            <a:fillRect/>
          </a:stretch>
        </p:blipFill>
        <p:spPr>
          <a:xfrm>
            <a:off x="1251857" y="5094514"/>
            <a:ext cx="3886202" cy="379230"/>
          </a:xfrm>
          <a:prstGeom prst="roundRect">
            <a:avLst>
              <a:gd name="adj" fmla="val 2010"/>
            </a:avLst>
          </a:prstGeom>
        </p:spPr>
      </p:pic>
    </p:spTree>
    <p:extLst>
      <p:ext uri="{BB962C8B-B14F-4D97-AF65-F5344CB8AC3E}">
        <p14:creationId xmlns:p14="http://schemas.microsoft.com/office/powerpoint/2010/main" val="648473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561F"/>
                </a:solidFill>
                <a:latin typeface="Inter" pitchFamily="34" charset="0"/>
                <a:ea typeface="Inter" pitchFamily="34" charset="-122"/>
                <a:cs typeface="Inter" pitchFamily="34" charset="-120"/>
              </a:rPr>
              <a:t>RESULT 4 · EFFECTIVE POPULATION SIZE</a:t>
            </a:r>
            <a:endParaRPr lang="en-US" sz="1200" dirty="0"/>
          </a:p>
        </p:txBody>
      </p:sp>
      <p:sp>
        <p:nvSpPr>
          <p:cNvPr id="3" name="Text 1"/>
          <p:cNvSpPr>
            <a:spLocks noGrp="1"/>
          </p:cNvSpPr>
          <p:nvPr>
            <p:ph type="title"/>
          </p:nvPr>
        </p:nvSpPr>
        <p:spPr>
          <a:xfrm>
            <a:off x="812800" y="11277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4262B"/>
                </a:solidFill>
                <a:latin typeface="Source Serif 4" pitchFamily="18" charset="0"/>
                <a:ea typeface="Source Serif 4" pitchFamily="18" charset="-122"/>
                <a:cs typeface="Source Serif 4" pitchFamily="18" charset="-120"/>
              </a:rPr>
              <a:t>Hatchery Ne is lower, but well above a family sweep</a:t>
            </a:r>
            <a:endParaRPr lang="en-US" sz="3600" dirty="0"/>
          </a:p>
        </p:txBody>
      </p:sp>
      <p:sp>
        <p:nvSpPr>
          <p:cNvPr id="4" name="Text 2"/>
          <p:cNvSpPr/>
          <p:nvPr/>
        </p:nvSpPr>
        <p:spPr>
          <a:xfrm>
            <a:off x="812800" y="2458641"/>
            <a:ext cx="5080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A2E"/>
                </a:solidFill>
                <a:latin typeface="Inter" pitchFamily="34" charset="0"/>
                <a:ea typeface="Inter" pitchFamily="34" charset="-122"/>
                <a:cs typeface="Inter" pitchFamily="34" charset="-120"/>
              </a:rPr>
              <a:t>NW</a:t>
            </a:r>
            <a:endParaRPr lang="en-US" sz="1200" dirty="0"/>
          </a:p>
        </p:txBody>
      </p:sp>
      <p:sp>
        <p:nvSpPr>
          <p:cNvPr id="5" name="Shape 3"/>
          <p:cNvSpPr/>
          <p:nvPr/>
        </p:nvSpPr>
        <p:spPr>
          <a:xfrm>
            <a:off x="1397000" y="2438301"/>
            <a:ext cx="2095500" cy="254000"/>
          </a:xfrm>
          <a:prstGeom prst="roundRect">
            <a:avLst>
              <a:gd name="adj" fmla="val 15000"/>
            </a:avLst>
          </a:prstGeom>
          <a:solidFill>
            <a:srgbClr val="2F5F8A"/>
          </a:solidFill>
          <a:ln/>
        </p:spPr>
        <p:txBody>
          <a:bodyPr/>
          <a:lstStyle/>
          <a:p>
            <a:endParaRPr lang="en-US"/>
          </a:p>
        </p:txBody>
      </p:sp>
      <p:sp>
        <p:nvSpPr>
          <p:cNvPr id="6" name="Text 4"/>
          <p:cNvSpPr/>
          <p:nvPr/>
        </p:nvSpPr>
        <p:spPr>
          <a:xfrm>
            <a:off x="3619500" y="2458641"/>
            <a:ext cx="115097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A2E"/>
                </a:solidFill>
                <a:latin typeface="Inter" pitchFamily="34" charset="0"/>
                <a:ea typeface="Inter" pitchFamily="34" charset="-122"/>
                <a:cs typeface="Inter" pitchFamily="34" charset="-120"/>
              </a:rPr>
              <a:t>1,716 to 1,880</a:t>
            </a:r>
            <a:endParaRPr lang="en-US" sz="1200" dirty="0"/>
          </a:p>
        </p:txBody>
      </p:sp>
      <p:sp>
        <p:nvSpPr>
          <p:cNvPr id="7" name="Text 5"/>
          <p:cNvSpPr/>
          <p:nvPr/>
        </p:nvSpPr>
        <p:spPr>
          <a:xfrm>
            <a:off x="812800" y="2814241"/>
            <a:ext cx="5080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A2E"/>
                </a:solidFill>
                <a:latin typeface="Inter" pitchFamily="34" charset="0"/>
                <a:ea typeface="Inter" pitchFamily="34" charset="-122"/>
                <a:cs typeface="Inter" pitchFamily="34" charset="-120"/>
              </a:rPr>
              <a:t>NH</a:t>
            </a:r>
            <a:endParaRPr lang="en-US" sz="1200" dirty="0"/>
          </a:p>
        </p:txBody>
      </p:sp>
      <p:sp>
        <p:nvSpPr>
          <p:cNvPr id="8" name="Shape 6"/>
          <p:cNvSpPr/>
          <p:nvPr/>
        </p:nvSpPr>
        <p:spPr>
          <a:xfrm>
            <a:off x="1397000" y="2793901"/>
            <a:ext cx="419100" cy="254000"/>
          </a:xfrm>
          <a:prstGeom prst="roundRect">
            <a:avLst>
              <a:gd name="adj" fmla="val 15000"/>
            </a:avLst>
          </a:prstGeom>
          <a:solidFill>
            <a:srgbClr val="A3561F"/>
          </a:solidFill>
          <a:ln/>
        </p:spPr>
        <p:txBody>
          <a:bodyPr/>
          <a:lstStyle/>
          <a:p>
            <a:endParaRPr lang="en-US"/>
          </a:p>
        </p:txBody>
      </p:sp>
      <p:sp>
        <p:nvSpPr>
          <p:cNvPr id="9" name="Text 7"/>
          <p:cNvSpPr/>
          <p:nvPr/>
        </p:nvSpPr>
        <p:spPr>
          <a:xfrm>
            <a:off x="1943100" y="2814241"/>
            <a:ext cx="89487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A2E"/>
                </a:solidFill>
                <a:latin typeface="Inter" pitchFamily="34" charset="0"/>
                <a:ea typeface="Inter" pitchFamily="34" charset="-122"/>
                <a:cs typeface="Inter" pitchFamily="34" charset="-120"/>
              </a:rPr>
              <a:t>331 to 374</a:t>
            </a:r>
            <a:endParaRPr lang="en-US" sz="1200" dirty="0"/>
          </a:p>
        </p:txBody>
      </p:sp>
      <p:sp>
        <p:nvSpPr>
          <p:cNvPr id="10" name="Text 8"/>
          <p:cNvSpPr/>
          <p:nvPr/>
        </p:nvSpPr>
        <p:spPr>
          <a:xfrm>
            <a:off x="812800" y="3169841"/>
            <a:ext cx="5080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A2E"/>
                </a:solidFill>
                <a:latin typeface="Inter" pitchFamily="34" charset="0"/>
                <a:ea typeface="Inter" pitchFamily="34" charset="-122"/>
                <a:cs typeface="Inter" pitchFamily="34" charset="-120"/>
              </a:rPr>
              <a:t>CW</a:t>
            </a:r>
            <a:endParaRPr lang="en-US" sz="1200" dirty="0"/>
          </a:p>
        </p:txBody>
      </p:sp>
      <p:sp>
        <p:nvSpPr>
          <p:cNvPr id="11" name="Shape 9"/>
          <p:cNvSpPr/>
          <p:nvPr/>
        </p:nvSpPr>
        <p:spPr>
          <a:xfrm>
            <a:off x="1397000" y="3149501"/>
            <a:ext cx="3905250" cy="254000"/>
          </a:xfrm>
          <a:prstGeom prst="roundRect">
            <a:avLst>
              <a:gd name="adj" fmla="val 15000"/>
            </a:avLst>
          </a:prstGeom>
          <a:solidFill>
            <a:srgbClr val="2F5F8A"/>
          </a:solidFill>
          <a:ln/>
        </p:spPr>
        <p:txBody>
          <a:bodyPr/>
          <a:lstStyle/>
          <a:p>
            <a:endParaRPr lang="en-US"/>
          </a:p>
        </p:txBody>
      </p:sp>
      <p:sp>
        <p:nvSpPr>
          <p:cNvPr id="12" name="Text 10"/>
          <p:cNvSpPr/>
          <p:nvPr/>
        </p:nvSpPr>
        <p:spPr>
          <a:xfrm>
            <a:off x="5429250" y="3169841"/>
            <a:ext cx="128498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A2E"/>
                </a:solidFill>
                <a:latin typeface="Inter" pitchFamily="34" charset="0"/>
                <a:ea typeface="Inter" pitchFamily="34" charset="-122"/>
                <a:cs typeface="Inter" pitchFamily="34" charset="-120"/>
              </a:rPr>
              <a:t>2,994 to 3,466</a:t>
            </a:r>
            <a:endParaRPr lang="en-US" sz="1200" dirty="0"/>
          </a:p>
        </p:txBody>
      </p:sp>
      <p:sp>
        <p:nvSpPr>
          <p:cNvPr id="13" name="Text 11"/>
          <p:cNvSpPr/>
          <p:nvPr/>
        </p:nvSpPr>
        <p:spPr>
          <a:xfrm>
            <a:off x="812800" y="3525441"/>
            <a:ext cx="5080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A2E"/>
                </a:solidFill>
                <a:latin typeface="Inter" pitchFamily="34" charset="0"/>
                <a:ea typeface="Inter" pitchFamily="34" charset="-122"/>
                <a:cs typeface="Inter" pitchFamily="34" charset="-120"/>
              </a:rPr>
              <a:t>CH</a:t>
            </a:r>
            <a:endParaRPr lang="en-US" sz="1200" dirty="0"/>
          </a:p>
        </p:txBody>
      </p:sp>
      <p:sp>
        <p:nvSpPr>
          <p:cNvPr id="14" name="Shape 12"/>
          <p:cNvSpPr/>
          <p:nvPr/>
        </p:nvSpPr>
        <p:spPr>
          <a:xfrm>
            <a:off x="1397000" y="3505101"/>
            <a:ext cx="596900" cy="254000"/>
          </a:xfrm>
          <a:prstGeom prst="roundRect">
            <a:avLst>
              <a:gd name="adj" fmla="val 15000"/>
            </a:avLst>
          </a:prstGeom>
          <a:solidFill>
            <a:srgbClr val="A3561F"/>
          </a:solidFill>
          <a:ln/>
        </p:spPr>
        <p:txBody>
          <a:bodyPr/>
          <a:lstStyle/>
          <a:p>
            <a:endParaRPr lang="en-US"/>
          </a:p>
        </p:txBody>
      </p:sp>
      <p:sp>
        <p:nvSpPr>
          <p:cNvPr id="15" name="Text 13"/>
          <p:cNvSpPr/>
          <p:nvPr/>
        </p:nvSpPr>
        <p:spPr>
          <a:xfrm>
            <a:off x="2120900" y="3525441"/>
            <a:ext cx="90618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A2E"/>
                </a:solidFill>
                <a:latin typeface="Inter" pitchFamily="34" charset="0"/>
                <a:ea typeface="Inter" pitchFamily="34" charset="-122"/>
                <a:cs typeface="Inter" pitchFamily="34" charset="-120"/>
              </a:rPr>
              <a:t>485 to 531</a:t>
            </a:r>
            <a:endParaRPr lang="en-US" sz="1200" dirty="0"/>
          </a:p>
        </p:txBody>
      </p:sp>
      <p:sp>
        <p:nvSpPr>
          <p:cNvPr id="16" name="Text 14"/>
          <p:cNvSpPr/>
          <p:nvPr/>
        </p:nvSpPr>
        <p:spPr>
          <a:xfrm>
            <a:off x="812800" y="3967361"/>
            <a:ext cx="5080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A2E"/>
                </a:solidFill>
                <a:latin typeface="Inter" pitchFamily="34" charset="0"/>
                <a:ea typeface="Inter" pitchFamily="34" charset="-122"/>
                <a:cs typeface="Inter" pitchFamily="34" charset="-120"/>
              </a:rPr>
              <a:t>SW</a:t>
            </a:r>
            <a:endParaRPr lang="en-US" sz="1200" dirty="0"/>
          </a:p>
        </p:txBody>
      </p:sp>
      <p:sp>
        <p:nvSpPr>
          <p:cNvPr id="17" name="Shape 15"/>
          <p:cNvSpPr/>
          <p:nvPr/>
        </p:nvSpPr>
        <p:spPr>
          <a:xfrm>
            <a:off x="1397000" y="3947021"/>
            <a:ext cx="4572000" cy="254000"/>
          </a:xfrm>
          <a:prstGeom prst="roundRect">
            <a:avLst>
              <a:gd name="adj" fmla="val 15000"/>
            </a:avLst>
          </a:prstGeom>
          <a:solidFill>
            <a:srgbClr val="2F5F8A"/>
          </a:solidFill>
          <a:ln/>
        </p:spPr>
        <p:txBody>
          <a:bodyPr/>
          <a:lstStyle/>
          <a:p>
            <a:endParaRPr lang="en-US"/>
          </a:p>
        </p:txBody>
      </p:sp>
      <p:sp>
        <p:nvSpPr>
          <p:cNvPr id="18" name="Text 16"/>
          <p:cNvSpPr/>
          <p:nvPr/>
        </p:nvSpPr>
        <p:spPr>
          <a:xfrm>
            <a:off x="6096000" y="3860701"/>
            <a:ext cx="8636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A2E"/>
                </a:solidFill>
                <a:latin typeface="Inter" pitchFamily="34" charset="0"/>
                <a:ea typeface="Inter" pitchFamily="34" charset="-122"/>
                <a:cs typeface="Inter" pitchFamily="34" charset="-120"/>
              </a:rPr>
              <a:t>3,338 to 4,054</a:t>
            </a:r>
            <a:endParaRPr lang="en-US" sz="1200" dirty="0"/>
          </a:p>
        </p:txBody>
      </p:sp>
      <p:sp>
        <p:nvSpPr>
          <p:cNvPr id="19" name="Text 17"/>
          <p:cNvSpPr/>
          <p:nvPr/>
        </p:nvSpPr>
        <p:spPr>
          <a:xfrm>
            <a:off x="812800" y="4409281"/>
            <a:ext cx="5080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A2E"/>
                </a:solidFill>
                <a:latin typeface="Inter" pitchFamily="34" charset="0"/>
                <a:ea typeface="Inter" pitchFamily="34" charset="-122"/>
                <a:cs typeface="Inter" pitchFamily="34" charset="-120"/>
              </a:rPr>
              <a:t>SH</a:t>
            </a:r>
            <a:endParaRPr lang="en-US" sz="1200" dirty="0"/>
          </a:p>
        </p:txBody>
      </p:sp>
      <p:sp>
        <p:nvSpPr>
          <p:cNvPr id="20" name="Shape 18"/>
          <p:cNvSpPr/>
          <p:nvPr/>
        </p:nvSpPr>
        <p:spPr>
          <a:xfrm>
            <a:off x="1397000" y="4388941"/>
            <a:ext cx="374650" cy="254000"/>
          </a:xfrm>
          <a:prstGeom prst="roundRect">
            <a:avLst>
              <a:gd name="adj" fmla="val 15000"/>
            </a:avLst>
          </a:prstGeom>
          <a:solidFill>
            <a:srgbClr val="A3561F"/>
          </a:solidFill>
          <a:ln/>
        </p:spPr>
        <p:txBody>
          <a:bodyPr/>
          <a:lstStyle/>
          <a:p>
            <a:endParaRPr lang="en-US"/>
          </a:p>
        </p:txBody>
      </p:sp>
      <p:sp>
        <p:nvSpPr>
          <p:cNvPr id="21" name="Text 19"/>
          <p:cNvSpPr/>
          <p:nvPr/>
        </p:nvSpPr>
        <p:spPr>
          <a:xfrm>
            <a:off x="1898650" y="4409281"/>
            <a:ext cx="94755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A2E"/>
                </a:solidFill>
                <a:latin typeface="Inter" pitchFamily="34" charset="0"/>
                <a:ea typeface="Inter" pitchFamily="34" charset="-122"/>
                <a:cs typeface="Inter" pitchFamily="34" charset="-120"/>
              </a:rPr>
              <a:t>298 to 333</a:t>
            </a:r>
            <a:endParaRPr lang="en-US" sz="1200" dirty="0"/>
          </a:p>
        </p:txBody>
      </p:sp>
      <p:sp>
        <p:nvSpPr>
          <p:cNvPr id="22" name="Text 20"/>
          <p:cNvSpPr/>
          <p:nvPr/>
        </p:nvSpPr>
        <p:spPr>
          <a:xfrm>
            <a:off x="812800" y="4744541"/>
            <a:ext cx="62788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LD Ne, NeEstimator v2.1 (Pcrit 0.05 to 0.01). Blue = wild, orange = hatchery.</a:t>
            </a:r>
            <a:endParaRPr lang="en-US" sz="1200" dirty="0"/>
          </a:p>
        </p:txBody>
      </p:sp>
      <p:sp>
        <p:nvSpPr>
          <p:cNvPr id="23" name="Text 21"/>
          <p:cNvSpPr/>
          <p:nvPr/>
        </p:nvSpPr>
        <p:spPr>
          <a:xfrm>
            <a:off x="7315200" y="2438301"/>
            <a:ext cx="4185920"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A2E"/>
                </a:solidFill>
                <a:latin typeface="Inter" pitchFamily="34" charset="0"/>
                <a:ea typeface="Inter" pitchFamily="34" charset="-122"/>
                <a:cs typeface="Inter" pitchFamily="34" charset="-120"/>
              </a:rPr>
              <a:t>Wild Ne in the low to mid thousands resembles less impacted eastern oyster populations.</a:t>
            </a:r>
            <a:endParaRPr lang="en-US" sz="1600" dirty="0"/>
          </a:p>
        </p:txBody>
      </p:sp>
      <p:sp>
        <p:nvSpPr>
          <p:cNvPr id="24" name="Text 22"/>
          <p:cNvSpPr/>
          <p:nvPr/>
        </p:nvSpPr>
        <p:spPr>
          <a:xfrm>
            <a:off x="7315200" y="3444081"/>
            <a:ext cx="4185920"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A2E"/>
                </a:solidFill>
                <a:latin typeface="Inter" pitchFamily="34" charset="0"/>
                <a:ea typeface="Inter" pitchFamily="34" charset="-122"/>
                <a:cs typeface="Inter" pitchFamily="34" charset="-120"/>
              </a:rPr>
              <a:t>Hatchery Ne of roughly 300 to 530 is comparable to natural and restored Chesapeake Bay reefs (~70 to 500).</a:t>
            </a:r>
            <a:endParaRPr lang="en-US" sz="1600" dirty="0"/>
          </a:p>
        </p:txBody>
      </p:sp>
      <p:sp>
        <p:nvSpPr>
          <p:cNvPr id="25" name="Text 23"/>
          <p:cNvSpPr/>
          <p:nvPr/>
        </p:nvSpPr>
        <p:spPr>
          <a:xfrm>
            <a:off x="812800" y="6238280"/>
            <a:ext cx="480964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A6C"/>
                </a:solidFill>
                <a:latin typeface="Inter" pitchFamily="34" charset="0"/>
                <a:ea typeface="Inter" pitchFamily="34" charset="-122"/>
                <a:cs typeface="Inter" pitchFamily="34" charset="-120"/>
              </a:rPr>
              <a:t>Olympia oyster hatchery genetics · Abbott et al., in prep</a:t>
            </a:r>
            <a:endParaRPr lang="en-US" sz="1200" dirty="0"/>
          </a:p>
        </p:txBody>
      </p:sp>
      <p:sp>
        <p:nvSpPr>
          <p:cNvPr id="26" name="Text 24"/>
          <p:cNvSpPr/>
          <p:nvPr/>
        </p:nvSpPr>
        <p:spPr>
          <a:xfrm>
            <a:off x="11233894" y="6238280"/>
            <a:ext cx="145306"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A6C"/>
                </a:solidFill>
                <a:latin typeface="Inter" pitchFamily="34" charset="0"/>
                <a:ea typeface="Inter" pitchFamily="34" charset="-122"/>
                <a:cs typeface="Inter"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561F"/>
                </a:solidFill>
                <a:latin typeface="Inter" pitchFamily="34" charset="0"/>
                <a:ea typeface="Inter" pitchFamily="34" charset="-122"/>
                <a:cs typeface="Inter" pitchFamily="34" charset="-120"/>
              </a:rPr>
              <a:t>RESULT 5 · RELATEDNESS</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4262B"/>
                </a:solidFill>
                <a:latin typeface="Source Serif 4" pitchFamily="18" charset="0"/>
                <a:ea typeface="Source Serif 4" pitchFamily="18" charset="-122"/>
                <a:cs typeface="Source Serif 4" pitchFamily="18" charset="-120"/>
              </a:rPr>
              <a:t>Siblings appear in hatchery seed, but rarely</a:t>
            </a:r>
            <a:endParaRPr lang="en-US" sz="3600" dirty="0"/>
          </a:p>
        </p:txBody>
      </p:sp>
      <p:sp>
        <p:nvSpPr>
          <p:cNvPr id="4" name="Shape 2"/>
          <p:cNvSpPr/>
          <p:nvPr/>
        </p:nvSpPr>
        <p:spPr>
          <a:xfrm>
            <a:off x="812800" y="1935411"/>
            <a:ext cx="3822700" cy="3810000"/>
          </a:xfrm>
          <a:prstGeom prst="roundRect">
            <a:avLst>
              <a:gd name="adj" fmla="val 2000"/>
            </a:avLst>
          </a:prstGeom>
          <a:solidFill>
            <a:srgbClr val="FFFFFF"/>
          </a:solidFill>
          <a:ln/>
        </p:spPr>
        <p:txBody>
          <a:bodyPr/>
          <a:lstStyle/>
          <a:p>
            <a:endParaRPr lang="en-US"/>
          </a:p>
        </p:txBody>
      </p:sp>
      <p:pic>
        <p:nvPicPr>
          <p:cNvPr id="5" name="Image 0" descr="Violin plots of within-group pairwise relatedness for the six groups"/>
          <p:cNvPicPr>
            <a:picLocks noChangeAspect="1"/>
          </p:cNvPicPr>
          <p:nvPr/>
        </p:nvPicPr>
        <p:blipFill>
          <a:blip r:embed="rId3"/>
          <a:srcRect t="-6" b="-6"/>
          <a:stretch/>
        </p:blipFill>
        <p:spPr>
          <a:xfrm>
            <a:off x="812800" y="1935411"/>
            <a:ext cx="3822700" cy="3810000"/>
          </a:xfrm>
          <a:prstGeom prst="roundRect">
            <a:avLst>
              <a:gd name="adj" fmla="val 2000"/>
            </a:avLst>
          </a:prstGeom>
        </p:spPr>
      </p:pic>
      <p:sp>
        <p:nvSpPr>
          <p:cNvPr id="6" name="Text 3"/>
          <p:cNvSpPr/>
          <p:nvPr/>
        </p:nvSpPr>
        <p:spPr>
          <a:xfrm>
            <a:off x="5041900" y="1935411"/>
            <a:ext cx="3159062" cy="787400"/>
          </a:xfrm>
          <a:prstGeom prst="rect">
            <a:avLst/>
          </a:prstGeom>
          <a:noFill/>
          <a:ln/>
        </p:spPr>
        <p:txBody>
          <a:bodyPr wrap="square" lIns="0" tIns="0" rIns="0" bIns="0" rtlCol="0" anchor="t">
            <a:normAutofit/>
          </a:bodyPr>
          <a:lstStyle/>
          <a:p>
            <a:pPr marL="0" indent="0" algn="l">
              <a:lnSpc>
                <a:spcPts val="6000"/>
              </a:lnSpc>
              <a:buNone/>
            </a:pPr>
            <a:r>
              <a:rPr lang="en-US" sz="6000" dirty="0">
                <a:solidFill>
                  <a:srgbClr val="2F5F8A"/>
                </a:solidFill>
                <a:latin typeface="Source Serif 4" pitchFamily="18" charset="0"/>
                <a:ea typeface="Source Serif 4" pitchFamily="18" charset="-122"/>
                <a:cs typeface="Source Serif 4" pitchFamily="18" charset="-120"/>
              </a:rPr>
              <a:t>0.03%</a:t>
            </a:r>
            <a:endParaRPr lang="en-US" sz="6000" dirty="0"/>
          </a:p>
        </p:txBody>
      </p:sp>
      <p:sp>
        <p:nvSpPr>
          <p:cNvPr id="7" name="Text 4"/>
          <p:cNvSpPr/>
          <p:nvPr/>
        </p:nvSpPr>
        <p:spPr>
          <a:xfrm>
            <a:off x="5041900" y="2748211"/>
            <a:ext cx="32702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A2E"/>
                </a:solidFill>
                <a:latin typeface="Inter" pitchFamily="34" charset="0"/>
                <a:ea typeface="Inter" pitchFamily="34" charset="-122"/>
                <a:cs typeface="Inter" pitchFamily="34" charset="-120"/>
              </a:rPr>
              <a:t>of wild pairs were siblings; no full siblings</a:t>
            </a:r>
            <a:endParaRPr lang="en-US" sz="1200" dirty="0"/>
          </a:p>
        </p:txBody>
      </p:sp>
      <p:sp>
        <p:nvSpPr>
          <p:cNvPr id="8" name="Text 5"/>
          <p:cNvSpPr/>
          <p:nvPr/>
        </p:nvSpPr>
        <p:spPr>
          <a:xfrm>
            <a:off x="8312150" y="1935411"/>
            <a:ext cx="3159062" cy="787400"/>
          </a:xfrm>
          <a:prstGeom prst="rect">
            <a:avLst/>
          </a:prstGeom>
          <a:noFill/>
          <a:ln/>
        </p:spPr>
        <p:txBody>
          <a:bodyPr wrap="square" lIns="0" tIns="0" rIns="0" bIns="0" rtlCol="0" anchor="t">
            <a:normAutofit/>
          </a:bodyPr>
          <a:lstStyle/>
          <a:p>
            <a:pPr marL="0" indent="0" algn="l">
              <a:lnSpc>
                <a:spcPts val="6000"/>
              </a:lnSpc>
              <a:buNone/>
            </a:pPr>
            <a:r>
              <a:rPr lang="en-US" sz="6000" dirty="0">
                <a:solidFill>
                  <a:srgbClr val="A3561F"/>
                </a:solidFill>
                <a:latin typeface="Source Serif 4" pitchFamily="18" charset="0"/>
                <a:ea typeface="Source Serif 4" pitchFamily="18" charset="-122"/>
                <a:cs typeface="Source Serif 4" pitchFamily="18" charset="-120"/>
              </a:rPr>
              <a:t>1.07%</a:t>
            </a:r>
            <a:endParaRPr lang="en-US" sz="6000" dirty="0"/>
          </a:p>
        </p:txBody>
      </p:sp>
      <p:sp>
        <p:nvSpPr>
          <p:cNvPr id="9" name="Text 6"/>
          <p:cNvSpPr/>
          <p:nvPr/>
        </p:nvSpPr>
        <p:spPr>
          <a:xfrm>
            <a:off x="8312150" y="2748211"/>
            <a:ext cx="315906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A2E"/>
                </a:solidFill>
                <a:latin typeface="Inter" pitchFamily="34" charset="0"/>
                <a:ea typeface="Inter" pitchFamily="34" charset="-122"/>
                <a:cs typeface="Inter" pitchFamily="34" charset="-120"/>
              </a:rPr>
              <a:t>of hatchery pairs were siblings</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54600" y="3177431"/>
          <a:ext cx="6324600" cy="1330720"/>
        </p:xfrm>
        <a:graphic>
          <a:graphicData uri="http://schemas.openxmlformats.org/drawingml/2006/table">
            <a:tbl>
              <a:tblPr/>
              <a:tblGrid>
                <a:gridCol w="2150364">
                  <a:extLst>
                    <a:ext uri="{9D8B030D-6E8A-4147-A177-3AD203B41FA5}">
                      <a16:colId xmlns:a16="http://schemas.microsoft.com/office/drawing/2014/main" val="20000"/>
                    </a:ext>
                  </a:extLst>
                </a:gridCol>
                <a:gridCol w="2087118">
                  <a:extLst>
                    <a:ext uri="{9D8B030D-6E8A-4147-A177-3AD203B41FA5}">
                      <a16:colId xmlns:a16="http://schemas.microsoft.com/office/drawing/2014/main" val="20001"/>
                    </a:ext>
                  </a:extLst>
                </a:gridCol>
                <a:gridCol w="2087118">
                  <a:extLst>
                    <a:ext uri="{9D8B030D-6E8A-4147-A177-3AD203B41FA5}">
                      <a16:colId xmlns:a16="http://schemas.microsoft.com/office/drawing/2014/main" val="20002"/>
                    </a:ext>
                  </a:extLst>
                </a:gridCol>
              </a:tblGrid>
              <a:tr h="332680">
                <a:tc>
                  <a:txBody>
                    <a:bodyPr/>
                    <a:lstStyle/>
                    <a:p>
                      <a:pPr marL="0" indent="0">
                        <a:lnSpc>
                          <a:spcPts val="1680"/>
                        </a:lnSpc>
                        <a:buNone/>
                      </a:pPr>
                      <a:r>
                        <a:rPr lang="en-US" sz="1200" b="1" dirty="0">
                          <a:solidFill>
                            <a:srgbClr val="1B2A2E"/>
                          </a:solidFill>
                          <a:latin typeface="Inter" pitchFamily="34" charset="0"/>
                          <a:ea typeface="Inter" pitchFamily="34" charset="-122"/>
                          <a:cs typeface="Inter" pitchFamily="34" charset="-120"/>
                        </a:rPr>
                        <a:t>Hatchery group</a:t>
                      </a:r>
                      <a:endParaRPr lang="en-US" sz="1200" dirty="0">
                        <a:latin typeface="Inter" charset="0"/>
                        <a:ea typeface="Inter" charset="0"/>
                        <a:cs typeface="Inter"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marL="0" indent="0" algn="r">
                        <a:lnSpc>
                          <a:spcPts val="1680"/>
                        </a:lnSpc>
                        <a:buNone/>
                      </a:pPr>
                      <a:r>
                        <a:rPr lang="en-US" sz="1200" b="1" dirty="0">
                          <a:solidFill>
                            <a:srgbClr val="1B2A2E"/>
                          </a:solidFill>
                          <a:latin typeface="Inter" pitchFamily="34" charset="0"/>
                          <a:ea typeface="Inter" pitchFamily="34" charset="-122"/>
                          <a:cs typeface="Inter" pitchFamily="34" charset="-120"/>
                        </a:rPr>
                        <a:t>Full sibs</a:t>
                      </a:r>
                      <a:endParaRPr lang="en-US" sz="1200" dirty="0">
                        <a:latin typeface="Inter" charset="0"/>
                        <a:ea typeface="Inter" charset="0"/>
                        <a:cs typeface="Inter" charset="0"/>
                      </a:endParaRPr>
                    </a:p>
                  </a:txBody>
                  <a:tcPr marL="53340" marR="53340" marT="53340" marB="5334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marL="0" indent="0" algn="r">
                        <a:lnSpc>
                          <a:spcPts val="1680"/>
                        </a:lnSpc>
                        <a:buNone/>
                      </a:pPr>
                      <a:r>
                        <a:rPr lang="en-US" sz="1200" b="1" dirty="0">
                          <a:solidFill>
                            <a:srgbClr val="1B2A2E"/>
                          </a:solidFill>
                          <a:latin typeface="Inter" pitchFamily="34" charset="0"/>
                          <a:ea typeface="Inter" pitchFamily="34" charset="-122"/>
                          <a:cs typeface="Inter" pitchFamily="34" charset="-120"/>
                        </a:rPr>
                        <a:t>Half sibs</a:t>
                      </a:r>
                      <a:endParaRPr lang="en-US" sz="1200" dirty="0">
                        <a:latin typeface="Inter" charset="0"/>
                        <a:ea typeface="Inter" charset="0"/>
                        <a:cs typeface="Inter" charset="0"/>
                      </a:endParaRPr>
                    </a:p>
                  </a:txBody>
                  <a:tcPr marL="53340" marR="53340" marT="53340" marB="5334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1B2A2E"/>
                          </a:solidFill>
                          <a:latin typeface="Inter" pitchFamily="34" charset="0"/>
                          <a:ea typeface="Inter" pitchFamily="34" charset="-122"/>
                          <a:cs typeface="Inter" pitchFamily="34" charset="-120"/>
                        </a:rPr>
                        <a:t>SH</a:t>
                      </a:r>
                      <a:endParaRPr lang="en-US" sz="1200" dirty="0">
                        <a:latin typeface="Inter" charset="0"/>
                        <a:ea typeface="Inter" charset="0"/>
                        <a:cs typeface="Inter"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2A2E"/>
                          </a:solidFill>
                          <a:latin typeface="Inter" pitchFamily="34" charset="0"/>
                          <a:ea typeface="Inter" pitchFamily="34" charset="-122"/>
                          <a:cs typeface="Inter" pitchFamily="34" charset="-120"/>
                        </a:rPr>
                        <a:t>0.16%</a:t>
                      </a:r>
                      <a:endParaRPr lang="en-US" sz="1200" dirty="0">
                        <a:latin typeface="Inter" charset="0"/>
                        <a:ea typeface="Inter" charset="0"/>
                        <a:cs typeface="Inter"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2A2E"/>
                          </a:solidFill>
                          <a:latin typeface="Inter" pitchFamily="34" charset="0"/>
                          <a:ea typeface="Inter" pitchFamily="34" charset="-122"/>
                          <a:cs typeface="Inter" pitchFamily="34" charset="-120"/>
                        </a:rPr>
                        <a:t>1.42%</a:t>
                      </a:r>
                      <a:endParaRPr lang="en-US" sz="1200" dirty="0">
                        <a:latin typeface="Inter" charset="0"/>
                        <a:ea typeface="Inter" charset="0"/>
                        <a:cs typeface="Inter"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1B2A2E"/>
                          </a:solidFill>
                          <a:latin typeface="Inter" pitchFamily="34" charset="0"/>
                          <a:ea typeface="Inter" pitchFamily="34" charset="-122"/>
                          <a:cs typeface="Inter" pitchFamily="34" charset="-120"/>
                        </a:rPr>
                        <a:t>NH</a:t>
                      </a:r>
                      <a:endParaRPr lang="en-US" sz="1200" dirty="0">
                        <a:latin typeface="Inter" charset="0"/>
                        <a:ea typeface="Inter" charset="0"/>
                        <a:cs typeface="Inter"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2A2E"/>
                          </a:solidFill>
                          <a:latin typeface="Inter" pitchFamily="34" charset="0"/>
                          <a:ea typeface="Inter" pitchFamily="34" charset="-122"/>
                          <a:cs typeface="Inter" pitchFamily="34" charset="-120"/>
                        </a:rPr>
                        <a:t>0.11%</a:t>
                      </a:r>
                      <a:endParaRPr lang="en-US" sz="1200" dirty="0">
                        <a:latin typeface="Inter" charset="0"/>
                        <a:ea typeface="Inter" charset="0"/>
                        <a:cs typeface="Inter"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2A2E"/>
                          </a:solidFill>
                          <a:latin typeface="Inter" pitchFamily="34" charset="0"/>
                          <a:ea typeface="Inter" pitchFamily="34" charset="-122"/>
                          <a:cs typeface="Inter" pitchFamily="34" charset="-120"/>
                        </a:rPr>
                        <a:t>0.89%</a:t>
                      </a:r>
                      <a:endParaRPr lang="en-US" sz="1200" dirty="0">
                        <a:latin typeface="Inter" charset="0"/>
                        <a:ea typeface="Inter" charset="0"/>
                        <a:cs typeface="Inter"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1B2A2E"/>
                          </a:solidFill>
                          <a:latin typeface="Inter" pitchFamily="34" charset="0"/>
                          <a:ea typeface="Inter" pitchFamily="34" charset="-122"/>
                          <a:cs typeface="Inter" pitchFamily="34" charset="-120"/>
                        </a:rPr>
                        <a:t>CH</a:t>
                      </a:r>
                      <a:endParaRPr lang="en-US" sz="1200" dirty="0">
                        <a:latin typeface="Inter" charset="0"/>
                        <a:ea typeface="Inter" charset="0"/>
                        <a:cs typeface="Inter"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2A2E"/>
                          </a:solidFill>
                          <a:latin typeface="Inter" pitchFamily="34" charset="0"/>
                          <a:ea typeface="Inter" pitchFamily="34" charset="-122"/>
                          <a:cs typeface="Inter" pitchFamily="34" charset="-120"/>
                        </a:rPr>
                        <a:t>0.11%</a:t>
                      </a:r>
                      <a:endParaRPr lang="en-US" sz="1200" dirty="0">
                        <a:latin typeface="Inter" charset="0"/>
                        <a:ea typeface="Inter" charset="0"/>
                        <a:cs typeface="Inter"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2A2E"/>
                          </a:solidFill>
                          <a:latin typeface="Inter" pitchFamily="34" charset="0"/>
                          <a:ea typeface="Inter" pitchFamily="34" charset="-122"/>
                          <a:cs typeface="Inter" pitchFamily="34" charset="-120"/>
                        </a:rPr>
                        <a:t>0.51%</a:t>
                      </a:r>
                      <a:endParaRPr lang="en-US" sz="1200" dirty="0">
                        <a:latin typeface="Inter" charset="0"/>
                        <a:ea typeface="Inter" charset="0"/>
                        <a:cs typeface="Inter"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Text 7"/>
          <p:cNvSpPr/>
          <p:nvPr/>
        </p:nvSpPr>
        <p:spPr>
          <a:xfrm>
            <a:off x="5041900" y="4711353"/>
            <a:ext cx="6527419"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A2E"/>
                </a:solidFill>
                <a:latin typeface="Inter" pitchFamily="34" charset="0"/>
                <a:ea typeface="Inter" pitchFamily="34" charset="-122"/>
                <a:cs typeface="Inter" pitchFamily="34" charset="-120"/>
              </a:rPr>
              <a:t>Far from sweepstakes reproduction.</a:t>
            </a:r>
            <a:endParaRPr lang="en-US" sz="1600" dirty="0"/>
          </a:p>
        </p:txBody>
      </p:sp>
      <p:sp>
        <p:nvSpPr>
          <p:cNvPr id="12" name="Text 8"/>
          <p:cNvSpPr/>
          <p:nvPr/>
        </p:nvSpPr>
        <p:spPr>
          <a:xfrm>
            <a:off x="812800" y="6238280"/>
            <a:ext cx="45599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A6C"/>
                </a:solidFill>
                <a:latin typeface="Inter" pitchFamily="34" charset="0"/>
                <a:ea typeface="Inter" pitchFamily="34" charset="-122"/>
                <a:cs typeface="Inter" pitchFamily="34" charset="-120"/>
              </a:rPr>
              <a:t>Olympia oyster hatchery genetics · Abbott et al., in prep</a:t>
            </a:r>
            <a:endParaRPr lang="en-US" sz="1200" dirty="0"/>
          </a:p>
        </p:txBody>
      </p:sp>
      <p:sp>
        <p:nvSpPr>
          <p:cNvPr id="13" name="Text 9"/>
          <p:cNvSpPr/>
          <p:nvPr/>
        </p:nvSpPr>
        <p:spPr>
          <a:xfrm>
            <a:off x="5372770" y="6238280"/>
            <a:ext cx="60064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A6C"/>
                </a:solidFill>
                <a:latin typeface="Inter" pitchFamily="34" charset="0"/>
                <a:ea typeface="Inter" pitchFamily="34" charset="-122"/>
                <a:cs typeface="Inter" pitchFamily="34" charset="-120"/>
              </a:rPr>
              <a:t>Queller and Goodnight estimator; kNN assignment on simulated families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561F"/>
                </a:solidFill>
                <a:latin typeface="Inter" pitchFamily="34" charset="0"/>
                <a:ea typeface="Inter" pitchFamily="34" charset="-122"/>
                <a:cs typeface="Inter" pitchFamily="34" charset="-120"/>
              </a:rPr>
              <a:t>LIMITATIONS AND NEXT STEPS</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4262B"/>
                </a:solidFill>
                <a:latin typeface="Source Serif 4" pitchFamily="18" charset="0"/>
                <a:ea typeface="Source Serif 4" pitchFamily="18" charset="-122"/>
                <a:cs typeface="Source Serif 4" pitchFamily="18" charset="-120"/>
              </a:rPr>
              <a:t>What this study cannot tell us yet</a:t>
            </a:r>
            <a:endParaRPr lang="en-US" sz="3600" dirty="0"/>
          </a:p>
        </p:txBody>
      </p:sp>
      <p:sp>
        <p:nvSpPr>
          <p:cNvPr id="4" name="Shape 2"/>
          <p:cNvSpPr/>
          <p:nvPr/>
        </p:nvSpPr>
        <p:spPr>
          <a:xfrm>
            <a:off x="815975" y="1989386"/>
            <a:ext cx="3414167" cy="1636861"/>
          </a:xfrm>
          <a:prstGeom prst="roundRect">
            <a:avLst>
              <a:gd name="adj" fmla="val 6013"/>
            </a:avLst>
          </a:prstGeom>
          <a:solidFill>
            <a:srgbClr val="FBFAF6"/>
          </a:solidFill>
          <a:ln w="6350">
            <a:solidFill>
              <a:srgbClr val="DDD8CC"/>
            </a:solidFill>
            <a:prstDash val="solid"/>
          </a:ln>
        </p:spPr>
        <p:txBody>
          <a:bodyPr/>
          <a:lstStyle/>
          <a:p>
            <a:endParaRPr lang="en-US"/>
          </a:p>
        </p:txBody>
      </p:sp>
      <p:sp>
        <p:nvSpPr>
          <p:cNvPr id="5" name="Text 3"/>
          <p:cNvSpPr/>
          <p:nvPr/>
        </p:nvSpPr>
        <p:spPr>
          <a:xfrm>
            <a:off x="1047750" y="2221161"/>
            <a:ext cx="303913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62B"/>
                </a:solidFill>
                <a:latin typeface="Inter" pitchFamily="34" charset="0"/>
                <a:ea typeface="Inter" pitchFamily="34" charset="-122"/>
                <a:cs typeface="Inter" pitchFamily="34" charset="-120"/>
              </a:rPr>
              <a:t>Adaptive variation</a:t>
            </a:r>
            <a:endParaRPr lang="en-US" sz="1600" dirty="0"/>
          </a:p>
        </p:txBody>
      </p:sp>
      <p:sp>
        <p:nvSpPr>
          <p:cNvPr id="6" name="Text 4"/>
          <p:cNvSpPr/>
          <p:nvPr/>
        </p:nvSpPr>
        <p:spPr>
          <a:xfrm>
            <a:off x="1047750" y="2541191"/>
            <a:ext cx="3039135"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2,342 neutral SNPs resolve structure and kinship but not loci under selection. Whole-genome sequencing could test whether adaptive alleles are retained.</a:t>
            </a:r>
            <a:endParaRPr lang="en-US" sz="1200" dirty="0"/>
          </a:p>
        </p:txBody>
      </p:sp>
      <p:sp>
        <p:nvSpPr>
          <p:cNvPr id="7" name="Shape 5"/>
          <p:cNvSpPr/>
          <p:nvPr/>
        </p:nvSpPr>
        <p:spPr>
          <a:xfrm>
            <a:off x="4388892" y="1989386"/>
            <a:ext cx="3414167" cy="1636861"/>
          </a:xfrm>
          <a:prstGeom prst="roundRect">
            <a:avLst>
              <a:gd name="adj" fmla="val 6013"/>
            </a:avLst>
          </a:prstGeom>
          <a:solidFill>
            <a:srgbClr val="FBFAF6"/>
          </a:solidFill>
          <a:ln w="6350">
            <a:solidFill>
              <a:srgbClr val="DDD8CC"/>
            </a:solidFill>
            <a:prstDash val="solid"/>
          </a:ln>
        </p:spPr>
        <p:txBody>
          <a:bodyPr/>
          <a:lstStyle/>
          <a:p>
            <a:endParaRPr lang="en-US"/>
          </a:p>
        </p:txBody>
      </p:sp>
      <p:sp>
        <p:nvSpPr>
          <p:cNvPr id="8" name="Text 6"/>
          <p:cNvSpPr/>
          <p:nvPr/>
        </p:nvSpPr>
        <p:spPr>
          <a:xfrm>
            <a:off x="4620667" y="2221161"/>
            <a:ext cx="303913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62B"/>
                </a:solidFill>
                <a:latin typeface="Inter" pitchFamily="34" charset="0"/>
                <a:ea typeface="Inter" pitchFamily="34" charset="-122"/>
                <a:cs typeface="Inter" pitchFamily="34" charset="-120"/>
              </a:rPr>
              <a:t>Field performance</a:t>
            </a:r>
            <a:endParaRPr lang="en-US" sz="1600" dirty="0"/>
          </a:p>
        </p:txBody>
      </p:sp>
      <p:sp>
        <p:nvSpPr>
          <p:cNvPr id="9" name="Text 7"/>
          <p:cNvSpPr/>
          <p:nvPr/>
        </p:nvSpPr>
        <p:spPr>
          <a:xfrm>
            <a:off x="4620667" y="2541191"/>
            <a:ext cx="3039135"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Genetic similarity is not fitness. In situ comparisons of hatchery and wild survival, growth and reproduction are the real test.</a:t>
            </a:r>
            <a:endParaRPr lang="en-US" sz="1200" dirty="0"/>
          </a:p>
        </p:txBody>
      </p:sp>
      <p:sp>
        <p:nvSpPr>
          <p:cNvPr id="10" name="Shape 8"/>
          <p:cNvSpPr/>
          <p:nvPr/>
        </p:nvSpPr>
        <p:spPr>
          <a:xfrm>
            <a:off x="7961809" y="1989386"/>
            <a:ext cx="3414216" cy="1636861"/>
          </a:xfrm>
          <a:prstGeom prst="roundRect">
            <a:avLst>
              <a:gd name="adj" fmla="val 6013"/>
            </a:avLst>
          </a:prstGeom>
          <a:solidFill>
            <a:srgbClr val="FBFAF6"/>
          </a:solidFill>
          <a:ln w="6350">
            <a:solidFill>
              <a:srgbClr val="DDD8CC"/>
            </a:solidFill>
            <a:prstDash val="solid"/>
          </a:ln>
        </p:spPr>
        <p:txBody>
          <a:bodyPr/>
          <a:lstStyle/>
          <a:p>
            <a:endParaRPr lang="en-US"/>
          </a:p>
        </p:txBody>
      </p:sp>
      <p:sp>
        <p:nvSpPr>
          <p:cNvPr id="11" name="Text 9"/>
          <p:cNvSpPr/>
          <p:nvPr/>
        </p:nvSpPr>
        <p:spPr>
          <a:xfrm>
            <a:off x="8193584" y="2221161"/>
            <a:ext cx="303918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62B"/>
                </a:solidFill>
                <a:latin typeface="Inter" pitchFamily="34" charset="0"/>
                <a:ea typeface="Inter" pitchFamily="34" charset="-122"/>
                <a:cs typeface="Inter" pitchFamily="34" charset="-120"/>
              </a:rPr>
              <a:t>Scalability</a:t>
            </a:r>
            <a:endParaRPr lang="en-US" sz="1600" dirty="0"/>
          </a:p>
        </p:txBody>
      </p:sp>
      <p:sp>
        <p:nvSpPr>
          <p:cNvPr id="12" name="Text 10"/>
          <p:cNvSpPr/>
          <p:nvPr/>
        </p:nvSpPr>
        <p:spPr>
          <a:xfrm>
            <a:off x="8193584" y="2541191"/>
            <a:ext cx="3039186"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1,200+ broodstock is hard for most programs, and Ne tracks broodstock number in oysters (Hornick and Plough 2022).</a:t>
            </a:r>
            <a:endParaRPr lang="en-US" sz="1200" dirty="0"/>
          </a:p>
        </p:txBody>
      </p:sp>
      <p:sp>
        <p:nvSpPr>
          <p:cNvPr id="13" name="Text 11"/>
          <p:cNvSpPr/>
          <p:nvPr/>
        </p:nvSpPr>
        <p:spPr>
          <a:xfrm>
            <a:off x="812800" y="6238280"/>
            <a:ext cx="480964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A6C"/>
                </a:solidFill>
                <a:latin typeface="Inter" pitchFamily="34" charset="0"/>
                <a:ea typeface="Inter" pitchFamily="34" charset="-122"/>
                <a:cs typeface="Inter" pitchFamily="34" charset="-120"/>
              </a:rPr>
              <a:t>Olympia oyster hatchery genetics · Abbott et al., in prep</a:t>
            </a:r>
            <a:endParaRPr lang="en-US" sz="1200" dirty="0"/>
          </a:p>
        </p:txBody>
      </p:sp>
      <p:sp>
        <p:nvSpPr>
          <p:cNvPr id="14" name="Text 12"/>
          <p:cNvSpPr/>
          <p:nvPr/>
        </p:nvSpPr>
        <p:spPr>
          <a:xfrm>
            <a:off x="11204426" y="6238280"/>
            <a:ext cx="174774"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A6C"/>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6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3A46F"/>
                </a:solidFill>
                <a:latin typeface="Inter" pitchFamily="34" charset="0"/>
                <a:ea typeface="Inter" pitchFamily="34" charset="-122"/>
                <a:cs typeface="Inter" pitchFamily="34" charset="-120"/>
              </a:rPr>
              <a:t>TAKEAWAYS</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F4F1EA"/>
                </a:solidFill>
                <a:latin typeface="Source Serif 4" pitchFamily="18" charset="0"/>
                <a:ea typeface="Source Serif 4" pitchFamily="18" charset="-122"/>
                <a:cs typeface="Source Serif 4" pitchFamily="18" charset="-120"/>
              </a:rPr>
              <a:t>A protocol that keeps wild genetics intact</a:t>
            </a:r>
            <a:endParaRPr lang="en-US" sz="3600" dirty="0"/>
          </a:p>
        </p:txBody>
      </p:sp>
      <p:sp>
        <p:nvSpPr>
          <p:cNvPr id="4" name="Shape 2"/>
          <p:cNvSpPr/>
          <p:nvPr/>
        </p:nvSpPr>
        <p:spPr>
          <a:xfrm>
            <a:off x="812800" y="1938586"/>
            <a:ext cx="10566400" cy="0"/>
          </a:xfrm>
          <a:prstGeom prst="line">
            <a:avLst/>
          </a:prstGeom>
          <a:noFill/>
          <a:ln w="6350">
            <a:solidFill>
              <a:srgbClr val="3B5056"/>
            </a:solidFill>
            <a:prstDash val="solid"/>
          </a:ln>
        </p:spPr>
        <p:txBody>
          <a:bodyPr/>
          <a:lstStyle/>
          <a:p>
            <a:endParaRPr lang="en-US"/>
          </a:p>
        </p:txBody>
      </p:sp>
      <p:sp>
        <p:nvSpPr>
          <p:cNvPr id="5" name="Text 3"/>
          <p:cNvSpPr/>
          <p:nvPr/>
        </p:nvSpPr>
        <p:spPr>
          <a:xfrm>
            <a:off x="812800" y="2144961"/>
            <a:ext cx="508000" cy="482600"/>
          </a:xfrm>
          <a:prstGeom prst="rect">
            <a:avLst/>
          </a:prstGeom>
          <a:noFill/>
          <a:ln/>
        </p:spPr>
        <p:txBody>
          <a:bodyPr wrap="square" lIns="0" tIns="0" rIns="0" bIns="0" rtlCol="0" anchor="t">
            <a:normAutofit/>
          </a:bodyPr>
          <a:lstStyle/>
          <a:p>
            <a:pPr marL="0" indent="0" algn="l">
              <a:lnSpc>
                <a:spcPts val="3600"/>
              </a:lnSpc>
              <a:buNone/>
            </a:pPr>
            <a:r>
              <a:rPr lang="en-US" sz="3600" dirty="0">
                <a:solidFill>
                  <a:srgbClr val="E3A46F"/>
                </a:solidFill>
                <a:latin typeface="Source Serif 4" pitchFamily="18" charset="0"/>
                <a:ea typeface="Source Serif 4" pitchFamily="18" charset="-122"/>
                <a:cs typeface="Source Serif 4" pitchFamily="18" charset="-120"/>
              </a:rPr>
              <a:t>1</a:t>
            </a:r>
            <a:endParaRPr lang="en-US" sz="3600" dirty="0"/>
          </a:p>
        </p:txBody>
      </p:sp>
      <p:sp>
        <p:nvSpPr>
          <p:cNvPr id="6" name="Text 4"/>
          <p:cNvSpPr/>
          <p:nvPr/>
        </p:nvSpPr>
        <p:spPr>
          <a:xfrm>
            <a:off x="1524000" y="2144961"/>
            <a:ext cx="10150856" cy="723900"/>
          </a:xfrm>
          <a:prstGeom prst="rect">
            <a:avLst/>
          </a:prstGeom>
          <a:noFill/>
          <a:ln/>
        </p:spPr>
        <p:txBody>
          <a:bodyPr wrap="square" lIns="0" tIns="0" rIns="0" bIns="0" rtlCol="0" anchor="t">
            <a:normAutofit/>
          </a:bodyPr>
          <a:lstStyle/>
          <a:p>
            <a:pPr marL="0" indent="0" algn="l">
              <a:lnSpc>
                <a:spcPts val="2750"/>
              </a:lnSpc>
              <a:buNone/>
            </a:pPr>
            <a:r>
              <a:rPr lang="en-US" sz="2200" dirty="0">
                <a:solidFill>
                  <a:srgbClr val="F4F1EA"/>
                </a:solidFill>
                <a:latin typeface="Inter" pitchFamily="34" charset="0"/>
                <a:ea typeface="Inter" pitchFamily="34" charset="-122"/>
                <a:cs typeface="Inter" pitchFamily="34" charset="-120"/>
              </a:rPr>
              <a:t>Hatchery seed kept its source population's identity, and wild structure was preserved.</a:t>
            </a:r>
            <a:endParaRPr lang="en-US" sz="2200" dirty="0"/>
          </a:p>
        </p:txBody>
      </p:sp>
      <p:sp>
        <p:nvSpPr>
          <p:cNvPr id="7" name="Shape 5"/>
          <p:cNvSpPr/>
          <p:nvPr/>
        </p:nvSpPr>
        <p:spPr>
          <a:xfrm>
            <a:off x="812800" y="3049836"/>
            <a:ext cx="10566400" cy="0"/>
          </a:xfrm>
          <a:prstGeom prst="line">
            <a:avLst/>
          </a:prstGeom>
          <a:noFill/>
          <a:ln w="6350">
            <a:solidFill>
              <a:srgbClr val="3B5056"/>
            </a:solidFill>
            <a:prstDash val="solid"/>
          </a:ln>
        </p:spPr>
        <p:txBody>
          <a:bodyPr/>
          <a:lstStyle/>
          <a:p>
            <a:endParaRPr lang="en-US"/>
          </a:p>
        </p:txBody>
      </p:sp>
      <p:sp>
        <p:nvSpPr>
          <p:cNvPr id="8" name="Text 6"/>
          <p:cNvSpPr/>
          <p:nvPr/>
        </p:nvSpPr>
        <p:spPr>
          <a:xfrm>
            <a:off x="812800" y="3256211"/>
            <a:ext cx="508000" cy="482600"/>
          </a:xfrm>
          <a:prstGeom prst="rect">
            <a:avLst/>
          </a:prstGeom>
          <a:noFill/>
          <a:ln/>
        </p:spPr>
        <p:txBody>
          <a:bodyPr wrap="square" lIns="0" tIns="0" rIns="0" bIns="0" rtlCol="0" anchor="t">
            <a:normAutofit/>
          </a:bodyPr>
          <a:lstStyle/>
          <a:p>
            <a:pPr marL="0" indent="0" algn="l">
              <a:lnSpc>
                <a:spcPts val="3600"/>
              </a:lnSpc>
              <a:buNone/>
            </a:pPr>
            <a:r>
              <a:rPr lang="en-US" sz="3600" dirty="0">
                <a:solidFill>
                  <a:srgbClr val="E3A46F"/>
                </a:solidFill>
                <a:latin typeface="Source Serif 4" pitchFamily="18" charset="0"/>
                <a:ea typeface="Source Serif 4" pitchFamily="18" charset="-122"/>
                <a:cs typeface="Source Serif 4" pitchFamily="18" charset="-120"/>
              </a:rPr>
              <a:t>2</a:t>
            </a:r>
            <a:endParaRPr lang="en-US" sz="3600" dirty="0"/>
          </a:p>
        </p:txBody>
      </p:sp>
      <p:sp>
        <p:nvSpPr>
          <p:cNvPr id="9" name="Text 7"/>
          <p:cNvSpPr/>
          <p:nvPr/>
        </p:nvSpPr>
        <p:spPr>
          <a:xfrm>
            <a:off x="1524000" y="3256211"/>
            <a:ext cx="10150856" cy="723900"/>
          </a:xfrm>
          <a:prstGeom prst="rect">
            <a:avLst/>
          </a:prstGeom>
          <a:noFill/>
          <a:ln/>
        </p:spPr>
        <p:txBody>
          <a:bodyPr wrap="square" lIns="0" tIns="0" rIns="0" bIns="0" rtlCol="0" anchor="t">
            <a:normAutofit/>
          </a:bodyPr>
          <a:lstStyle/>
          <a:p>
            <a:pPr marL="0" indent="0" algn="l">
              <a:lnSpc>
                <a:spcPts val="2750"/>
              </a:lnSpc>
              <a:buNone/>
            </a:pPr>
            <a:r>
              <a:rPr lang="en-US" sz="2200" dirty="0">
                <a:solidFill>
                  <a:srgbClr val="F4F1EA"/>
                </a:solidFill>
                <a:latin typeface="Inter" pitchFamily="34" charset="0"/>
                <a:ea typeface="Inter" pitchFamily="34" charset="-122"/>
                <a:cs typeface="Inter" pitchFamily="34" charset="-120"/>
              </a:rPr>
              <a:t>Diversity held steady; only Ne and sibling frequency shifted, and modestly.</a:t>
            </a:r>
            <a:endParaRPr lang="en-US" sz="2200" dirty="0"/>
          </a:p>
        </p:txBody>
      </p:sp>
      <p:sp>
        <p:nvSpPr>
          <p:cNvPr id="10" name="Shape 8"/>
          <p:cNvSpPr/>
          <p:nvPr/>
        </p:nvSpPr>
        <p:spPr>
          <a:xfrm>
            <a:off x="812800" y="4161086"/>
            <a:ext cx="10566400" cy="0"/>
          </a:xfrm>
          <a:prstGeom prst="line">
            <a:avLst/>
          </a:prstGeom>
          <a:noFill/>
          <a:ln w="6350">
            <a:solidFill>
              <a:srgbClr val="3B5056"/>
            </a:solidFill>
            <a:prstDash val="solid"/>
          </a:ln>
        </p:spPr>
        <p:txBody>
          <a:bodyPr/>
          <a:lstStyle/>
          <a:p>
            <a:endParaRPr lang="en-US"/>
          </a:p>
        </p:txBody>
      </p:sp>
      <p:sp>
        <p:nvSpPr>
          <p:cNvPr id="11" name="Text 9"/>
          <p:cNvSpPr/>
          <p:nvPr/>
        </p:nvSpPr>
        <p:spPr>
          <a:xfrm>
            <a:off x="812800" y="4367461"/>
            <a:ext cx="508000" cy="482600"/>
          </a:xfrm>
          <a:prstGeom prst="rect">
            <a:avLst/>
          </a:prstGeom>
          <a:noFill/>
          <a:ln/>
        </p:spPr>
        <p:txBody>
          <a:bodyPr wrap="square" lIns="0" tIns="0" rIns="0" bIns="0" rtlCol="0" anchor="t">
            <a:normAutofit/>
          </a:bodyPr>
          <a:lstStyle/>
          <a:p>
            <a:pPr marL="0" indent="0" algn="l">
              <a:lnSpc>
                <a:spcPts val="3600"/>
              </a:lnSpc>
              <a:buNone/>
            </a:pPr>
            <a:r>
              <a:rPr lang="en-US" sz="3600" dirty="0">
                <a:solidFill>
                  <a:srgbClr val="E3A46F"/>
                </a:solidFill>
                <a:latin typeface="Source Serif 4" pitchFamily="18" charset="0"/>
                <a:ea typeface="Source Serif 4" pitchFamily="18" charset="-122"/>
                <a:cs typeface="Source Serif 4" pitchFamily="18" charset="-120"/>
              </a:rPr>
              <a:t>3</a:t>
            </a:r>
            <a:endParaRPr lang="en-US" sz="3600" dirty="0"/>
          </a:p>
        </p:txBody>
      </p:sp>
      <p:sp>
        <p:nvSpPr>
          <p:cNvPr id="12" name="Text 10"/>
          <p:cNvSpPr/>
          <p:nvPr/>
        </p:nvSpPr>
        <p:spPr>
          <a:xfrm>
            <a:off x="1524000" y="4367461"/>
            <a:ext cx="10150856" cy="723900"/>
          </a:xfrm>
          <a:prstGeom prst="rect">
            <a:avLst/>
          </a:prstGeom>
          <a:noFill/>
          <a:ln/>
        </p:spPr>
        <p:txBody>
          <a:bodyPr wrap="square" lIns="0" tIns="0" rIns="0" bIns="0" rtlCol="0" anchor="t">
            <a:normAutofit/>
          </a:bodyPr>
          <a:lstStyle/>
          <a:p>
            <a:pPr marL="0" indent="0" algn="l">
              <a:lnSpc>
                <a:spcPts val="2750"/>
              </a:lnSpc>
              <a:buNone/>
            </a:pPr>
            <a:r>
              <a:rPr lang="en-US" sz="2200" dirty="0">
                <a:solidFill>
                  <a:srgbClr val="F4F1EA"/>
                </a:solidFill>
                <a:latin typeface="Inter" pitchFamily="34" charset="0"/>
                <a:ea typeface="Inter" pitchFamily="34" charset="-122"/>
                <a:cs typeface="Inter" pitchFamily="34" charset="-120"/>
              </a:rPr>
              <a:t>Large wild broodstock, local sourcing and long larval collection are the levers.</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0" i="0" dirty="0">
                <a:solidFill>
                  <a:srgbClr val="14262B"/>
                </a:solidFill>
                <a:latin typeface="Source Serif 4" pitchFamily="18" charset="0"/>
                <a:ea typeface="Source Serif 4" pitchFamily="18" charset="-122"/>
                <a:cs typeface="Source Serif 4" pitchFamily="18" charset="-120"/>
              </a:rPr>
              <a:t>Thank you</a:t>
            </a:r>
            <a:endParaRPr lang="en-US" sz="6000" dirty="0"/>
          </a:p>
        </p:txBody>
      </p:sp>
      <p:sp>
        <p:nvSpPr>
          <p:cNvPr id="3" name="Text 1"/>
          <p:cNvSpPr/>
          <p:nvPr/>
        </p:nvSpPr>
        <p:spPr>
          <a:xfrm>
            <a:off x="812800" y="4876899"/>
            <a:ext cx="52324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561F"/>
                </a:solidFill>
                <a:latin typeface="Inter" pitchFamily="34" charset="0"/>
                <a:ea typeface="Inter" pitchFamily="34" charset="-122"/>
                <a:cs typeface="Inter" pitchFamily="34" charset="-120"/>
              </a:rPr>
              <a:t>ACKNOWLEDGMENTS</a:t>
            </a:r>
            <a:endParaRPr lang="en-US" sz="1200" dirty="0"/>
          </a:p>
        </p:txBody>
      </p:sp>
      <p:sp>
        <p:nvSpPr>
          <p:cNvPr id="4" name="Text 2"/>
          <p:cNvSpPr/>
          <p:nvPr/>
        </p:nvSpPr>
        <p:spPr>
          <a:xfrm>
            <a:off x="812800" y="5191820"/>
            <a:ext cx="5232400"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A2E"/>
                </a:solidFill>
                <a:latin typeface="Inter" pitchFamily="34" charset="0"/>
                <a:ea typeface="Inter" pitchFamily="34" charset="-122"/>
                <a:cs typeface="Inter" pitchFamily="34" charset="-120"/>
              </a:rPr>
              <a:t>Chew Center hatchery staff for collecting and storing samples. Jay Dimond, Jodie Toft and Louis Plough for early draft revisions.</a:t>
            </a:r>
            <a:endParaRPr lang="en-US" sz="1600" dirty="0"/>
          </a:p>
        </p:txBody>
      </p:sp>
      <p:sp>
        <p:nvSpPr>
          <p:cNvPr id="5" name="Text 3"/>
          <p:cNvSpPr/>
          <p:nvPr/>
        </p:nvSpPr>
        <p:spPr>
          <a:xfrm>
            <a:off x="6299200" y="4876899"/>
            <a:ext cx="52324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561F"/>
                </a:solidFill>
                <a:latin typeface="Inter" pitchFamily="34" charset="0"/>
                <a:ea typeface="Inter" pitchFamily="34" charset="-122"/>
                <a:cs typeface="Inter" pitchFamily="34" charset="-120"/>
              </a:rPr>
              <a:t>CODE AND DATA</a:t>
            </a:r>
            <a:endParaRPr lang="en-US" sz="1200" dirty="0"/>
          </a:p>
        </p:txBody>
      </p:sp>
      <p:sp>
        <p:nvSpPr>
          <p:cNvPr id="6" name="Text 4"/>
          <p:cNvSpPr/>
          <p:nvPr/>
        </p:nvSpPr>
        <p:spPr>
          <a:xfrm>
            <a:off x="6299200" y="5191820"/>
            <a:ext cx="52324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A2E"/>
                </a:solidFill>
                <a:latin typeface="Inter" pitchFamily="34" charset="0"/>
                <a:ea typeface="Inter" pitchFamily="34" charset="-122"/>
                <a:cs typeface="Inter" pitchFamily="34" charset="-120"/>
              </a:rPr>
              <a:t>github.com/evelynabbott/olympia_oyster_RAD</a:t>
            </a:r>
            <a:endParaRPr lang="en-US" sz="1600" dirty="0"/>
          </a:p>
        </p:txBody>
      </p:sp>
      <p:sp>
        <p:nvSpPr>
          <p:cNvPr id="7" name="Text 5"/>
          <p:cNvSpPr/>
          <p:nvPr/>
        </p:nvSpPr>
        <p:spPr>
          <a:xfrm>
            <a:off x="6299200" y="5577880"/>
            <a:ext cx="52324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4E"/>
                </a:solidFill>
                <a:latin typeface="Inter" pitchFamily="34" charset="0"/>
                <a:ea typeface="Inter" pitchFamily="34" charset="-122"/>
                <a:cs typeface="Inter" pitchFamily="34" charset="-120"/>
              </a:rPr>
              <a:t>Puget Sound Restoration Fund · UW School of Aquatic and Fishery Sciences · NOAA Northwest Fisheries Science Center</a:t>
            </a:r>
            <a:endParaRPr lang="en-US" sz="1200" dirty="0"/>
          </a:p>
        </p:txBody>
      </p:sp>
    </p:spTree>
  </p:cSld>
  <p:clrMapOvr>
    <a:masterClrMapping/>
  </p:clrMapOvr>
</p:sld>
</file>

<file path=ppt/theme/theme1.xml><?xml version="1.0" encoding="utf-8"?>
<a:theme xmlns:a="http://schemas.openxmlformats.org/drawingml/2006/main" name="Conservation aquaculture maintains genetic composition in hatchery Olympia oyste">
  <a:themeElements>
    <a:clrScheme name="Conservation aquaculture maintains genetic composition in hatchery Olympia oyste">
      <a:dk1>
        <a:srgbClr val="14262B"/>
      </a:dk1>
      <a:lt1>
        <a:srgbClr val="F4F1EA"/>
      </a:lt1>
      <a:dk2>
        <a:srgbClr val="4C595B"/>
      </a:dk2>
      <a:lt2>
        <a:srgbClr val="DEDDD7"/>
      </a:lt2>
      <a:accent1>
        <a:srgbClr val="A3561F"/>
      </a:accent1>
      <a:accent2>
        <a:srgbClr val="2F5F8A"/>
      </a:accent2>
      <a:accent3>
        <a:srgbClr val="E3A46F"/>
      </a:accent3>
      <a:accent4>
        <a:srgbClr val="3D4B4E"/>
      </a:accent4>
      <a:accent5>
        <a:srgbClr val="5C6A6C"/>
      </a:accent5>
      <a:accent6>
        <a:srgbClr val="C9D3D1"/>
      </a:accent6>
      <a:hlink>
        <a:srgbClr val="0563C1"/>
      </a:hlink>
      <a:folHlink>
        <a:srgbClr val="954F72"/>
      </a:folHlink>
    </a:clrScheme>
    <a:fontScheme name="Conservation aquaculture maintains genetic composition in hatchery Olympia oyst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3007</TotalTime>
  <Words>2089</Words>
  <Application>Microsoft Macintosh PowerPoint</Application>
  <PresentationFormat>Widescreen</PresentationFormat>
  <Paragraphs>200</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Inter</vt:lpstr>
      <vt:lpstr>Source Serif 4</vt:lpstr>
      <vt:lpstr>Conservation aquaculture maintains genetic composition in hatchery Olympia oyste</vt:lpstr>
      <vt:lpstr>Conservation aquaculture maintains genetic composition in hatchery-produced Olympia oysters</vt:lpstr>
      <vt:lpstr>A native oyster reduced to remnants</vt:lpstr>
      <vt:lpstr>Puget Sound oysters are not one population</vt:lpstr>
      <vt:lpstr>Seven practices designed to protect wild diversity</vt:lpstr>
      <vt:lpstr>Three source populations, hatchery vs wild</vt:lpstr>
      <vt:lpstr>Oysters cluster by source, not by rearing</vt:lpstr>
      <vt:lpstr>Each hatchery group is closest to its own wild source</vt:lpstr>
      <vt:lpstr>No loss of heterozygosity, no rise in inbreeding</vt:lpstr>
      <vt:lpstr>Hatchery Ne is lower, but well above a family sweep</vt:lpstr>
      <vt:lpstr>Siblings appear in hatchery seed, but rarely</vt:lpstr>
      <vt:lpstr>What this study cannot tell us yet</vt:lpstr>
      <vt:lpstr>A protocol that keeps wild genetics intact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Conservation aquaculture maintains genetic composition in hatchery Olympia oysters</dc:title>
  <dc:subject/>
  <dc:creator/>
  <cp:lastModifiedBy>Steven Roberts</cp:lastModifiedBy>
  <cp:revision>5</cp:revision>
  <dcterms:created xsi:type="dcterms:W3CDTF">2026-10-02T13:28:13Z</dcterms:created>
  <dcterms:modified xsi:type="dcterms:W3CDTF">2026-10-06T11:05:51Z</dcterms:modified>
</cp:coreProperties>
</file>